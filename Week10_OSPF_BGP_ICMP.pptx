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Today's presentation covers Week 10 of the NPTEL Computer Networks course by Prof. Neminath Hubballi. This week focuses on how routing works in practice across the Internet—covering Intra-AS routing with OSPF, Inter-AS routing with BGP, and network-layer control and diagnostics using ICMP.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10 is divided into three two-part modules. In Week 9 we studied theoretical Link-State and Distance-Vector algorithms; in Week 10 we see how they are implemented in the real Internet as OSPF and BGP, followed by ICMP for control messages and troubleshooting.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 Hubballi starts OSPF Part 1 by explaining why we cannot treat the entire Internet as one flat graph. First, a flat graph of millions of routers won't scale in memory or convergence time. Second, ISPs want administrative autonomy over their own networks. Both problems are solved by grouping routers into Autonomous Systems, or 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routers are grouped into Autonomous Systems, routing splits into two levels: Intra-AS routing inside a single AS—where different ASs can run RIP or OSPF—and Inter-AS routing between different ASs, where the entire Internet uses one standard protocol: BGP.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OSPF is an open-standard Link-State routing protocol. Every router floods Link-State Advertisements to all other routers in the AS—both when link costs change and periodically every 30 minutes—so every router has a complete graph of the AS and runs Dijkstra's algorithm locally. Notably, OSPF runs directly on top of IP using Protocol Number 89.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 Hubballi highlights five major advantages embodied in OSPF compared to simpler distance-vector protocols like RIP: MD5 security authentication, equal-cost multi-path load balancing, Type-of-Service specific link weights, multicast extensions via MOSPF, and hierarchical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OSPF Part 2, we look at how OSPF scales inside a very large AS by dividing it into Areas connected via Area 0, the Backbone Area. Link-state flooding is confined within each area. You must know the four OSPF router roles: Internal Routers, Area Border Routers, Backbone Routers, and AS Boundary Routers.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OSPF runs directly over IP without TCP, it handles neighbor discovery and reliable flooding using five packet types: Type 1 Hello packets for liveness, Type 2 Database Description, Type 3 Link State Request, Type 4 Link State Update carrying the actual LSAs, and Type 5 Link State Acknowledgment.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to Lectures 3 and 4 on Border Gateway Protocol: BGP is the only Inter-AS routing protocol used on the public Internet. In BGP, routers do not route to individual destination IP addresses; instead, they advertise and route toward CIDR prefixes—or subnets—using a Path Vector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Unlike OSPF which runs raw over IP, BGP runs over reliable TCP on Port 179. BGP uses two types of sessions: eBGP between gateway routers of different ASs, and iBGP among routers inside the same AS. All BGP communication uses just four message types: OPEN, UPDATE, KEEPALIVE, and NOTIFICATION.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BGP router advertises a CIDR prefix, it attaches attributes—and a Prefix plus its Attributes is called a Route. The two mandatory attributes emphasized by Prof. Hubballi are AS-PATH, which records every AS traversed and prevents routing loops, and NEXT-HOP, which gives the exact border interface IP address so internal OSPF routers know how to forward packets toward that exit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BGP Part 2, Prof. Hubballi explains how a router chooses among multiple routes to the same prefix. Be careful with the priority order: Hot Potato Routing is Step 3, only used as a tie-breaker after Local Preference (Step 1) and Shortest AS-PATH length (Step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don't we use OSPF across the whole Internet? Because in Inter-AS routing, commercial policy dominates over shortest-path performance. A multi-homed customer network X connected to two ISPs B and C will refuse to advertise B's routes to C so that X does not become a free transit backbone between two giant ISPs.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Lectures 5 and 6, Prof. Hubballi covers ICMP—the Internet Control Message Protocol. Even though ICMP is considered part of the Network Layer, its messages are actually encapsulated inside IP datagrams with IP Protocol field set to 1. Importantly, ICMP reports errors back to the original sending host, not to intermediate routers.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classic exam and presentation point from ICMP Part 1 is the payload of an ICMP error message. Whenever a router drops an IP packet and generates an ICMP error, it attaches the dropped packet's IP header plus the first 8 bytes of the IP payload. Why 8 bytes? Because those 8 bytes hold the TCP or UDP source and destination port numbers, letting the sender's OS identify which application process generated the packet.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complete table of ICMP Type and Code combinations taught in Lecture 5. The most critical ones to highlight are Type 8 and Type 0 for Ping, Type 11 Code 0 when TTL expires at an intermediate router, and Type 3 Code 3 and Code 4 for Port Unreachable and Path MTU Discovery.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ICMP Part 2, Prof. Hubballi emphasizes four strict exception rules where routers must NEVER send an ICMP error message. First, never send an ICMP error about another ICMP error, or you risk an infinite loop. Second, only Fragment 0 can trigger an ICMP error because only Fragment 0 contains the TCP/UDP port numbers. Third and fourth, never generate ICMP errors for broadcast/multicast traffic or invalid source 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we see how Ping and Traceroute use ICMP. Ping uses Type 8 and Type 0. Traceroute cleverly sends UDP probes to an unused port with TTL=1, 2, 3, and so on. Each intermediate router drops the expired packet and sends back ICMP Type 11 Code 0, while the final destination host replies with ICMP Type 3 Code 3 Port Unreachable, telling Traceroute that it has reached the target. Thank you, and I am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8595360" y="-1097280"/>
            <a:ext cx="5029200" cy="5029200"/>
          </a:xfrm>
          <a:prstGeom prst="ellipse">
            <a:avLst/>
          </a:prstGeom>
          <a:solidFill>
            <a:srgbClr val="0FA3B1">
              <a:alpha val="25000"/>
            </a:srgbClr>
          </a:solidFill>
          <a:ln w="12700">
            <a:solidFill>
              <a:srgbClr val="0FA3B1">
                <a:alpha val="25000"/>
              </a:srgbClr>
            </a:solidFill>
            <a:prstDash val="solid"/>
          </a:ln>
        </p:spPr>
      </p:sp>
      <p:sp>
        <p:nvSpPr>
          <p:cNvPr id="3" name="Shape 1"/>
          <p:cNvSpPr/>
          <p:nvPr/>
        </p:nvSpPr>
        <p:spPr>
          <a:xfrm>
            <a:off x="9692640" y="3474720"/>
            <a:ext cx="3840480" cy="3840480"/>
          </a:xfrm>
          <a:prstGeom prst="ellipse">
            <a:avLst/>
          </a:prstGeom>
          <a:solidFill>
            <a:srgbClr val="F5A623">
              <a:alpha val="20000"/>
            </a:srgbClr>
          </a:solidFill>
          <a:ln w="12700">
            <a:solidFill>
              <a:srgbClr val="F5A623">
                <a:alpha val="20000"/>
              </a:srgbClr>
            </a:solidFill>
            <a:prstDash val="solid"/>
          </a:ln>
        </p:spPr>
      </p:sp>
      <p:sp>
        <p:nvSpPr>
          <p:cNvPr id="4" name="Text 2"/>
          <p:cNvSpPr txBox="1"/>
          <p:nvPr/>
        </p:nvSpPr>
        <p:spPr>
          <a:xfrm>
            <a:off x="731520" y="914400"/>
            <a:ext cx="8229600" cy="365760"/>
          </a:xfrm>
          <a:prstGeom prst="rect">
            <a:avLst/>
          </a:prstGeom>
          <a:noFill/>
          <a:ln/>
        </p:spPr>
        <p:txBody>
          <a:bodyPr wrap="square" lIns="0" tIns="0" rIns="0" bIns="0" rtlCol="0" anchor="t"/>
          <a:lstStyle/>
          <a:p>
            <a:pPr indent="0" marL="0">
              <a:buNone/>
            </a:pPr>
            <a:r>
              <a:rPr lang="en-US" sz="1400" b="1" spc="300" kern="0" dirty="0">
                <a:solidFill>
                  <a:srgbClr val="F5A623"/>
                </a:solidFill>
                <a:latin typeface="Calibri" pitchFamily="34" charset="0"/>
                <a:ea typeface="Calibri" pitchFamily="34" charset="-122"/>
                <a:cs typeface="Calibri" pitchFamily="34" charset="-120"/>
              </a:rPr>
              <a:t>NPTEL COMPUTER NETWORKS · WEEK 10</a:t>
            </a:r>
            <a:endParaRPr lang="en-US" sz="1400" dirty="0"/>
          </a:p>
        </p:txBody>
      </p:sp>
      <p:sp>
        <p:nvSpPr>
          <p:cNvPr id="5" name="Text 3"/>
          <p:cNvSpPr txBox="1"/>
          <p:nvPr/>
        </p:nvSpPr>
        <p:spPr>
          <a:xfrm>
            <a:off x="731520" y="1463040"/>
            <a:ext cx="8229600" cy="173736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Routing Protocols (OSPF &amp; BGP) and ICMP</a:t>
            </a:r>
            <a:endParaRPr lang="en-US" sz="4400" dirty="0"/>
          </a:p>
        </p:txBody>
      </p:sp>
      <p:sp>
        <p:nvSpPr>
          <p:cNvPr id="6" name="Text 4"/>
          <p:cNvSpPr txBox="1"/>
          <p:nvPr/>
        </p:nvSpPr>
        <p:spPr>
          <a:xfrm>
            <a:off x="731520" y="3383280"/>
            <a:ext cx="8229600" cy="365760"/>
          </a:xfrm>
          <a:prstGeom prst="rect">
            <a:avLst/>
          </a:prstGeom>
          <a:noFill/>
          <a:ln/>
        </p:spPr>
        <p:txBody>
          <a:bodyPr wrap="square" lIns="0" tIns="0" rIns="0" bIns="0" rtlCol="0" anchor="t"/>
          <a:lstStyle/>
          <a:p>
            <a:pPr indent="0" marL="0">
              <a:buNone/>
            </a:pPr>
            <a:r>
              <a:rPr lang="en-US" sz="1600" dirty="0">
                <a:solidFill>
                  <a:srgbClr val="CADCFC"/>
                </a:solidFill>
                <a:latin typeface="Calibri" pitchFamily="34" charset="0"/>
                <a:ea typeface="Calibri" pitchFamily="34" charset="-122"/>
                <a:cs typeface="Calibri" pitchFamily="34" charset="-120"/>
              </a:rPr>
              <a:t>Course noc26_cs99 — Prof. Neminath Hubballi, IIT Indore</a:t>
            </a:r>
            <a:endParaRPr lang="en-US" sz="1600" dirty="0"/>
          </a:p>
        </p:txBody>
      </p:sp>
      <p:sp>
        <p:nvSpPr>
          <p:cNvPr id="7" name="Text 5"/>
          <p:cNvSpPr txBox="1"/>
          <p:nvPr/>
        </p:nvSpPr>
        <p:spPr>
          <a:xfrm>
            <a:off x="731520" y="4206240"/>
            <a:ext cx="5486400" cy="36576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1  OSPF — Parts 01 &amp; 02</a:t>
            </a:r>
            <a:endParaRPr lang="en-US" sz="1800" dirty="0"/>
          </a:p>
        </p:txBody>
      </p:sp>
      <p:sp>
        <p:nvSpPr>
          <p:cNvPr id="8" name="Text 6"/>
          <p:cNvSpPr txBox="1"/>
          <p:nvPr/>
        </p:nvSpPr>
        <p:spPr>
          <a:xfrm>
            <a:off x="731520" y="4617720"/>
            <a:ext cx="5486400" cy="36576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2  BGP — Parts 01 &amp; 02</a:t>
            </a:r>
            <a:endParaRPr lang="en-US" sz="1800" dirty="0"/>
          </a:p>
        </p:txBody>
      </p:sp>
      <p:sp>
        <p:nvSpPr>
          <p:cNvPr id="9" name="Text 7"/>
          <p:cNvSpPr txBox="1"/>
          <p:nvPr/>
        </p:nvSpPr>
        <p:spPr>
          <a:xfrm>
            <a:off x="731520" y="5029200"/>
            <a:ext cx="5486400" cy="36576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3  ICMP — Parts 01 &amp; 02</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0972800" cy="274320"/>
          </a:xfrm>
          <a:prstGeom prst="rect">
            <a:avLst/>
          </a:prstGeom>
          <a:noFill/>
          <a:ln/>
        </p:spPr>
        <p:txBody>
          <a:bodyPr wrap="square" lIns="0" tIns="0" rIns="0" bIns="0" rtlCol="0" anchor="t"/>
          <a:lstStyle/>
          <a:p>
            <a:pPr indent="0" marL="0">
              <a:buNone/>
            </a:pPr>
            <a:r>
              <a:rPr lang="en-US" sz="1200" b="1" spc="200" kern="0" dirty="0">
                <a:solidFill>
                  <a:srgbClr val="0FA3B1"/>
                </a:solidFill>
                <a:latin typeface="Calibri" pitchFamily="34" charset="0"/>
                <a:ea typeface="Calibri" pitchFamily="34" charset="-122"/>
                <a:cs typeface="Calibri" pitchFamily="34" charset="-120"/>
              </a:rPr>
              <a:t>OVERVIEW</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Week 10 Lecture Overview</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1645920"/>
                <a:gridCol w="2194560"/>
                <a:gridCol w="7251192"/>
              </a:tblGrid>
              <a:tr h="621792">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Lecture</a:t>
                      </a:r>
                      <a:endParaRPr lang="en-US" sz="1500" dirty="0">
                        <a:latin typeface="Calibri" charset="0"/>
                        <a:ea typeface="Calibri" charset="0"/>
                        <a:cs typeface="Calibri" charset="0"/>
                      </a:endParaRPr>
                    </a:p>
                  </a:txBody>
                  <a:tcPr marL="91440" marR="91440" marT="36576" marB="36576">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0B1F3A"/>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Topic</a:t>
                      </a:r>
                      <a:endParaRPr lang="en-US" sz="1500" dirty="0">
                        <a:latin typeface="Calibri" charset="0"/>
                        <a:ea typeface="Calibri" charset="0"/>
                        <a:cs typeface="Calibri" charset="0"/>
                      </a:endParaRPr>
                    </a:p>
                  </a:txBody>
                  <a:tcPr marL="91440" marR="91440" marT="36576" marB="36576">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0B1F3A"/>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Core Focus</a:t>
                      </a:r>
                      <a:endParaRPr lang="en-US" sz="1500" dirty="0">
                        <a:latin typeface="Calibri" charset="0"/>
                        <a:ea typeface="Calibri" charset="0"/>
                        <a:cs typeface="Calibri" charset="0"/>
                      </a:endParaRPr>
                    </a:p>
                  </a:txBody>
                  <a:tcPr marL="91440" marR="91440" marT="36576" marB="36576">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0B1F3A"/>
                    </a:solidFill>
                  </a:tcPr>
                </a:tc>
              </a:tr>
              <a:tr h="621792">
                <a:tc>
                  <a:txBody>
                    <a:bodyPr/>
                    <a:lstStyle/>
                    <a:p>
                      <a:pPr indent="0" marL="0">
                        <a:buNone/>
                      </a:pPr>
                      <a:r>
                        <a:rPr lang="en-US" sz="1500" b="1" dirty="0">
                          <a:solidFill>
                            <a:srgbClr val="1B2B3A"/>
                          </a:solidFill>
                          <a:latin typeface="Calibri" pitchFamily="34" charset="0"/>
                          <a:ea typeface="Calibri" pitchFamily="34" charset="-122"/>
                          <a:cs typeface="Calibri" pitchFamily="34" charset="-120"/>
                        </a:rPr>
                        <a:t>Lecture 1</a:t>
                      </a:r>
                      <a:endParaRPr lang="en-US" sz="15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EAF4F6"/>
                    </a:solidFill>
                  </a:tcPr>
                </a:tc>
                <a:tc>
                  <a:txBody>
                    <a:bodyPr/>
                    <a:lstStyle/>
                    <a:p>
                      <a:pPr indent="0" marL="0">
                        <a:buNone/>
                      </a:pPr>
                      <a:r>
                        <a:rPr lang="en-US" sz="1500" dirty="0">
                          <a:solidFill>
                            <a:srgbClr val="1B2B3A"/>
                          </a:solidFill>
                          <a:latin typeface="Calibri" pitchFamily="34" charset="0"/>
                          <a:ea typeface="Calibri" pitchFamily="34" charset="-122"/>
                          <a:cs typeface="Calibri" pitchFamily="34" charset="-120"/>
                        </a:rPr>
                        <a:t>OSPF – Part 01</a:t>
                      </a:r>
                      <a:endParaRPr lang="en-US" sz="15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EAF4F6"/>
                    </a:solidFill>
                  </a:tcPr>
                </a:tc>
                <a:tc>
                  <a:txBody>
                    <a:bodyPr/>
                    <a:lstStyle/>
                    <a:p>
                      <a:pPr indent="0" marL="0">
                        <a:buNone/>
                      </a:pPr>
                      <a:r>
                        <a:rPr lang="en-US" sz="1500" dirty="0">
                          <a:solidFill>
                            <a:srgbClr val="1B2B3A"/>
                          </a:solidFill>
                          <a:latin typeface="Calibri" pitchFamily="34" charset="0"/>
                          <a:ea typeface="Calibri" pitchFamily="34" charset="-122"/>
                          <a:cs typeface="Calibri" pitchFamily="34" charset="-120"/>
                        </a:rPr>
                        <a:t>Scaling routing, Autonomous Systems, Intra-AS routing, OSPF fundamentals &amp; features</a:t>
                      </a:r>
                      <a:endParaRPr lang="en-US" sz="15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EAF4F6"/>
                    </a:solidFill>
                  </a:tcPr>
                </a:tc>
              </a:tr>
              <a:tr h="621792">
                <a:tc>
                  <a:txBody>
                    <a:bodyPr/>
                    <a:lstStyle/>
                    <a:p>
                      <a:pPr indent="0" marL="0">
                        <a:buNone/>
                      </a:pPr>
                      <a:r>
                        <a:rPr lang="en-US" sz="1500" b="1" dirty="0">
                          <a:solidFill>
                            <a:srgbClr val="1B2B3A"/>
                          </a:solidFill>
                          <a:latin typeface="Calibri" pitchFamily="34" charset="0"/>
                          <a:ea typeface="Calibri" pitchFamily="34" charset="-122"/>
                          <a:cs typeface="Calibri" pitchFamily="34" charset="-120"/>
                        </a:rPr>
                        <a:t>Lecture 2</a:t>
                      </a:r>
                      <a:endParaRPr lang="en-US" sz="15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500" dirty="0">
                          <a:solidFill>
                            <a:srgbClr val="1B2B3A"/>
                          </a:solidFill>
                          <a:latin typeface="Calibri" pitchFamily="34" charset="0"/>
                          <a:ea typeface="Calibri" pitchFamily="34" charset="-122"/>
                          <a:cs typeface="Calibri" pitchFamily="34" charset="-120"/>
                        </a:rPr>
                        <a:t>OSPF – Part 02</a:t>
                      </a:r>
                      <a:endParaRPr lang="en-US" sz="15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500" dirty="0">
                          <a:solidFill>
                            <a:srgbClr val="1B2B3A"/>
                          </a:solidFill>
                          <a:latin typeface="Calibri" pitchFamily="34" charset="0"/>
                          <a:ea typeface="Calibri" pitchFamily="34" charset="-122"/>
                          <a:cs typeface="Calibri" pitchFamily="34" charset="-120"/>
                        </a:rPr>
                        <a:t>Two-level hierarchy, 4 router roles, 5 packet types</a:t>
                      </a:r>
                      <a:endParaRPr lang="en-US" sz="15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r>
              <a:tr h="621792">
                <a:tc>
                  <a:txBody>
                    <a:bodyPr/>
                    <a:lstStyle/>
                    <a:p>
                      <a:pPr indent="0" marL="0">
                        <a:buNone/>
                      </a:pPr>
                      <a:r>
                        <a:rPr lang="en-US" sz="1500" b="1" dirty="0">
                          <a:solidFill>
                            <a:srgbClr val="1B2B3A"/>
                          </a:solidFill>
                          <a:latin typeface="Calibri" pitchFamily="34" charset="0"/>
                          <a:ea typeface="Calibri" pitchFamily="34" charset="-122"/>
                          <a:cs typeface="Calibri" pitchFamily="34" charset="-120"/>
                        </a:rPr>
                        <a:t>Lecture 3</a:t>
                      </a:r>
                      <a:endParaRPr lang="en-US" sz="15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EAF4F6"/>
                    </a:solidFill>
                  </a:tcPr>
                </a:tc>
                <a:tc>
                  <a:txBody>
                    <a:bodyPr/>
                    <a:lstStyle/>
                    <a:p>
                      <a:pPr indent="0" marL="0">
                        <a:buNone/>
                      </a:pPr>
                      <a:r>
                        <a:rPr lang="en-US" sz="1500" dirty="0">
                          <a:solidFill>
                            <a:srgbClr val="1B2B3A"/>
                          </a:solidFill>
                          <a:latin typeface="Calibri" pitchFamily="34" charset="0"/>
                          <a:ea typeface="Calibri" pitchFamily="34" charset="-122"/>
                          <a:cs typeface="Calibri" pitchFamily="34" charset="-120"/>
                        </a:rPr>
                        <a:t>BGP – Part 01</a:t>
                      </a:r>
                      <a:endParaRPr lang="en-US" sz="15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EAF4F6"/>
                    </a:solidFill>
                  </a:tcPr>
                </a:tc>
                <a:tc>
                  <a:txBody>
                    <a:bodyPr/>
                    <a:lstStyle/>
                    <a:p>
                      <a:pPr indent="0" marL="0">
                        <a:buNone/>
                      </a:pPr>
                      <a:r>
                        <a:rPr lang="en-US" sz="1500" dirty="0">
                          <a:solidFill>
                            <a:srgbClr val="1B2B3A"/>
                          </a:solidFill>
                          <a:latin typeface="Calibri" pitchFamily="34" charset="0"/>
                          <a:ea typeface="Calibri" pitchFamily="34" charset="-122"/>
                          <a:cs typeface="Calibri" pitchFamily="34" charset="-120"/>
                        </a:rPr>
                        <a:t>Inter-AS routing, eBGP vs iBGP over TCP port 179, AS-PATH &amp; NEXT-HOP</a:t>
                      </a:r>
                      <a:endParaRPr lang="en-US" sz="15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EAF4F6"/>
                    </a:solidFill>
                  </a:tcPr>
                </a:tc>
              </a:tr>
              <a:tr h="621792">
                <a:tc>
                  <a:txBody>
                    <a:bodyPr/>
                    <a:lstStyle/>
                    <a:p>
                      <a:pPr indent="0" marL="0">
                        <a:buNone/>
                      </a:pPr>
                      <a:r>
                        <a:rPr lang="en-US" sz="1500" b="1" dirty="0">
                          <a:solidFill>
                            <a:srgbClr val="1B2B3A"/>
                          </a:solidFill>
                          <a:latin typeface="Calibri" pitchFamily="34" charset="0"/>
                          <a:ea typeface="Calibri" pitchFamily="34" charset="-122"/>
                          <a:cs typeface="Calibri" pitchFamily="34" charset="-120"/>
                        </a:rPr>
                        <a:t>Lecture 4</a:t>
                      </a:r>
                      <a:endParaRPr lang="en-US" sz="15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500" dirty="0">
                          <a:solidFill>
                            <a:srgbClr val="1B2B3A"/>
                          </a:solidFill>
                          <a:latin typeface="Calibri" pitchFamily="34" charset="0"/>
                          <a:ea typeface="Calibri" pitchFamily="34" charset="-122"/>
                          <a:cs typeface="Calibri" pitchFamily="34" charset="-120"/>
                        </a:rPr>
                        <a:t>BGP – Part 02</a:t>
                      </a:r>
                      <a:endParaRPr lang="en-US" sz="15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500" dirty="0">
                          <a:solidFill>
                            <a:srgbClr val="1B2B3A"/>
                          </a:solidFill>
                          <a:latin typeface="Calibri" pitchFamily="34" charset="0"/>
                          <a:ea typeface="Calibri" pitchFamily="34" charset="-122"/>
                          <a:cs typeface="Calibri" pitchFamily="34" charset="-120"/>
                        </a:rPr>
                        <a:t>Hot potato routing, route selection, policy routing, 4 BGP messages</a:t>
                      </a:r>
                      <a:endParaRPr lang="en-US" sz="15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r>
              <a:tr h="621792">
                <a:tc>
                  <a:txBody>
                    <a:bodyPr/>
                    <a:lstStyle/>
                    <a:p>
                      <a:pPr indent="0" marL="0">
                        <a:buNone/>
                      </a:pPr>
                      <a:r>
                        <a:rPr lang="en-US" sz="1500" b="1" dirty="0">
                          <a:solidFill>
                            <a:srgbClr val="1B2B3A"/>
                          </a:solidFill>
                          <a:latin typeface="Calibri" pitchFamily="34" charset="0"/>
                          <a:ea typeface="Calibri" pitchFamily="34" charset="-122"/>
                          <a:cs typeface="Calibri" pitchFamily="34" charset="-120"/>
                        </a:rPr>
                        <a:t>Lecture 5</a:t>
                      </a:r>
                      <a:endParaRPr lang="en-US" sz="15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EAF4F6"/>
                    </a:solidFill>
                  </a:tcPr>
                </a:tc>
                <a:tc>
                  <a:txBody>
                    <a:bodyPr/>
                    <a:lstStyle/>
                    <a:p>
                      <a:pPr indent="0" marL="0">
                        <a:buNone/>
                      </a:pPr>
                      <a:r>
                        <a:rPr lang="en-US" sz="1500" dirty="0">
                          <a:solidFill>
                            <a:srgbClr val="1B2B3A"/>
                          </a:solidFill>
                          <a:latin typeface="Calibri" pitchFamily="34" charset="0"/>
                          <a:ea typeface="Calibri" pitchFamily="34" charset="-122"/>
                          <a:cs typeface="Calibri" pitchFamily="34" charset="-120"/>
                        </a:rPr>
                        <a:t>ICMP – Part 01</a:t>
                      </a:r>
                      <a:endParaRPr lang="en-US" sz="15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EAF4F6"/>
                    </a:solidFill>
                  </a:tcPr>
                </a:tc>
                <a:tc>
                  <a:txBody>
                    <a:bodyPr/>
                    <a:lstStyle/>
                    <a:p>
                      <a:pPr indent="0" marL="0">
                        <a:buNone/>
                      </a:pPr>
                      <a:r>
                        <a:rPr lang="en-US" sz="1500" dirty="0">
                          <a:solidFill>
                            <a:srgbClr val="1B2B3A"/>
                          </a:solidFill>
                          <a:latin typeface="Calibri" pitchFamily="34" charset="0"/>
                          <a:ea typeface="Calibri" pitchFamily="34" charset="-122"/>
                          <a:cs typeface="Calibri" pitchFamily="34" charset="-120"/>
                        </a:rPr>
                        <a:t>Error reporting, IP Protocol 1, message structure, Type/Code table</a:t>
                      </a:r>
                      <a:endParaRPr lang="en-US" sz="15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EAF4F6"/>
                    </a:solidFill>
                  </a:tcPr>
                </a:tc>
              </a:tr>
              <a:tr h="621792">
                <a:tc>
                  <a:txBody>
                    <a:bodyPr/>
                    <a:lstStyle/>
                    <a:p>
                      <a:pPr indent="0" marL="0">
                        <a:buNone/>
                      </a:pPr>
                      <a:r>
                        <a:rPr lang="en-US" sz="1500" b="1" dirty="0">
                          <a:solidFill>
                            <a:srgbClr val="1B2B3A"/>
                          </a:solidFill>
                          <a:latin typeface="Calibri" pitchFamily="34" charset="0"/>
                          <a:ea typeface="Calibri" pitchFamily="34" charset="-122"/>
                          <a:cs typeface="Calibri" pitchFamily="34" charset="-120"/>
                        </a:rPr>
                        <a:t>Lecture 6</a:t>
                      </a:r>
                      <a:endParaRPr lang="en-US" sz="15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500" dirty="0">
                          <a:solidFill>
                            <a:srgbClr val="1B2B3A"/>
                          </a:solidFill>
                          <a:latin typeface="Calibri" pitchFamily="34" charset="0"/>
                          <a:ea typeface="Calibri" pitchFamily="34" charset="-122"/>
                          <a:cs typeface="Calibri" pitchFamily="34" charset="-120"/>
                        </a:rPr>
                        <a:t>ICMP – Part 02</a:t>
                      </a:r>
                      <a:endParaRPr lang="en-US" sz="15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500" dirty="0">
                          <a:solidFill>
                            <a:srgbClr val="1B2B3A"/>
                          </a:solidFill>
                          <a:latin typeface="Calibri" pitchFamily="34" charset="0"/>
                          <a:ea typeface="Calibri" pitchFamily="34" charset="-122"/>
                          <a:cs typeface="Calibri" pitchFamily="34" charset="-120"/>
                        </a:rPr>
                        <a:t>Error suppression rules, Ping, Traceroute, ICMPv6</a:t>
                      </a:r>
                      <a:endParaRPr lang="en-US" sz="15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0972800" cy="274320"/>
          </a:xfrm>
          <a:prstGeom prst="rect">
            <a:avLst/>
          </a:prstGeom>
          <a:noFill/>
          <a:ln/>
        </p:spPr>
        <p:txBody>
          <a:bodyPr wrap="square" lIns="0" tIns="0" rIns="0" bIns="0" rtlCol="0" anchor="t"/>
          <a:lstStyle/>
          <a:p>
            <a:pPr indent="0" marL="0">
              <a:buNone/>
            </a:pPr>
            <a:r>
              <a:rPr lang="en-US" sz="1200" b="1" spc="200" kern="0" dirty="0">
                <a:solidFill>
                  <a:srgbClr val="0FA3B1"/>
                </a:solidFill>
                <a:latin typeface="Calibri" pitchFamily="34" charset="0"/>
                <a:ea typeface="Calibri" pitchFamily="34" charset="-122"/>
                <a:cs typeface="Calibri" pitchFamily="34" charset="-120"/>
              </a:rPr>
              <a:t>OSPF · PART 01</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Why Do We Need Hierarchical Routing?</a:t>
            </a:r>
            <a:endParaRPr lang="en-US" sz="3000" dirty="0"/>
          </a:p>
        </p:txBody>
      </p:sp>
      <p:sp>
        <p:nvSpPr>
          <p:cNvPr id="5" name="Text 2"/>
          <p:cNvSpPr txBox="1"/>
          <p:nvPr/>
        </p:nvSpPr>
        <p:spPr>
          <a:xfrm>
            <a:off x="548640" y="1371600"/>
            <a:ext cx="10972800" cy="365760"/>
          </a:xfrm>
          <a:prstGeom prst="rect">
            <a:avLst/>
          </a:prstGeom>
          <a:noFill/>
          <a:ln/>
        </p:spPr>
        <p:txBody>
          <a:bodyPr wrap="square" lIns="0" tIns="0" rIns="0" bIns="0" rtlCol="0" anchor="t"/>
          <a:lstStyle/>
          <a:p>
            <a:pPr indent="0" marL="0">
              <a:buNone/>
            </a:pPr>
            <a:r>
              <a:rPr lang="en-US" sz="1600" i="1" dirty="0">
                <a:solidFill>
                  <a:srgbClr val="5B6B7A"/>
                </a:solidFill>
                <a:latin typeface="Calibri" pitchFamily="34" charset="0"/>
                <a:ea typeface="Calibri" pitchFamily="34" charset="-122"/>
                <a:cs typeface="Calibri" pitchFamily="34" charset="-120"/>
              </a:rPr>
              <a:t>Limits of idealized "flat" routing: all routers identical, one flat network</a:t>
            </a:r>
            <a:endParaRPr lang="en-US" sz="1600" dirty="0"/>
          </a:p>
        </p:txBody>
      </p:sp>
      <p:sp>
        <p:nvSpPr>
          <p:cNvPr id="6" name="Shape 3"/>
          <p:cNvSpPr/>
          <p:nvPr/>
        </p:nvSpPr>
        <p:spPr>
          <a:xfrm>
            <a:off x="548640" y="1920240"/>
            <a:ext cx="5394960" cy="2743200"/>
          </a:xfrm>
          <a:prstGeom prst="roundRect">
            <a:avLst>
              <a:gd name="adj" fmla="val 4000"/>
            </a:avLst>
          </a:prstGeom>
          <a:solidFill>
            <a:srgbClr val="EAF4F6"/>
          </a:solidFill>
          <a:ln w="12700">
            <a:solidFill>
              <a:srgbClr val="EAF4F6"/>
            </a:solidFill>
            <a:prstDash val="solid"/>
          </a:ln>
        </p:spPr>
      </p:sp>
      <p:sp>
        <p:nvSpPr>
          <p:cNvPr id="7" name="Shape 4"/>
          <p:cNvSpPr/>
          <p:nvPr/>
        </p:nvSpPr>
        <p:spPr>
          <a:xfrm>
            <a:off x="777240" y="2121408"/>
            <a:ext cx="457200" cy="457200"/>
          </a:xfrm>
          <a:prstGeom prst="ellipse">
            <a:avLst/>
          </a:prstGeom>
          <a:solidFill>
            <a:srgbClr val="F5A623"/>
          </a:solidFill>
          <a:ln w="12700">
            <a:solidFill>
              <a:srgbClr val="F5A623"/>
            </a:solidFill>
            <a:prstDash val="solid"/>
          </a:ln>
        </p:spPr>
      </p:sp>
      <p:sp>
        <p:nvSpPr>
          <p:cNvPr id="8" name="Text 5"/>
          <p:cNvSpPr txBox="1"/>
          <p:nvPr/>
        </p:nvSpPr>
        <p:spPr>
          <a:xfrm>
            <a:off x="777240" y="21214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6"/>
          <p:cNvSpPr txBox="1"/>
          <p:nvPr/>
        </p:nvSpPr>
        <p:spPr>
          <a:xfrm>
            <a:off x="1371600" y="2121408"/>
            <a:ext cx="4343400" cy="45720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Problem 1 — Scale</a:t>
            </a:r>
            <a:endParaRPr lang="en-US" sz="1600" dirty="0"/>
          </a:p>
        </p:txBody>
      </p:sp>
      <p:sp>
        <p:nvSpPr>
          <p:cNvPr id="10" name="Text 7"/>
          <p:cNvSpPr txBox="1"/>
          <p:nvPr/>
        </p:nvSpPr>
        <p:spPr>
          <a:xfrm>
            <a:off x="777240" y="2697480"/>
            <a:ext cx="4937760" cy="1828800"/>
          </a:xfrm>
          <a:prstGeom prst="rect">
            <a:avLst/>
          </a:prstGeom>
          <a:noFill/>
          <a:ln/>
        </p:spPr>
        <p:txBody>
          <a:bodyPr wrap="square" lIns="0" tIns="0" rIns="0" bIns="0" rtlCol="0" anchor="t"/>
          <a:lstStyle/>
          <a:p>
            <a:pPr indent="0" marL="0">
              <a:buNone/>
            </a:pPr>
            <a:r>
              <a:rPr lang="en-US" sz="1500" dirty="0">
                <a:solidFill>
                  <a:srgbClr val="1B2B3A"/>
                </a:solidFill>
                <a:latin typeface="Calibri" pitchFamily="34" charset="0"/>
                <a:ea typeface="Calibri" pitchFamily="34" charset="-122"/>
                <a:cs typeface="Calibri" pitchFamily="34" charset="-120"/>
              </a:rPr>
              <a:t>With billions of destinations, a table entry for every router/host would exhaust router memory, and routing updates would consume all link bandwidth.</a:t>
            </a:r>
            <a:endParaRPr lang="en-US" sz="1400" dirty="0"/>
          </a:p>
        </p:txBody>
      </p:sp>
      <p:sp>
        <p:nvSpPr>
          <p:cNvPr id="11" name="Shape 8"/>
          <p:cNvSpPr/>
          <p:nvPr/>
        </p:nvSpPr>
        <p:spPr>
          <a:xfrm>
            <a:off x="548640" y="4846320"/>
            <a:ext cx="5394960" cy="1463040"/>
          </a:xfrm>
          <a:prstGeom prst="roundRect">
            <a:avLst>
              <a:gd name="adj" fmla="val 7500"/>
            </a:avLst>
          </a:prstGeom>
          <a:solidFill>
            <a:srgbClr val="EAF4F6"/>
          </a:solidFill>
          <a:ln w="12700">
            <a:solidFill>
              <a:srgbClr val="EAF4F6"/>
            </a:solidFill>
            <a:prstDash val="solid"/>
          </a:ln>
        </p:spPr>
      </p:sp>
      <p:sp>
        <p:nvSpPr>
          <p:cNvPr id="12" name="Shape 9"/>
          <p:cNvSpPr/>
          <p:nvPr/>
        </p:nvSpPr>
        <p:spPr>
          <a:xfrm>
            <a:off x="777240" y="5047488"/>
            <a:ext cx="457200" cy="457200"/>
          </a:xfrm>
          <a:prstGeom prst="ellipse">
            <a:avLst/>
          </a:prstGeom>
          <a:solidFill>
            <a:srgbClr val="F5A623"/>
          </a:solidFill>
          <a:ln w="12700">
            <a:solidFill>
              <a:srgbClr val="F5A623"/>
            </a:solidFill>
            <a:prstDash val="solid"/>
          </a:ln>
        </p:spPr>
      </p:sp>
      <p:sp>
        <p:nvSpPr>
          <p:cNvPr id="13" name="Text 10"/>
          <p:cNvSpPr txBox="1"/>
          <p:nvPr/>
        </p:nvSpPr>
        <p:spPr>
          <a:xfrm>
            <a:off x="777240" y="50474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1"/>
          <p:cNvSpPr txBox="1"/>
          <p:nvPr/>
        </p:nvSpPr>
        <p:spPr>
          <a:xfrm>
            <a:off x="1371600" y="5047488"/>
            <a:ext cx="4343400" cy="45720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Problem 2 — Autonomy</a:t>
            </a:r>
            <a:endParaRPr lang="en-US" sz="1600" dirty="0"/>
          </a:p>
        </p:txBody>
      </p:sp>
      <p:sp>
        <p:nvSpPr>
          <p:cNvPr id="15" name="Text 12"/>
          <p:cNvSpPr txBox="1"/>
          <p:nvPr/>
        </p:nvSpPr>
        <p:spPr>
          <a:xfrm>
            <a:off x="777240" y="5623560"/>
            <a:ext cx="4937760" cy="548640"/>
          </a:xfrm>
          <a:prstGeom prst="rect">
            <a:avLst/>
          </a:prstGeom>
          <a:noFill/>
          <a:ln/>
        </p:spPr>
        <p:txBody>
          <a:bodyPr wrap="square" lIns="0" tIns="0" rIns="0" bIns="0" rtlCol="0" anchor="t"/>
          <a:lstStyle/>
          <a:p>
            <a:pPr indent="0" marL="0">
              <a:buNone/>
            </a:pPr>
            <a:r>
              <a:rPr lang="en-US" sz="1500" dirty="0">
                <a:solidFill>
                  <a:srgbClr val="1B2B3A"/>
                </a:solidFill>
                <a:latin typeface="Calibri" pitchFamily="34" charset="0"/>
                <a:ea typeface="Calibri" pitchFamily="34" charset="-122"/>
                <a:cs typeface="Calibri" pitchFamily="34" charset="-120"/>
              </a:rPr>
              <a:t>Each ISP wants its own routing algorithm and hidden internal topology.</a:t>
            </a:r>
            <a:endParaRPr lang="en-US" sz="1400" dirty="0"/>
          </a:p>
        </p:txBody>
      </p:sp>
      <p:sp>
        <p:nvSpPr>
          <p:cNvPr id="16" name="Shape 13"/>
          <p:cNvSpPr/>
          <p:nvPr/>
        </p:nvSpPr>
        <p:spPr>
          <a:xfrm>
            <a:off x="6217920" y="1920240"/>
            <a:ext cx="5422392" cy="4389120"/>
          </a:xfrm>
          <a:prstGeom prst="roundRect">
            <a:avLst>
              <a:gd name="adj" fmla="val 2500"/>
            </a:avLst>
          </a:prstGeom>
          <a:solidFill>
            <a:srgbClr val="0B1F3A"/>
          </a:solidFill>
          <a:ln w="12700">
            <a:solidFill>
              <a:srgbClr val="0B1F3A"/>
            </a:solidFill>
            <a:prstDash val="solid"/>
          </a:ln>
        </p:spPr>
      </p:sp>
      <p:sp>
        <p:nvSpPr>
          <p:cNvPr id="17" name="Text 14"/>
          <p:cNvSpPr txBox="1"/>
          <p:nvPr/>
        </p:nvSpPr>
        <p:spPr>
          <a:xfrm>
            <a:off x="6446520" y="2103120"/>
            <a:ext cx="4965192" cy="41148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The Solution: Autonomous Systems</a:t>
            </a:r>
            <a:endParaRPr lang="en-US" sz="2000" dirty="0"/>
          </a:p>
        </p:txBody>
      </p:sp>
      <p:sp>
        <p:nvSpPr>
          <p:cNvPr id="18" name="Text 15"/>
          <p:cNvSpPr txBox="1"/>
          <p:nvPr/>
        </p:nvSpPr>
        <p:spPr>
          <a:xfrm>
            <a:off x="6446520" y="2606040"/>
            <a:ext cx="4965192" cy="3566160"/>
          </a:xfrm>
          <a:prstGeom prst="rect">
            <a:avLst/>
          </a:prstGeom>
          <a:noFill/>
          <a:ln/>
        </p:spPr>
        <p:txBody>
          <a:bodyPr wrap="square" lIns="0" tIns="0" rIns="0" bIns="0" rtlCol="0" anchor="t"/>
          <a:lstStyle/>
          <a:p>
            <a:pPr indent="0" marL="0">
              <a:spcAft>
                <a:spcPts val="600"/>
              </a:spcAft>
              <a:buNone/>
            </a:pPr>
            <a:r>
              <a:rPr lang="en-US" sz="1700" dirty="0">
                <a:solidFill>
                  <a:srgbClr val="E6EEF5"/>
                </a:solidFill>
                <a:latin typeface="Calibri" pitchFamily="34" charset="0"/>
                <a:ea typeface="Calibri" pitchFamily="34" charset="-122"/>
                <a:cs typeface="Calibri" pitchFamily="34" charset="-120"/>
              </a:rPr>
              <a:t>Routers are grouped into </a:t>
            </a:r>
            <a:pPr indent="0" marL="0">
              <a:spcAft>
                <a:spcPts val="600"/>
              </a:spcAft>
              <a:buNone/>
            </a:pPr>
            <a:r>
              <a:rPr lang="en-US" sz="1700" b="1" dirty="0">
                <a:solidFill>
                  <a:srgbClr val="E6EEF5"/>
                </a:solidFill>
                <a:latin typeface="Calibri" pitchFamily="34" charset="0"/>
                <a:ea typeface="Calibri" pitchFamily="34" charset="-122"/>
                <a:cs typeface="Calibri" pitchFamily="34" charset="-120"/>
              </a:rPr>
              <a:t>Autonomous Systems (ASs)</a:t>
            </a:r>
            <a:pPr indent="0" marL="0">
              <a:spcAft>
                <a:spcPts val="600"/>
              </a:spcAft>
              <a:buNone/>
            </a:pPr>
            <a:r>
              <a:rPr lang="en-US" sz="1700" dirty="0">
                <a:solidFill>
                  <a:srgbClr val="E6EEF5"/>
                </a:solidFill>
                <a:latin typeface="Calibri" pitchFamily="34" charset="0"/>
                <a:ea typeface="Calibri" pitchFamily="34" charset="-122"/>
                <a:cs typeface="Calibri" pitchFamily="34" charset="-120"/>
              </a:rPr>
              <a:t>: routers under the </a:t>
            </a:r>
            <a:pPr indent="0" marL="0">
              <a:spcAft>
                <a:spcPts val="600"/>
              </a:spcAft>
              <a:buNone/>
            </a:pPr>
            <a:r>
              <a:rPr lang="en-US" sz="1700" b="1" dirty="0">
                <a:solidFill>
                  <a:srgbClr val="E6EEF5"/>
                </a:solidFill>
                <a:latin typeface="Calibri" pitchFamily="34" charset="0"/>
                <a:ea typeface="Calibri" pitchFamily="34" charset="-122"/>
                <a:cs typeface="Calibri" pitchFamily="34" charset="-120"/>
              </a:rPr>
              <a:t>same administrative control</a:t>
            </a:r>
            <a:pPr indent="0" marL="0">
              <a:spcAft>
                <a:spcPts val="600"/>
              </a:spcAft>
              <a:buNone/>
            </a:pPr>
            <a:r>
              <a:rPr lang="en-US" sz="1700" dirty="0">
                <a:solidFill>
                  <a:srgbClr val="E6EEF5"/>
                </a:solidFill>
                <a:latin typeface="Calibri" pitchFamily="34" charset="0"/>
                <a:ea typeface="Calibri" pitchFamily="34" charset="-122"/>
                <a:cs typeface="Calibri" pitchFamily="34" charset="-120"/>
              </a:rPr>
              <a:t>.</a:t>
            </a:r>
            <a:endParaRPr lang="en-US" sz="1400" dirty="0"/>
          </a:p>
          <a:p>
            <a:pPr indent="0" marL="0">
              <a:spcAft>
                <a:spcPts val="600"/>
              </a:spcAft>
              <a:buNone/>
            </a:pPr>
            <a:endParaRPr lang="en-US" sz="1400" dirty="0"/>
          </a:p>
          <a:p>
            <a:pPr indent="0" marL="0">
              <a:spcAft>
                <a:spcPts val="600"/>
              </a:spcAft>
              <a:buNone/>
            </a:pPr>
            <a:r>
              <a:rPr lang="en-US" sz="1700" dirty="0">
                <a:solidFill>
                  <a:srgbClr val="E6EEF5"/>
                </a:solidFill>
                <a:latin typeface="Calibri" pitchFamily="34" charset="0"/>
                <a:ea typeface="Calibri" pitchFamily="34" charset="-122"/>
                <a:cs typeface="Calibri" pitchFamily="34" charset="-120"/>
              </a:rPr>
              <a:t>Each AS has a globally unique </a:t>
            </a:r>
            <a:endParaRPr lang="en-US" sz="1400" dirty="0"/>
          </a:p>
          <a:p>
            <a:pPr indent="0" marL="0">
              <a:spcAft>
                <a:spcPts val="600"/>
              </a:spcAft>
              <a:buNone/>
            </a:pPr>
            <a:r>
              <a:rPr lang="en-US" sz="1700" b="1" dirty="0">
                <a:solidFill>
                  <a:srgbClr val="E6EEF5"/>
                </a:solidFill>
                <a:latin typeface="Calibri" pitchFamily="34" charset="0"/>
                <a:ea typeface="Calibri" pitchFamily="34" charset="-122"/>
                <a:cs typeface="Calibri" pitchFamily="34" charset="-120"/>
              </a:rPr>
              <a:t>ASN</a:t>
            </a:r>
            <a:pPr indent="0" marL="0">
              <a:spcAft>
                <a:spcPts val="600"/>
              </a:spcAft>
              <a:buNone/>
            </a:pPr>
            <a:r>
              <a:rPr lang="en-US" sz="1700" dirty="0">
                <a:solidFill>
                  <a:srgbClr val="E6EEF5"/>
                </a:solidFill>
                <a:latin typeface="Calibri" pitchFamily="34" charset="0"/>
                <a:ea typeface="Calibri" pitchFamily="34" charset="-122"/>
                <a:cs typeface="Calibri" pitchFamily="34" charset="-120"/>
              </a:rPr>
              <a:t> assigned by ICANN regional registries.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0972800" cy="274320"/>
          </a:xfrm>
          <a:prstGeom prst="rect">
            <a:avLst/>
          </a:prstGeom>
          <a:noFill/>
          <a:ln/>
        </p:spPr>
        <p:txBody>
          <a:bodyPr wrap="square" lIns="0" tIns="0" rIns="0" bIns="0" rtlCol="0" anchor="t"/>
          <a:lstStyle/>
          <a:p>
            <a:pPr indent="0" marL="0">
              <a:buNone/>
            </a:pPr>
            <a:r>
              <a:rPr lang="en-US" sz="1200" b="1" spc="200" kern="0" dirty="0">
                <a:solidFill>
                  <a:srgbClr val="0FA3B1"/>
                </a:solidFill>
                <a:latin typeface="Calibri" pitchFamily="34" charset="0"/>
                <a:ea typeface="Calibri" pitchFamily="34" charset="-122"/>
                <a:cs typeface="Calibri" pitchFamily="34" charset="-120"/>
              </a:rPr>
              <a:t>OSPF · PART 01</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Intra-AS vs. Inter-AS Routing</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2651760"/>
                <a:gridCol w="4206240"/>
                <a:gridCol w="4233672"/>
              </a:tblGrid>
              <a:tr h="73152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Feature</a:t>
                      </a:r>
                      <a:endParaRPr lang="en-US" sz="1600" dirty="0">
                        <a:latin typeface="Calibri" charset="0"/>
                        <a:ea typeface="Calibri" charset="0"/>
                        <a:cs typeface="Calibri" charset="0"/>
                      </a:endParaRPr>
                    </a:p>
                  </a:txBody>
                  <a:tcPr marL="91440" marR="91440" marT="36576" marB="36576">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0B1F3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Intra-AS (IGP)</a:t>
                      </a:r>
                      <a:endParaRPr lang="en-US" sz="1600" dirty="0">
                        <a:latin typeface="Calibri" charset="0"/>
                        <a:ea typeface="Calibri" charset="0"/>
                        <a:cs typeface="Calibri" charset="0"/>
                      </a:endParaRPr>
                    </a:p>
                  </a:txBody>
                  <a:tcPr marL="91440" marR="91440" marT="36576" marB="36576">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0B1F3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Inter-AS (EGP)</a:t>
                      </a:r>
                      <a:endParaRPr lang="en-US" sz="1600" dirty="0">
                        <a:latin typeface="Calibri" charset="0"/>
                        <a:ea typeface="Calibri" charset="0"/>
                        <a:cs typeface="Calibri" charset="0"/>
                      </a:endParaRPr>
                    </a:p>
                  </a:txBody>
                  <a:tcPr marL="91440" marR="91440" marT="36576" marB="36576">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0B1F3A"/>
                    </a:solidFill>
                  </a:tcPr>
                </a:tc>
              </a:tr>
              <a:tr h="731520">
                <a:tc>
                  <a:txBody>
                    <a:bodyPr/>
                    <a:lstStyle/>
                    <a:p>
                      <a:pPr indent="0" marL="0">
                        <a:buNone/>
                      </a:pPr>
                      <a:r>
                        <a:rPr lang="en-US" sz="1600" b="1" dirty="0">
                          <a:solidFill>
                            <a:srgbClr val="1B2B3A"/>
                          </a:solidFill>
                          <a:latin typeface="Calibri" pitchFamily="34" charset="0"/>
                          <a:ea typeface="Calibri" pitchFamily="34" charset="-122"/>
                          <a:cs typeface="Calibri" pitchFamily="34" charset="-120"/>
                        </a:rPr>
                        <a:t>Scope</a:t>
                      </a:r>
                      <a:endParaRPr lang="en-US" sz="16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EAF4F6"/>
                    </a:solidFill>
                  </a:tcPr>
                </a:tc>
                <a:tc>
                  <a:txBody>
                    <a:bodyPr/>
                    <a:lstStyle/>
                    <a:p>
                      <a:pPr indent="0" marL="0">
                        <a:buNone/>
                      </a:pPr>
                      <a:r>
                        <a:rPr lang="en-US" sz="1600" dirty="0">
                          <a:solidFill>
                            <a:srgbClr val="1B2B3A"/>
                          </a:solidFill>
                          <a:latin typeface="Calibri" pitchFamily="34" charset="0"/>
                          <a:ea typeface="Calibri" pitchFamily="34" charset="-122"/>
                          <a:cs typeface="Calibri" pitchFamily="34" charset="-120"/>
                        </a:rPr>
                        <a:t>Routers within the same AS</a:t>
                      </a:r>
                      <a:endParaRPr lang="en-US" sz="16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EAF4F6"/>
                    </a:solidFill>
                  </a:tcPr>
                </a:tc>
                <a:tc>
                  <a:txBody>
                    <a:bodyPr/>
                    <a:lstStyle/>
                    <a:p>
                      <a:pPr indent="0" marL="0">
                        <a:buNone/>
                      </a:pPr>
                      <a:r>
                        <a:rPr lang="en-US" sz="1600" dirty="0">
                          <a:solidFill>
                            <a:srgbClr val="1B2B3A"/>
                          </a:solidFill>
                          <a:latin typeface="Calibri" pitchFamily="34" charset="0"/>
                          <a:ea typeface="Calibri" pitchFamily="34" charset="-122"/>
                          <a:cs typeface="Calibri" pitchFamily="34" charset="-120"/>
                        </a:rPr>
                        <a:t>Routers across different ASs</a:t>
                      </a:r>
                      <a:endParaRPr lang="en-US" sz="16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EAF4F6"/>
                    </a:solidFill>
                  </a:tcPr>
                </a:tc>
              </a:tr>
              <a:tr h="731520">
                <a:tc>
                  <a:txBody>
                    <a:bodyPr/>
                    <a:lstStyle/>
                    <a:p>
                      <a:pPr indent="0" marL="0">
                        <a:buNone/>
                      </a:pPr>
                      <a:r>
                        <a:rPr lang="en-US" sz="1600" b="1" dirty="0">
                          <a:solidFill>
                            <a:srgbClr val="1B2B3A"/>
                          </a:solidFill>
                          <a:latin typeface="Calibri" pitchFamily="34" charset="0"/>
                          <a:ea typeface="Calibri" pitchFamily="34" charset="-122"/>
                          <a:cs typeface="Calibri" pitchFamily="34" charset="-120"/>
                        </a:rPr>
                        <a:t>Also known as</a:t>
                      </a:r>
                      <a:endParaRPr lang="en-US" sz="16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600" dirty="0">
                          <a:solidFill>
                            <a:srgbClr val="1B2B3A"/>
                          </a:solidFill>
                          <a:latin typeface="Calibri" pitchFamily="34" charset="0"/>
                          <a:ea typeface="Calibri" pitchFamily="34" charset="-122"/>
                          <a:cs typeface="Calibri" pitchFamily="34" charset="-120"/>
                        </a:rPr>
                        <a:t>Interior Gateway Protocol</a:t>
                      </a:r>
                      <a:endParaRPr lang="en-US" sz="16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600" dirty="0">
                          <a:solidFill>
                            <a:srgbClr val="1B2B3A"/>
                          </a:solidFill>
                          <a:latin typeface="Calibri" pitchFamily="34" charset="0"/>
                          <a:ea typeface="Calibri" pitchFamily="34" charset="-122"/>
                          <a:cs typeface="Calibri" pitchFamily="34" charset="-120"/>
                        </a:rPr>
                        <a:t>Exterior Gateway Protocol</a:t>
                      </a:r>
                      <a:endParaRPr lang="en-US" sz="16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r>
              <a:tr h="731520">
                <a:tc>
                  <a:txBody>
                    <a:bodyPr/>
                    <a:lstStyle/>
                    <a:p>
                      <a:pPr indent="0" marL="0">
                        <a:buNone/>
                      </a:pPr>
                      <a:r>
                        <a:rPr lang="en-US" sz="1600" b="1" dirty="0">
                          <a:solidFill>
                            <a:srgbClr val="1B2B3A"/>
                          </a:solidFill>
                          <a:latin typeface="Calibri" pitchFamily="34" charset="0"/>
                          <a:ea typeface="Calibri" pitchFamily="34" charset="-122"/>
                          <a:cs typeface="Calibri" pitchFamily="34" charset="-120"/>
                        </a:rPr>
                        <a:t>Primary goal</a:t>
                      </a:r>
                      <a:endParaRPr lang="en-US" sz="16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EAF4F6"/>
                    </a:solidFill>
                  </a:tcPr>
                </a:tc>
                <a:tc>
                  <a:txBody>
                    <a:bodyPr/>
                    <a:lstStyle/>
                    <a:p>
                      <a:pPr indent="0" marL="0">
                        <a:buNone/>
                      </a:pPr>
                      <a:r>
                        <a:rPr lang="en-US" sz="1600" dirty="0">
                          <a:solidFill>
                            <a:srgbClr val="1B2B3A"/>
                          </a:solidFill>
                          <a:latin typeface="Calibri" pitchFamily="34" charset="0"/>
                          <a:ea typeface="Calibri" pitchFamily="34" charset="-122"/>
                          <a:cs typeface="Calibri" pitchFamily="34" charset="-120"/>
                        </a:rPr>
                        <a:t>Performance (lowest-cost path)</a:t>
                      </a:r>
                      <a:endParaRPr lang="en-US" sz="16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EAF4F6"/>
                    </a:solidFill>
                  </a:tcPr>
                </a:tc>
                <a:tc>
                  <a:txBody>
                    <a:bodyPr/>
                    <a:lstStyle/>
                    <a:p>
                      <a:pPr indent="0" marL="0">
                        <a:buNone/>
                      </a:pPr>
                      <a:r>
                        <a:rPr lang="en-US" sz="1600" dirty="0">
                          <a:solidFill>
                            <a:srgbClr val="1B2B3A"/>
                          </a:solidFill>
                          <a:latin typeface="Calibri" pitchFamily="34" charset="0"/>
                          <a:ea typeface="Calibri" pitchFamily="34" charset="-122"/>
                          <a:cs typeface="Calibri" pitchFamily="34" charset="-120"/>
                        </a:rPr>
                        <a:t>Policy (business rules dominate)</a:t>
                      </a:r>
                      <a:endParaRPr lang="en-US" sz="16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EAF4F6"/>
                    </a:solidFill>
                  </a:tcPr>
                </a:tc>
              </a:tr>
              <a:tr h="731520">
                <a:tc>
                  <a:txBody>
                    <a:bodyPr/>
                    <a:lstStyle/>
                    <a:p>
                      <a:pPr indent="0" marL="0">
                        <a:buNone/>
                      </a:pPr>
                      <a:r>
                        <a:rPr lang="en-US" sz="1600" b="1" dirty="0">
                          <a:solidFill>
                            <a:srgbClr val="1B2B3A"/>
                          </a:solidFill>
                          <a:latin typeface="Calibri" pitchFamily="34" charset="0"/>
                          <a:ea typeface="Calibri" pitchFamily="34" charset="-122"/>
                          <a:cs typeface="Calibri" pitchFamily="34" charset="-120"/>
                        </a:rPr>
                        <a:t>Protocols</a:t>
                      </a:r>
                      <a:endParaRPr lang="en-US" sz="16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600" dirty="0">
                          <a:solidFill>
                            <a:srgbClr val="1B2B3A"/>
                          </a:solidFill>
                          <a:latin typeface="Calibri" pitchFamily="34" charset="0"/>
                          <a:ea typeface="Calibri" pitchFamily="34" charset="-122"/>
                          <a:cs typeface="Calibri" pitchFamily="34" charset="-120"/>
                        </a:rPr>
                        <a:t>RIP, OSPF, IS-IS, IGRP/EIGRP</a:t>
                      </a:r>
                      <a:endParaRPr lang="en-US" sz="16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600" dirty="0">
                          <a:solidFill>
                            <a:srgbClr val="1B2B3A"/>
                          </a:solidFill>
                          <a:latin typeface="Calibri" pitchFamily="34" charset="0"/>
                          <a:ea typeface="Calibri" pitchFamily="34" charset="-122"/>
                          <a:cs typeface="Calibri" pitchFamily="34" charset="-120"/>
                        </a:rPr>
                        <a:t>BGP</a:t>
                      </a:r>
                      <a:endParaRPr lang="en-US" sz="16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r>
              <a:tr h="731520">
                <a:tc>
                  <a:txBody>
                    <a:bodyPr/>
                    <a:lstStyle/>
                    <a:p>
                      <a:pPr indent="0" marL="0">
                        <a:buNone/>
                      </a:pPr>
                      <a:r>
                        <a:rPr lang="en-US" sz="1600" b="1" dirty="0">
                          <a:solidFill>
                            <a:srgbClr val="1B2B3A"/>
                          </a:solidFill>
                          <a:latin typeface="Calibri" pitchFamily="34" charset="0"/>
                          <a:ea typeface="Calibri" pitchFamily="34" charset="-122"/>
                          <a:cs typeface="Calibri" pitchFamily="34" charset="-120"/>
                        </a:rPr>
                        <a:t>Freedom of choice</a:t>
                      </a:r>
                      <a:endParaRPr lang="en-US" sz="16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EAF4F6"/>
                    </a:solidFill>
                  </a:tcPr>
                </a:tc>
                <a:tc>
                  <a:txBody>
                    <a:bodyPr/>
                    <a:lstStyle/>
                    <a:p>
                      <a:pPr indent="0" marL="0">
                        <a:buNone/>
                      </a:pPr>
                      <a:r>
                        <a:rPr lang="en-US" sz="1600" dirty="0">
                          <a:solidFill>
                            <a:srgbClr val="1B2B3A"/>
                          </a:solidFill>
                          <a:latin typeface="Calibri" pitchFamily="34" charset="0"/>
                          <a:ea typeface="Calibri" pitchFamily="34" charset="-122"/>
                          <a:cs typeface="Calibri" pitchFamily="34" charset="-120"/>
                        </a:rPr>
                        <a:t>Each AS admin picks any IGP</a:t>
                      </a:r>
                      <a:endParaRPr lang="en-US" sz="16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EAF4F6"/>
                    </a:solidFill>
                  </a:tcPr>
                </a:tc>
                <a:tc>
                  <a:txBody>
                    <a:bodyPr/>
                    <a:lstStyle/>
                    <a:p>
                      <a:pPr indent="0" marL="0">
                        <a:buNone/>
                      </a:pPr>
                      <a:r>
                        <a:rPr lang="en-US" sz="1600" dirty="0">
                          <a:solidFill>
                            <a:srgbClr val="1B2B3A"/>
                          </a:solidFill>
                          <a:latin typeface="Calibri" pitchFamily="34" charset="0"/>
                          <a:ea typeface="Calibri" pitchFamily="34" charset="-122"/>
                          <a:cs typeface="Calibri" pitchFamily="34" charset="-120"/>
                        </a:rPr>
                        <a:t>All ASs must speak BGP</a:t>
                      </a:r>
                      <a:endParaRPr lang="en-US" sz="16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EAF4F6"/>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0972800" cy="274320"/>
          </a:xfrm>
          <a:prstGeom prst="rect">
            <a:avLst/>
          </a:prstGeom>
          <a:noFill/>
          <a:ln/>
        </p:spPr>
        <p:txBody>
          <a:bodyPr wrap="square" lIns="0" tIns="0" rIns="0" bIns="0" rtlCol="0" anchor="t"/>
          <a:lstStyle/>
          <a:p>
            <a:pPr indent="0" marL="0">
              <a:buNone/>
            </a:pPr>
            <a:r>
              <a:rPr lang="en-US" sz="1200" b="1" spc="200" kern="0" dirty="0">
                <a:solidFill>
                  <a:srgbClr val="0FA3B1"/>
                </a:solidFill>
                <a:latin typeface="Calibri" pitchFamily="34" charset="0"/>
                <a:ea typeface="Calibri" pitchFamily="34" charset="-122"/>
                <a:cs typeface="Calibri" pitchFamily="34" charset="-120"/>
              </a:rPr>
              <a:t>OSPF · PART 01</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OSPF Fundamentals (RFC 2328)</a:t>
            </a:r>
            <a:endParaRPr lang="en-US" sz="3000" dirty="0"/>
          </a:p>
        </p:txBody>
      </p:sp>
      <p:sp>
        <p:nvSpPr>
          <p:cNvPr id="5" name="Text 2"/>
          <p:cNvSpPr txBox="1"/>
          <p:nvPr/>
        </p:nvSpPr>
        <p:spPr>
          <a:xfrm>
            <a:off x="548640" y="1371600"/>
            <a:ext cx="11064240" cy="548640"/>
          </a:xfrm>
          <a:prstGeom prst="rect">
            <a:avLst/>
          </a:prstGeom>
          <a:noFill/>
          <a:ln/>
        </p:spPr>
        <p:txBody>
          <a:bodyPr wrap="square" lIns="0" tIns="0" rIns="0" bIns="0" rtlCol="0" anchor="t"/>
          <a:lstStyle/>
          <a:p>
            <a:pPr indent="0" marL="0">
              <a:buNone/>
            </a:pPr>
            <a:r>
              <a:rPr lang="en-US" sz="1600" b="1" dirty="0">
                <a:solidFill>
                  <a:srgbClr val="1B2B3A"/>
                </a:solidFill>
                <a:latin typeface="Calibri" pitchFamily="34" charset="0"/>
                <a:ea typeface="Calibri" pitchFamily="34" charset="-122"/>
                <a:cs typeface="Calibri" pitchFamily="34" charset="-120"/>
              </a:rPr>
              <a:t>"Open"</a:t>
            </a:r>
            <a:pPr indent="0" marL="0">
              <a:buNone/>
            </a:pPr>
            <a:r>
              <a:rPr lang="en-US" sz="1600" dirty="0">
                <a:solidFill>
                  <a:srgbClr val="1B2B3A"/>
                </a:solidFill>
                <a:latin typeface="Calibri" pitchFamily="34" charset="0"/>
                <a:ea typeface="Calibri" pitchFamily="34" charset="-122"/>
                <a:cs typeface="Calibri" pitchFamily="34" charset="-120"/>
              </a:rPr>
              <a:t>: public specification (unlike Cisco's EIGRP).   </a:t>
            </a:r>
            <a:pPr indent="0" marL="0">
              <a:buNone/>
            </a:pPr>
            <a:r>
              <a:rPr lang="en-US" sz="1600" b="1" dirty="0">
                <a:solidFill>
                  <a:srgbClr val="1B2B3A"/>
                </a:solidFill>
                <a:latin typeface="Calibri" pitchFamily="34" charset="0"/>
                <a:ea typeface="Calibri" pitchFamily="34" charset="-122"/>
                <a:cs typeface="Calibri" pitchFamily="34" charset="-120"/>
              </a:rPr>
              <a:t>"Shortest Path First"</a:t>
            </a:r>
            <a:pPr indent="0" marL="0">
              <a:buNone/>
            </a:pPr>
            <a:r>
              <a:rPr lang="en-US" sz="1600" dirty="0">
                <a:solidFill>
                  <a:srgbClr val="1B2B3A"/>
                </a:solidFill>
                <a:latin typeface="Calibri" pitchFamily="34" charset="0"/>
                <a:ea typeface="Calibri" pitchFamily="34" charset="-122"/>
                <a:cs typeface="Calibri" pitchFamily="34" charset="-120"/>
              </a:rPr>
              <a:t>: link-state protocol using Dijkstra.</a:t>
            </a:r>
            <a:endParaRPr lang="en-US" sz="1400" dirty="0"/>
          </a:p>
        </p:txBody>
      </p:sp>
      <p:sp>
        <p:nvSpPr>
          <p:cNvPr id="6" name="Shape 3"/>
          <p:cNvSpPr/>
          <p:nvPr/>
        </p:nvSpPr>
        <p:spPr>
          <a:xfrm>
            <a:off x="548640" y="2103120"/>
            <a:ext cx="2651760" cy="2834640"/>
          </a:xfrm>
          <a:prstGeom prst="roundRect">
            <a:avLst>
              <a:gd name="adj" fmla="val 4138"/>
            </a:avLst>
          </a:prstGeom>
          <a:solidFill>
            <a:srgbClr val="EAF4F6"/>
          </a:solidFill>
          <a:ln w="12700">
            <a:solidFill>
              <a:srgbClr val="EAF4F6"/>
            </a:solidFill>
            <a:prstDash val="solid"/>
          </a:ln>
        </p:spPr>
      </p:sp>
      <p:sp>
        <p:nvSpPr>
          <p:cNvPr id="7" name="Shape 4"/>
          <p:cNvSpPr/>
          <p:nvPr/>
        </p:nvSpPr>
        <p:spPr>
          <a:xfrm>
            <a:off x="777240" y="2304288"/>
            <a:ext cx="457200" cy="457200"/>
          </a:xfrm>
          <a:prstGeom prst="ellipse">
            <a:avLst/>
          </a:prstGeom>
          <a:solidFill>
            <a:srgbClr val="0FA3B1"/>
          </a:solidFill>
          <a:ln w="12700">
            <a:solidFill>
              <a:srgbClr val="0FA3B1"/>
            </a:solidFill>
            <a:prstDash val="solid"/>
          </a:ln>
        </p:spPr>
      </p:sp>
      <p:sp>
        <p:nvSpPr>
          <p:cNvPr id="8" name="Text 5"/>
          <p:cNvSpPr txBox="1"/>
          <p:nvPr/>
        </p:nvSpPr>
        <p:spPr>
          <a:xfrm>
            <a:off x="777240" y="23042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6"/>
          <p:cNvSpPr txBox="1"/>
          <p:nvPr/>
        </p:nvSpPr>
        <p:spPr>
          <a:xfrm>
            <a:off x="1371600" y="2304288"/>
            <a:ext cx="1600200" cy="45720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Build the map</a:t>
            </a:r>
            <a:endParaRPr lang="en-US" sz="1600" dirty="0"/>
          </a:p>
        </p:txBody>
      </p:sp>
      <p:sp>
        <p:nvSpPr>
          <p:cNvPr id="10" name="Text 7"/>
          <p:cNvSpPr txBox="1"/>
          <p:nvPr/>
        </p:nvSpPr>
        <p:spPr>
          <a:xfrm>
            <a:off x="777240" y="2880360"/>
            <a:ext cx="2194560" cy="1920240"/>
          </a:xfrm>
          <a:prstGeom prst="rect">
            <a:avLst/>
          </a:prstGeom>
          <a:noFill/>
          <a:ln/>
        </p:spPr>
        <p:txBody>
          <a:bodyPr wrap="square" lIns="0" tIns="0" rIns="0" bIns="0" rtlCol="0" anchor="t"/>
          <a:lstStyle/>
          <a:p>
            <a:pPr indent="0" marL="0">
              <a:buNone/>
            </a:pPr>
            <a:r>
              <a:rPr lang="en-US" sz="1400" dirty="0">
                <a:solidFill>
                  <a:srgbClr val="1B2B3A"/>
                </a:solidFill>
                <a:latin typeface="Calibri" pitchFamily="34" charset="0"/>
                <a:ea typeface="Calibri" pitchFamily="34" charset="-122"/>
                <a:cs typeface="Calibri" pitchFamily="34" charset="-120"/>
              </a:rPr>
              <a:t>Each router builds a complete directed graph of the AS.</a:t>
            </a:r>
            <a:endParaRPr lang="en-US" sz="1400" dirty="0"/>
          </a:p>
        </p:txBody>
      </p:sp>
      <p:sp>
        <p:nvSpPr>
          <p:cNvPr id="11" name="Shape 8"/>
          <p:cNvSpPr/>
          <p:nvPr/>
        </p:nvSpPr>
        <p:spPr>
          <a:xfrm>
            <a:off x="3346704" y="2103120"/>
            <a:ext cx="2651760" cy="2834640"/>
          </a:xfrm>
          <a:prstGeom prst="roundRect">
            <a:avLst>
              <a:gd name="adj" fmla="val 4138"/>
            </a:avLst>
          </a:prstGeom>
          <a:solidFill>
            <a:srgbClr val="EAF4F6"/>
          </a:solidFill>
          <a:ln w="12700">
            <a:solidFill>
              <a:srgbClr val="EAF4F6"/>
            </a:solidFill>
            <a:prstDash val="solid"/>
          </a:ln>
        </p:spPr>
      </p:sp>
      <p:sp>
        <p:nvSpPr>
          <p:cNvPr id="12" name="Shape 9"/>
          <p:cNvSpPr/>
          <p:nvPr/>
        </p:nvSpPr>
        <p:spPr>
          <a:xfrm>
            <a:off x="3575304" y="2304288"/>
            <a:ext cx="457200" cy="457200"/>
          </a:xfrm>
          <a:prstGeom prst="ellipse">
            <a:avLst/>
          </a:prstGeom>
          <a:solidFill>
            <a:srgbClr val="0FA3B1"/>
          </a:solidFill>
          <a:ln w="12700">
            <a:solidFill>
              <a:srgbClr val="0FA3B1"/>
            </a:solidFill>
            <a:prstDash val="solid"/>
          </a:ln>
        </p:spPr>
      </p:sp>
      <p:sp>
        <p:nvSpPr>
          <p:cNvPr id="13" name="Text 10"/>
          <p:cNvSpPr txBox="1"/>
          <p:nvPr/>
        </p:nvSpPr>
        <p:spPr>
          <a:xfrm>
            <a:off x="3575304" y="23042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1"/>
          <p:cNvSpPr txBox="1"/>
          <p:nvPr/>
        </p:nvSpPr>
        <p:spPr>
          <a:xfrm>
            <a:off x="4169664" y="2304288"/>
            <a:ext cx="1600200" cy="45720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Flood LSAs</a:t>
            </a:r>
            <a:endParaRPr lang="en-US" sz="1600" dirty="0"/>
          </a:p>
        </p:txBody>
      </p:sp>
      <p:sp>
        <p:nvSpPr>
          <p:cNvPr id="15" name="Text 12"/>
          <p:cNvSpPr txBox="1"/>
          <p:nvPr/>
        </p:nvSpPr>
        <p:spPr>
          <a:xfrm>
            <a:off x="3575304" y="2880360"/>
            <a:ext cx="2194560" cy="1920240"/>
          </a:xfrm>
          <a:prstGeom prst="rect">
            <a:avLst/>
          </a:prstGeom>
          <a:noFill/>
          <a:ln/>
        </p:spPr>
        <p:txBody>
          <a:bodyPr wrap="square" lIns="0" tIns="0" rIns="0" bIns="0" rtlCol="0" anchor="t"/>
          <a:lstStyle/>
          <a:p>
            <a:pPr indent="0" marL="0">
              <a:buNone/>
            </a:pPr>
            <a:r>
              <a:rPr lang="en-US" sz="1400" dirty="0">
                <a:solidFill>
                  <a:srgbClr val="1B2B3A"/>
                </a:solidFill>
                <a:latin typeface="Calibri" pitchFamily="34" charset="0"/>
                <a:ea typeface="Calibri" pitchFamily="34" charset="-122"/>
                <a:cs typeface="Calibri" pitchFamily="34" charset="-120"/>
              </a:rPr>
              <a:t>Link-State Advertisements go to </a:t>
            </a:r>
            <a:pPr indent="0" marL="0">
              <a:buNone/>
            </a:pPr>
            <a:r>
              <a:rPr lang="en-US" sz="1400" b="1" dirty="0">
                <a:solidFill>
                  <a:srgbClr val="1B2B3A"/>
                </a:solidFill>
                <a:latin typeface="Calibri" pitchFamily="34" charset="0"/>
                <a:ea typeface="Calibri" pitchFamily="34" charset="-122"/>
                <a:cs typeface="Calibri" pitchFamily="34" charset="-120"/>
              </a:rPr>
              <a:t>all</a:t>
            </a:r>
            <a:pPr indent="0" marL="0">
              <a:buNone/>
            </a:pPr>
            <a:r>
              <a:rPr lang="en-US" sz="1400" dirty="0">
                <a:solidFill>
                  <a:srgbClr val="1B2B3A"/>
                </a:solidFill>
                <a:latin typeface="Calibri" pitchFamily="34" charset="0"/>
                <a:ea typeface="Calibri" pitchFamily="34" charset="-122"/>
                <a:cs typeface="Calibri" pitchFamily="34" charset="-120"/>
              </a:rPr>
              <a:t> routers in the AS, not just neighbors.</a:t>
            </a:r>
            <a:endParaRPr lang="en-US" sz="1400" dirty="0"/>
          </a:p>
        </p:txBody>
      </p:sp>
      <p:sp>
        <p:nvSpPr>
          <p:cNvPr id="16" name="Shape 13"/>
          <p:cNvSpPr/>
          <p:nvPr/>
        </p:nvSpPr>
        <p:spPr>
          <a:xfrm>
            <a:off x="6144768" y="2103120"/>
            <a:ext cx="2651760" cy="2834640"/>
          </a:xfrm>
          <a:prstGeom prst="roundRect">
            <a:avLst>
              <a:gd name="adj" fmla="val 4138"/>
            </a:avLst>
          </a:prstGeom>
          <a:solidFill>
            <a:srgbClr val="EAF4F6"/>
          </a:solidFill>
          <a:ln w="12700">
            <a:solidFill>
              <a:srgbClr val="EAF4F6"/>
            </a:solidFill>
            <a:prstDash val="solid"/>
          </a:ln>
        </p:spPr>
      </p:sp>
      <p:sp>
        <p:nvSpPr>
          <p:cNvPr id="17" name="Shape 14"/>
          <p:cNvSpPr/>
          <p:nvPr/>
        </p:nvSpPr>
        <p:spPr>
          <a:xfrm>
            <a:off x="6373368" y="2304288"/>
            <a:ext cx="457200" cy="457200"/>
          </a:xfrm>
          <a:prstGeom prst="ellipse">
            <a:avLst/>
          </a:prstGeom>
          <a:solidFill>
            <a:srgbClr val="0FA3B1"/>
          </a:solidFill>
          <a:ln w="12700">
            <a:solidFill>
              <a:srgbClr val="0FA3B1"/>
            </a:solidFill>
            <a:prstDash val="solid"/>
          </a:ln>
        </p:spPr>
      </p:sp>
      <p:sp>
        <p:nvSpPr>
          <p:cNvPr id="18" name="Text 15"/>
          <p:cNvSpPr txBox="1"/>
          <p:nvPr/>
        </p:nvSpPr>
        <p:spPr>
          <a:xfrm>
            <a:off x="6373368" y="23042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6"/>
          <p:cNvSpPr txBox="1"/>
          <p:nvPr/>
        </p:nvSpPr>
        <p:spPr>
          <a:xfrm>
            <a:off x="6967728" y="2304288"/>
            <a:ext cx="1600200" cy="45720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When?</a:t>
            </a:r>
            <a:endParaRPr lang="en-US" sz="1600" dirty="0"/>
          </a:p>
        </p:txBody>
      </p:sp>
      <p:sp>
        <p:nvSpPr>
          <p:cNvPr id="20" name="Text 17"/>
          <p:cNvSpPr txBox="1"/>
          <p:nvPr/>
        </p:nvSpPr>
        <p:spPr>
          <a:xfrm>
            <a:off x="6373368" y="2880360"/>
            <a:ext cx="2194560" cy="1920240"/>
          </a:xfrm>
          <a:prstGeom prst="rect">
            <a:avLst/>
          </a:prstGeom>
          <a:noFill/>
          <a:ln/>
        </p:spPr>
        <p:txBody>
          <a:bodyPr wrap="square" lIns="0" tIns="0" rIns="0" bIns="0" rtlCol="0" anchor="t"/>
          <a:lstStyle/>
          <a:p>
            <a:pPr indent="0" marL="0">
              <a:buNone/>
            </a:pPr>
            <a:r>
              <a:rPr lang="en-US" sz="1400" dirty="0">
                <a:solidFill>
                  <a:srgbClr val="1B2B3A"/>
                </a:solidFill>
                <a:latin typeface="Calibri" pitchFamily="34" charset="0"/>
                <a:ea typeface="Calibri" pitchFamily="34" charset="-122"/>
                <a:cs typeface="Calibri" pitchFamily="34" charset="-120"/>
              </a:rPr>
              <a:t>On any link change (up/down/cost) </a:t>
            </a:r>
            <a:pPr indent="0" marL="0">
              <a:buNone/>
            </a:pPr>
            <a:r>
              <a:rPr lang="en-US" sz="1400" b="1" dirty="0">
                <a:solidFill>
                  <a:srgbClr val="1B2B3A"/>
                </a:solidFill>
                <a:latin typeface="Calibri" pitchFamily="34" charset="0"/>
                <a:ea typeface="Calibri" pitchFamily="34" charset="-122"/>
                <a:cs typeface="Calibri" pitchFamily="34" charset="-120"/>
              </a:rPr>
              <a:t>and</a:t>
            </a:r>
            <a:pPr indent="0" marL="0">
              <a:buNone/>
            </a:pPr>
            <a:r>
              <a:rPr lang="en-US" sz="1400" dirty="0">
                <a:solidFill>
                  <a:srgbClr val="1B2B3A"/>
                </a:solidFill>
                <a:latin typeface="Calibri" pitchFamily="34" charset="0"/>
                <a:ea typeface="Calibri" pitchFamily="34" charset="-122"/>
                <a:cs typeface="Calibri" pitchFamily="34" charset="-120"/>
              </a:rPr>
              <a:t> at least every </a:t>
            </a:r>
            <a:pPr indent="0" marL="0">
              <a:buNone/>
            </a:pPr>
            <a:r>
              <a:rPr lang="en-US" sz="1400" b="1" dirty="0">
                <a:solidFill>
                  <a:srgbClr val="1B2B3A"/>
                </a:solidFill>
                <a:latin typeface="Calibri" pitchFamily="34" charset="0"/>
                <a:ea typeface="Calibri" pitchFamily="34" charset="-122"/>
                <a:cs typeface="Calibri" pitchFamily="34" charset="-120"/>
              </a:rPr>
              <a:t>30 min</a:t>
            </a:r>
            <a:pPr indent="0" marL="0">
              <a:buNone/>
            </a:pPr>
            <a:r>
              <a:rPr lang="en-US" sz="1400" dirty="0">
                <a:solidFill>
                  <a:srgbClr val="1B2B3A"/>
                </a:solidFill>
                <a:latin typeface="Calibri" pitchFamily="34" charset="0"/>
                <a:ea typeface="Calibri" pitchFamily="34" charset="-122"/>
                <a:cs typeface="Calibri" pitchFamily="34" charset="-120"/>
              </a:rPr>
              <a:t>.</a:t>
            </a:r>
            <a:endParaRPr lang="en-US" sz="1400" dirty="0"/>
          </a:p>
        </p:txBody>
      </p:sp>
      <p:sp>
        <p:nvSpPr>
          <p:cNvPr id="21" name="Shape 18"/>
          <p:cNvSpPr/>
          <p:nvPr/>
        </p:nvSpPr>
        <p:spPr>
          <a:xfrm>
            <a:off x="8942832" y="2103120"/>
            <a:ext cx="2651760" cy="2834640"/>
          </a:xfrm>
          <a:prstGeom prst="roundRect">
            <a:avLst>
              <a:gd name="adj" fmla="val 4138"/>
            </a:avLst>
          </a:prstGeom>
          <a:solidFill>
            <a:srgbClr val="EAF4F6"/>
          </a:solidFill>
          <a:ln w="12700">
            <a:solidFill>
              <a:srgbClr val="EAF4F6"/>
            </a:solidFill>
            <a:prstDash val="solid"/>
          </a:ln>
        </p:spPr>
      </p:sp>
      <p:sp>
        <p:nvSpPr>
          <p:cNvPr id="22" name="Shape 19"/>
          <p:cNvSpPr/>
          <p:nvPr/>
        </p:nvSpPr>
        <p:spPr>
          <a:xfrm>
            <a:off x="9171432" y="2304288"/>
            <a:ext cx="457200" cy="457200"/>
          </a:xfrm>
          <a:prstGeom prst="ellipse">
            <a:avLst/>
          </a:prstGeom>
          <a:solidFill>
            <a:srgbClr val="0FA3B1"/>
          </a:solidFill>
          <a:ln w="12700">
            <a:solidFill>
              <a:srgbClr val="0FA3B1"/>
            </a:solidFill>
            <a:prstDash val="solid"/>
          </a:ln>
        </p:spPr>
      </p:sp>
      <p:sp>
        <p:nvSpPr>
          <p:cNvPr id="23" name="Text 20"/>
          <p:cNvSpPr txBox="1"/>
          <p:nvPr/>
        </p:nvSpPr>
        <p:spPr>
          <a:xfrm>
            <a:off x="9171432" y="23042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4" name="Text 21"/>
          <p:cNvSpPr txBox="1"/>
          <p:nvPr/>
        </p:nvSpPr>
        <p:spPr>
          <a:xfrm>
            <a:off x="9765792" y="2304288"/>
            <a:ext cx="1600200" cy="45720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Run Dijkstra</a:t>
            </a:r>
            <a:endParaRPr lang="en-US" sz="1600" dirty="0"/>
          </a:p>
        </p:txBody>
      </p:sp>
      <p:sp>
        <p:nvSpPr>
          <p:cNvPr id="25" name="Text 22"/>
          <p:cNvSpPr txBox="1"/>
          <p:nvPr/>
        </p:nvSpPr>
        <p:spPr>
          <a:xfrm>
            <a:off x="9171432" y="2880360"/>
            <a:ext cx="2194560" cy="1920240"/>
          </a:xfrm>
          <a:prstGeom prst="rect">
            <a:avLst/>
          </a:prstGeom>
          <a:noFill/>
          <a:ln/>
        </p:spPr>
        <p:txBody>
          <a:bodyPr wrap="square" lIns="0" tIns="0" rIns="0" bIns="0" rtlCol="0" anchor="t"/>
          <a:lstStyle/>
          <a:p>
            <a:pPr indent="0" marL="0">
              <a:buNone/>
            </a:pPr>
            <a:r>
              <a:rPr lang="en-US" sz="1400" dirty="0">
                <a:solidFill>
                  <a:srgbClr val="1B2B3A"/>
                </a:solidFill>
                <a:latin typeface="Calibri" pitchFamily="34" charset="0"/>
                <a:ea typeface="Calibri" pitchFamily="34" charset="-122"/>
                <a:cs typeface="Calibri" pitchFamily="34" charset="-120"/>
              </a:rPr>
              <a:t>Each router computes a shortest-path tree with itself as root.</a:t>
            </a:r>
            <a:endParaRPr lang="en-US" sz="1400" dirty="0"/>
          </a:p>
        </p:txBody>
      </p:sp>
      <p:sp>
        <p:nvSpPr>
          <p:cNvPr id="26" name="Shape 23"/>
          <p:cNvSpPr/>
          <p:nvPr/>
        </p:nvSpPr>
        <p:spPr>
          <a:xfrm>
            <a:off x="548640" y="5257800"/>
            <a:ext cx="11091672" cy="822960"/>
          </a:xfrm>
          <a:prstGeom prst="roundRect">
            <a:avLst>
              <a:gd name="adj" fmla="val 13333"/>
            </a:avLst>
          </a:prstGeom>
          <a:solidFill>
            <a:srgbClr val="0B1F3A"/>
          </a:solidFill>
          <a:ln w="12700">
            <a:solidFill>
              <a:srgbClr val="0B1F3A"/>
            </a:solidFill>
            <a:prstDash val="solid"/>
          </a:ln>
        </p:spPr>
      </p:sp>
      <p:sp>
        <p:nvSpPr>
          <p:cNvPr id="27" name="Text 24"/>
          <p:cNvSpPr txBox="1"/>
          <p:nvPr/>
        </p:nvSpPr>
        <p:spPr>
          <a:xfrm>
            <a:off x="822960" y="5257800"/>
            <a:ext cx="10515600" cy="82296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Transport: OSPF rides </a:t>
            </a:r>
            <a:pPr indent="0" marL="0">
              <a:buNone/>
            </a:pPr>
            <a:r>
              <a:rPr lang="en-US" sz="1600" b="1" dirty="0">
                <a:solidFill>
                  <a:srgbClr val="FFFFFF"/>
                </a:solidFill>
                <a:latin typeface="Calibri" pitchFamily="34" charset="0"/>
                <a:ea typeface="Calibri" pitchFamily="34" charset="-122"/>
                <a:cs typeface="Calibri" pitchFamily="34" charset="-120"/>
              </a:rPr>
              <a:t>directly inside IP datagrams (IP Protocol = 89)</a:t>
            </a:r>
            <a:pPr indent="0" marL="0">
              <a:buNone/>
            </a:pPr>
            <a:r>
              <a:rPr lang="en-US" sz="1600" dirty="0">
                <a:solidFill>
                  <a:srgbClr val="FFFFFF"/>
                </a:solidFill>
                <a:latin typeface="Calibri" pitchFamily="34" charset="0"/>
                <a:ea typeface="Calibri" pitchFamily="34" charset="-122"/>
                <a:cs typeface="Calibri" pitchFamily="34" charset="-120"/>
              </a:rPr>
              <a:t> — no TCP/UDP; it does its own reliable transfer.</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0972800" cy="274320"/>
          </a:xfrm>
          <a:prstGeom prst="rect">
            <a:avLst/>
          </a:prstGeom>
          <a:noFill/>
          <a:ln/>
        </p:spPr>
        <p:txBody>
          <a:bodyPr wrap="square" lIns="0" tIns="0" rIns="0" bIns="0" rtlCol="0" anchor="t"/>
          <a:lstStyle/>
          <a:p>
            <a:pPr indent="0" marL="0">
              <a:buNone/>
            </a:pPr>
            <a:r>
              <a:rPr lang="en-US" sz="1200" b="1" spc="200" kern="0" dirty="0">
                <a:solidFill>
                  <a:srgbClr val="0FA3B1"/>
                </a:solidFill>
                <a:latin typeface="Calibri" pitchFamily="34" charset="0"/>
                <a:ea typeface="Calibri" pitchFamily="34" charset="-122"/>
                <a:cs typeface="Calibri" pitchFamily="34" charset="-120"/>
              </a:rPr>
              <a:t>OSPF · PART 01</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Key Advances in OSPF over RIP</a:t>
            </a:r>
            <a:endParaRPr lang="en-US" sz="3000" dirty="0"/>
          </a:p>
        </p:txBody>
      </p:sp>
      <p:sp>
        <p:nvSpPr>
          <p:cNvPr id="5" name="Shape 2"/>
          <p:cNvSpPr/>
          <p:nvPr/>
        </p:nvSpPr>
        <p:spPr>
          <a:xfrm>
            <a:off x="548640" y="1463040"/>
            <a:ext cx="3593592" cy="2286000"/>
          </a:xfrm>
          <a:prstGeom prst="roundRect">
            <a:avLst>
              <a:gd name="adj" fmla="val 4800"/>
            </a:avLst>
          </a:prstGeom>
          <a:solidFill>
            <a:srgbClr val="EAF4F6"/>
          </a:solidFill>
          <a:ln w="12700">
            <a:solidFill>
              <a:srgbClr val="EAF4F6"/>
            </a:solidFill>
            <a:prstDash val="solid"/>
          </a:ln>
        </p:spPr>
      </p:sp>
      <p:sp>
        <p:nvSpPr>
          <p:cNvPr id="6" name="Shape 3"/>
          <p:cNvSpPr/>
          <p:nvPr/>
        </p:nvSpPr>
        <p:spPr>
          <a:xfrm>
            <a:off x="777240" y="1664208"/>
            <a:ext cx="457200" cy="457200"/>
          </a:xfrm>
          <a:prstGeom prst="ellipse">
            <a:avLst/>
          </a:prstGeom>
          <a:solidFill>
            <a:srgbClr val="0FA3B1"/>
          </a:solidFill>
          <a:ln w="12700">
            <a:solidFill>
              <a:srgbClr val="0FA3B1"/>
            </a:solidFill>
            <a:prstDash val="solid"/>
          </a:ln>
        </p:spPr>
      </p:sp>
      <p:sp>
        <p:nvSpPr>
          <p:cNvPr id="7" name="Text 4"/>
          <p:cNvSpPr txBox="1"/>
          <p:nvPr/>
        </p:nvSpPr>
        <p:spPr>
          <a:xfrm>
            <a:off x="777240" y="16642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5"/>
          <p:cNvSpPr txBox="1"/>
          <p:nvPr/>
        </p:nvSpPr>
        <p:spPr>
          <a:xfrm>
            <a:off x="1371600" y="1664208"/>
            <a:ext cx="2542032" cy="45720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Security</a:t>
            </a:r>
            <a:endParaRPr lang="en-US" sz="1600" dirty="0"/>
          </a:p>
        </p:txBody>
      </p:sp>
      <p:sp>
        <p:nvSpPr>
          <p:cNvPr id="9" name="Text 6"/>
          <p:cNvSpPr txBox="1"/>
          <p:nvPr/>
        </p:nvSpPr>
        <p:spPr>
          <a:xfrm>
            <a:off x="777240" y="2240280"/>
            <a:ext cx="3136392" cy="1371600"/>
          </a:xfrm>
          <a:prstGeom prst="rect">
            <a:avLst/>
          </a:prstGeom>
          <a:noFill/>
          <a:ln/>
        </p:spPr>
        <p:txBody>
          <a:bodyPr wrap="square" lIns="0" tIns="0" rIns="0" bIns="0" rtlCol="0" anchor="t"/>
          <a:lstStyle/>
          <a:p>
            <a:pPr indent="0" marL="0">
              <a:buNone/>
            </a:pPr>
            <a:r>
              <a:rPr lang="en-US" sz="1400" dirty="0">
                <a:solidFill>
                  <a:srgbClr val="1B2B3A"/>
                </a:solidFill>
                <a:latin typeface="Calibri" pitchFamily="34" charset="0"/>
                <a:ea typeface="Calibri" pitchFamily="34" charset="-122"/>
                <a:cs typeface="Calibri" pitchFamily="34" charset="-120"/>
              </a:rPr>
              <a:t>Updates can be </a:t>
            </a:r>
            <a:pPr indent="0" marL="0">
              <a:buNone/>
            </a:pPr>
            <a:r>
              <a:rPr lang="en-US" sz="1400" b="1" dirty="0">
                <a:solidFill>
                  <a:srgbClr val="1B2B3A"/>
                </a:solidFill>
                <a:latin typeface="Calibri" pitchFamily="34" charset="0"/>
                <a:ea typeface="Calibri" pitchFamily="34" charset="-122"/>
                <a:cs typeface="Calibri" pitchFamily="34" charset="-120"/>
              </a:rPr>
              <a:t>authenticated</a:t>
            </a:r>
            <a:pPr indent="0" marL="0">
              <a:buNone/>
            </a:pPr>
            <a:r>
              <a:rPr lang="en-US" sz="1400" dirty="0">
                <a:solidFill>
                  <a:srgbClr val="1B2B3A"/>
                </a:solidFill>
                <a:latin typeface="Calibri" pitchFamily="34" charset="0"/>
                <a:ea typeface="Calibri" pitchFamily="34" charset="-122"/>
                <a:cs typeface="Calibri" pitchFamily="34" charset="-120"/>
              </a:rPr>
              <a:t> (simple password or </a:t>
            </a:r>
            <a:pPr indent="0" marL="0">
              <a:buNone/>
            </a:pPr>
            <a:r>
              <a:rPr lang="en-US" sz="1400" b="1" dirty="0">
                <a:solidFill>
                  <a:srgbClr val="1B2B3A"/>
                </a:solidFill>
                <a:latin typeface="Calibri" pitchFamily="34" charset="0"/>
                <a:ea typeface="Calibri" pitchFamily="34" charset="-122"/>
                <a:cs typeface="Calibri" pitchFamily="34" charset="-120"/>
              </a:rPr>
              <a:t>MD5</a:t>
            </a:r>
            <a:pPr indent="0" marL="0">
              <a:buNone/>
            </a:pPr>
            <a:r>
              <a:rPr lang="en-US" sz="1400" dirty="0">
                <a:solidFill>
                  <a:srgbClr val="1B2B3A"/>
                </a:solidFill>
                <a:latin typeface="Calibri" pitchFamily="34" charset="0"/>
                <a:ea typeface="Calibri" pitchFamily="34" charset="-122"/>
                <a:cs typeface="Calibri" pitchFamily="34" charset="-120"/>
              </a:rPr>
              <a:t>) so only trusted routers inject routes.</a:t>
            </a:r>
            <a:endParaRPr lang="en-US" sz="1400" dirty="0"/>
          </a:p>
        </p:txBody>
      </p:sp>
      <p:sp>
        <p:nvSpPr>
          <p:cNvPr id="10" name="Shape 7"/>
          <p:cNvSpPr/>
          <p:nvPr/>
        </p:nvSpPr>
        <p:spPr>
          <a:xfrm>
            <a:off x="4297680" y="1463040"/>
            <a:ext cx="3593592" cy="2286000"/>
          </a:xfrm>
          <a:prstGeom prst="roundRect">
            <a:avLst>
              <a:gd name="adj" fmla="val 4800"/>
            </a:avLst>
          </a:prstGeom>
          <a:solidFill>
            <a:srgbClr val="EAF4F6"/>
          </a:solidFill>
          <a:ln w="12700">
            <a:solidFill>
              <a:srgbClr val="EAF4F6"/>
            </a:solidFill>
            <a:prstDash val="solid"/>
          </a:ln>
        </p:spPr>
      </p:sp>
      <p:sp>
        <p:nvSpPr>
          <p:cNvPr id="11" name="Shape 8"/>
          <p:cNvSpPr/>
          <p:nvPr/>
        </p:nvSpPr>
        <p:spPr>
          <a:xfrm>
            <a:off x="4526280" y="1664208"/>
            <a:ext cx="457200" cy="457200"/>
          </a:xfrm>
          <a:prstGeom prst="ellipse">
            <a:avLst/>
          </a:prstGeom>
          <a:solidFill>
            <a:srgbClr val="0FA3B1"/>
          </a:solidFill>
          <a:ln w="12700">
            <a:solidFill>
              <a:srgbClr val="0FA3B1"/>
            </a:solidFill>
            <a:prstDash val="solid"/>
          </a:ln>
        </p:spPr>
      </p:sp>
      <p:sp>
        <p:nvSpPr>
          <p:cNvPr id="12" name="Text 9"/>
          <p:cNvSpPr txBox="1"/>
          <p:nvPr/>
        </p:nvSpPr>
        <p:spPr>
          <a:xfrm>
            <a:off x="4526280" y="16642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0"/>
          <p:cNvSpPr txBox="1"/>
          <p:nvPr/>
        </p:nvSpPr>
        <p:spPr>
          <a:xfrm>
            <a:off x="5120640" y="1664208"/>
            <a:ext cx="2542032" cy="45720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Equal-cost multipath</a:t>
            </a:r>
            <a:endParaRPr lang="en-US" sz="1600" dirty="0"/>
          </a:p>
        </p:txBody>
      </p:sp>
      <p:sp>
        <p:nvSpPr>
          <p:cNvPr id="14" name="Text 11"/>
          <p:cNvSpPr txBox="1"/>
          <p:nvPr/>
        </p:nvSpPr>
        <p:spPr>
          <a:xfrm>
            <a:off x="4526280" y="2240280"/>
            <a:ext cx="3136392" cy="1371600"/>
          </a:xfrm>
          <a:prstGeom prst="rect">
            <a:avLst/>
          </a:prstGeom>
          <a:noFill/>
          <a:ln/>
        </p:spPr>
        <p:txBody>
          <a:bodyPr wrap="square" lIns="0" tIns="0" rIns="0" bIns="0" rtlCol="0" anchor="t"/>
          <a:lstStyle/>
          <a:p>
            <a:pPr indent="0" marL="0">
              <a:buNone/>
            </a:pPr>
            <a:r>
              <a:rPr lang="en-US" sz="1400" dirty="0">
                <a:solidFill>
                  <a:srgbClr val="1B2B3A"/>
                </a:solidFill>
                <a:latin typeface="Calibri" pitchFamily="34" charset="0"/>
                <a:ea typeface="Calibri" pitchFamily="34" charset="-122"/>
                <a:cs typeface="Calibri" pitchFamily="34" charset="-120"/>
              </a:rPr>
              <a:t>Traffic is split across </a:t>
            </a:r>
            <a:pPr indent="0" marL="0">
              <a:buNone/>
            </a:pPr>
            <a:r>
              <a:rPr lang="en-US" sz="1400" b="1" dirty="0">
                <a:solidFill>
                  <a:srgbClr val="1B2B3A"/>
                </a:solidFill>
                <a:latin typeface="Calibri" pitchFamily="34" charset="0"/>
                <a:ea typeface="Calibri" pitchFamily="34" charset="-122"/>
                <a:cs typeface="Calibri" pitchFamily="34" charset="-120"/>
              </a:rPr>
              <a:t>all equal-cost paths</a:t>
            </a:r>
            <a:pPr indent="0" marL="0">
              <a:buNone/>
            </a:pPr>
            <a:r>
              <a:rPr lang="en-US" sz="1400" dirty="0">
                <a:solidFill>
                  <a:srgbClr val="1B2B3A"/>
                </a:solidFill>
                <a:latin typeface="Calibri" pitchFamily="34" charset="0"/>
                <a:ea typeface="Calibri" pitchFamily="34" charset="-122"/>
                <a:cs typeface="Calibri" pitchFamily="34" charset="-120"/>
              </a:rPr>
              <a:t>, not just one.</a:t>
            </a:r>
            <a:endParaRPr lang="en-US" sz="1400" dirty="0"/>
          </a:p>
        </p:txBody>
      </p:sp>
      <p:sp>
        <p:nvSpPr>
          <p:cNvPr id="15" name="Shape 12"/>
          <p:cNvSpPr/>
          <p:nvPr/>
        </p:nvSpPr>
        <p:spPr>
          <a:xfrm>
            <a:off x="8046720" y="1463040"/>
            <a:ext cx="3593592" cy="2286000"/>
          </a:xfrm>
          <a:prstGeom prst="roundRect">
            <a:avLst>
              <a:gd name="adj" fmla="val 4800"/>
            </a:avLst>
          </a:prstGeom>
          <a:solidFill>
            <a:srgbClr val="EAF4F6"/>
          </a:solidFill>
          <a:ln w="12700">
            <a:solidFill>
              <a:srgbClr val="EAF4F6"/>
            </a:solidFill>
            <a:prstDash val="solid"/>
          </a:ln>
        </p:spPr>
      </p:sp>
      <p:sp>
        <p:nvSpPr>
          <p:cNvPr id="16" name="Shape 13"/>
          <p:cNvSpPr/>
          <p:nvPr/>
        </p:nvSpPr>
        <p:spPr>
          <a:xfrm>
            <a:off x="8275320" y="1664208"/>
            <a:ext cx="457200" cy="457200"/>
          </a:xfrm>
          <a:prstGeom prst="ellipse">
            <a:avLst/>
          </a:prstGeom>
          <a:solidFill>
            <a:srgbClr val="0FA3B1"/>
          </a:solidFill>
          <a:ln w="12700">
            <a:solidFill>
              <a:srgbClr val="0FA3B1"/>
            </a:solidFill>
            <a:prstDash val="solid"/>
          </a:ln>
        </p:spPr>
      </p:sp>
      <p:sp>
        <p:nvSpPr>
          <p:cNvPr id="17" name="Text 14"/>
          <p:cNvSpPr txBox="1"/>
          <p:nvPr/>
        </p:nvSpPr>
        <p:spPr>
          <a:xfrm>
            <a:off x="8275320" y="16642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8" name="Text 15"/>
          <p:cNvSpPr txBox="1"/>
          <p:nvPr/>
        </p:nvSpPr>
        <p:spPr>
          <a:xfrm>
            <a:off x="8869680" y="1664208"/>
            <a:ext cx="2542032" cy="45720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Multiple metrics (TOS)</a:t>
            </a:r>
            <a:endParaRPr lang="en-US" sz="1600" dirty="0"/>
          </a:p>
        </p:txBody>
      </p:sp>
      <p:sp>
        <p:nvSpPr>
          <p:cNvPr id="19" name="Text 16"/>
          <p:cNvSpPr txBox="1"/>
          <p:nvPr/>
        </p:nvSpPr>
        <p:spPr>
          <a:xfrm>
            <a:off x="8275320" y="2240280"/>
            <a:ext cx="3136392" cy="1371600"/>
          </a:xfrm>
          <a:prstGeom prst="rect">
            <a:avLst/>
          </a:prstGeom>
          <a:noFill/>
          <a:ln/>
        </p:spPr>
        <p:txBody>
          <a:bodyPr wrap="square" lIns="0" tIns="0" rIns="0" bIns="0" rtlCol="0" anchor="t"/>
          <a:lstStyle/>
          <a:p>
            <a:pPr indent="0" marL="0">
              <a:buNone/>
            </a:pPr>
            <a:r>
              <a:rPr lang="en-US" sz="1400" dirty="0">
                <a:solidFill>
                  <a:srgbClr val="1B2B3A"/>
                </a:solidFill>
                <a:latin typeface="Calibri" pitchFamily="34" charset="0"/>
                <a:ea typeface="Calibri" pitchFamily="34" charset="-122"/>
                <a:cs typeface="Calibri" pitchFamily="34" charset="-120"/>
              </a:rPr>
              <a:t>Different link costs per Type of Service, e.g. satellite: high cost for voice, low for bulk transfer.</a:t>
            </a:r>
            <a:endParaRPr lang="en-US" sz="1400" dirty="0"/>
          </a:p>
        </p:txBody>
      </p:sp>
      <p:sp>
        <p:nvSpPr>
          <p:cNvPr id="20" name="Shape 17"/>
          <p:cNvSpPr/>
          <p:nvPr/>
        </p:nvSpPr>
        <p:spPr>
          <a:xfrm>
            <a:off x="548640" y="3931920"/>
            <a:ext cx="3593592" cy="2286000"/>
          </a:xfrm>
          <a:prstGeom prst="roundRect">
            <a:avLst>
              <a:gd name="adj" fmla="val 4800"/>
            </a:avLst>
          </a:prstGeom>
          <a:solidFill>
            <a:srgbClr val="EAF4F6"/>
          </a:solidFill>
          <a:ln w="12700">
            <a:solidFill>
              <a:srgbClr val="EAF4F6"/>
            </a:solidFill>
            <a:prstDash val="solid"/>
          </a:ln>
        </p:spPr>
      </p:sp>
      <p:sp>
        <p:nvSpPr>
          <p:cNvPr id="21" name="Shape 18"/>
          <p:cNvSpPr/>
          <p:nvPr/>
        </p:nvSpPr>
        <p:spPr>
          <a:xfrm>
            <a:off x="777240" y="4133088"/>
            <a:ext cx="457200" cy="457200"/>
          </a:xfrm>
          <a:prstGeom prst="ellipse">
            <a:avLst/>
          </a:prstGeom>
          <a:solidFill>
            <a:srgbClr val="0FA3B1"/>
          </a:solidFill>
          <a:ln w="12700">
            <a:solidFill>
              <a:srgbClr val="0FA3B1"/>
            </a:solidFill>
            <a:prstDash val="solid"/>
          </a:ln>
        </p:spPr>
      </p:sp>
      <p:sp>
        <p:nvSpPr>
          <p:cNvPr id="22" name="Text 19"/>
          <p:cNvSpPr txBox="1"/>
          <p:nvPr/>
        </p:nvSpPr>
        <p:spPr>
          <a:xfrm>
            <a:off x="777240" y="41330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3" name="Text 20"/>
          <p:cNvSpPr txBox="1"/>
          <p:nvPr/>
        </p:nvSpPr>
        <p:spPr>
          <a:xfrm>
            <a:off x="1371600" y="4133088"/>
            <a:ext cx="2542032" cy="45720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Unicast + multicast</a:t>
            </a:r>
            <a:endParaRPr lang="en-US" sz="1600" dirty="0"/>
          </a:p>
        </p:txBody>
      </p:sp>
      <p:sp>
        <p:nvSpPr>
          <p:cNvPr id="24" name="Text 21"/>
          <p:cNvSpPr txBox="1"/>
          <p:nvPr/>
        </p:nvSpPr>
        <p:spPr>
          <a:xfrm>
            <a:off x="777240" y="4709160"/>
            <a:ext cx="3136392" cy="1371600"/>
          </a:xfrm>
          <a:prstGeom prst="rect">
            <a:avLst/>
          </a:prstGeom>
          <a:noFill/>
          <a:ln/>
        </p:spPr>
        <p:txBody>
          <a:bodyPr wrap="square" lIns="0" tIns="0" rIns="0" bIns="0" rtlCol="0" anchor="t"/>
          <a:lstStyle/>
          <a:p>
            <a:pPr indent="0" marL="0">
              <a:buNone/>
            </a:pPr>
            <a:r>
              <a:rPr lang="en-US" sz="1400" b="1" dirty="0">
                <a:solidFill>
                  <a:srgbClr val="1B2B3A"/>
                </a:solidFill>
                <a:latin typeface="Calibri" pitchFamily="34" charset="0"/>
                <a:ea typeface="Calibri" pitchFamily="34" charset="-122"/>
                <a:cs typeface="Calibri" pitchFamily="34" charset="-120"/>
              </a:rPr>
              <a:t>MOSPF</a:t>
            </a:r>
            <a:pPr indent="0" marL="0">
              <a:buNone/>
            </a:pPr>
            <a:r>
              <a:rPr lang="en-US" sz="1400" dirty="0">
                <a:solidFill>
                  <a:srgbClr val="1B2B3A"/>
                </a:solidFill>
                <a:latin typeface="Calibri" pitchFamily="34" charset="0"/>
                <a:ea typeface="Calibri" pitchFamily="34" charset="-122"/>
                <a:cs typeface="Calibri" pitchFamily="34" charset="-120"/>
              </a:rPr>
              <a:t> reuses the link-state database to build multicast trees.</a:t>
            </a:r>
            <a:endParaRPr lang="en-US" sz="1400" dirty="0"/>
          </a:p>
        </p:txBody>
      </p:sp>
      <p:sp>
        <p:nvSpPr>
          <p:cNvPr id="25" name="Shape 22"/>
          <p:cNvSpPr/>
          <p:nvPr/>
        </p:nvSpPr>
        <p:spPr>
          <a:xfrm>
            <a:off x="4297680" y="3931920"/>
            <a:ext cx="3593592" cy="2286000"/>
          </a:xfrm>
          <a:prstGeom prst="roundRect">
            <a:avLst>
              <a:gd name="adj" fmla="val 4800"/>
            </a:avLst>
          </a:prstGeom>
          <a:solidFill>
            <a:srgbClr val="EAF4F6"/>
          </a:solidFill>
          <a:ln w="12700">
            <a:solidFill>
              <a:srgbClr val="EAF4F6"/>
            </a:solidFill>
            <a:prstDash val="solid"/>
          </a:ln>
        </p:spPr>
      </p:sp>
      <p:sp>
        <p:nvSpPr>
          <p:cNvPr id="26" name="Shape 23"/>
          <p:cNvSpPr/>
          <p:nvPr/>
        </p:nvSpPr>
        <p:spPr>
          <a:xfrm>
            <a:off x="4526280" y="4133088"/>
            <a:ext cx="457200" cy="457200"/>
          </a:xfrm>
          <a:prstGeom prst="ellipse">
            <a:avLst/>
          </a:prstGeom>
          <a:solidFill>
            <a:srgbClr val="0FA3B1"/>
          </a:solidFill>
          <a:ln w="12700">
            <a:solidFill>
              <a:srgbClr val="0FA3B1"/>
            </a:solidFill>
            <a:prstDash val="solid"/>
          </a:ln>
        </p:spPr>
      </p:sp>
      <p:sp>
        <p:nvSpPr>
          <p:cNvPr id="27" name="Text 24"/>
          <p:cNvSpPr txBox="1"/>
          <p:nvPr/>
        </p:nvSpPr>
        <p:spPr>
          <a:xfrm>
            <a:off x="4526280" y="41330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8" name="Text 25"/>
          <p:cNvSpPr txBox="1"/>
          <p:nvPr/>
        </p:nvSpPr>
        <p:spPr>
          <a:xfrm>
            <a:off x="5120640" y="4133088"/>
            <a:ext cx="2542032" cy="45720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Hierarchy in one AS</a:t>
            </a:r>
            <a:endParaRPr lang="en-US" sz="1600" dirty="0"/>
          </a:p>
        </p:txBody>
      </p:sp>
      <p:sp>
        <p:nvSpPr>
          <p:cNvPr id="29" name="Text 26"/>
          <p:cNvSpPr txBox="1"/>
          <p:nvPr/>
        </p:nvSpPr>
        <p:spPr>
          <a:xfrm>
            <a:off x="4526280" y="4709160"/>
            <a:ext cx="3136392" cy="1371600"/>
          </a:xfrm>
          <a:prstGeom prst="rect">
            <a:avLst/>
          </a:prstGeom>
          <a:noFill/>
          <a:ln/>
        </p:spPr>
        <p:txBody>
          <a:bodyPr wrap="square" lIns="0" tIns="0" rIns="0" bIns="0" rtlCol="0" anchor="t"/>
          <a:lstStyle/>
          <a:p>
            <a:pPr indent="0" marL="0">
              <a:buNone/>
            </a:pPr>
            <a:r>
              <a:rPr lang="en-US" sz="1400" dirty="0">
                <a:solidFill>
                  <a:srgbClr val="1B2B3A"/>
                </a:solidFill>
                <a:latin typeface="Calibri" pitchFamily="34" charset="0"/>
                <a:ea typeface="Calibri" pitchFamily="34" charset="-122"/>
                <a:cs typeface="Calibri" pitchFamily="34" charset="-120"/>
              </a:rPr>
              <a:t>A large AS can be partitioned into </a:t>
            </a:r>
            <a:pPr indent="0" marL="0">
              <a:buNone/>
            </a:pPr>
            <a:r>
              <a:rPr lang="en-US" sz="1400" b="1" dirty="0">
                <a:solidFill>
                  <a:srgbClr val="1B2B3A"/>
                </a:solidFill>
                <a:latin typeface="Calibri" pitchFamily="34" charset="0"/>
                <a:ea typeface="Calibri" pitchFamily="34" charset="-122"/>
                <a:cs typeface="Calibri" pitchFamily="34" charset="-120"/>
              </a:rPr>
              <a:t>Areas</a:t>
            </a:r>
            <a:pPr indent="0" marL="0">
              <a:buNone/>
            </a:pPr>
            <a:r>
              <a:rPr lang="en-US" sz="1400" dirty="0">
                <a:solidFill>
                  <a:srgbClr val="1B2B3A"/>
                </a:solidFill>
                <a:latin typeface="Calibri" pitchFamily="34" charset="0"/>
                <a:ea typeface="Calibri" pitchFamily="34" charset="-122"/>
                <a:cs typeface="Calibri" pitchFamily="34" charset="-120"/>
              </a:rPr>
              <a:t>.</a:t>
            </a:r>
            <a:endParaRPr lang="en-US" sz="1400" dirty="0"/>
          </a:p>
        </p:txBody>
      </p:sp>
      <p:sp>
        <p:nvSpPr>
          <p:cNvPr id="30" name="Shape 27"/>
          <p:cNvSpPr/>
          <p:nvPr/>
        </p:nvSpPr>
        <p:spPr>
          <a:xfrm>
            <a:off x="8046720" y="3931920"/>
            <a:ext cx="3593592" cy="2286000"/>
          </a:xfrm>
          <a:prstGeom prst="roundRect">
            <a:avLst>
              <a:gd name="adj" fmla="val 4800"/>
            </a:avLst>
          </a:prstGeom>
          <a:solidFill>
            <a:srgbClr val="0B1F3A"/>
          </a:solidFill>
          <a:ln w="12700">
            <a:solidFill>
              <a:srgbClr val="0B1F3A"/>
            </a:solidFill>
            <a:prstDash val="solid"/>
          </a:ln>
        </p:spPr>
      </p:sp>
      <p:sp>
        <p:nvSpPr>
          <p:cNvPr id="31" name="Text 28"/>
          <p:cNvSpPr txBox="1"/>
          <p:nvPr/>
        </p:nvSpPr>
        <p:spPr>
          <a:xfrm>
            <a:off x="8275320" y="4114800"/>
            <a:ext cx="3136392" cy="41148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Why it matters</a:t>
            </a:r>
            <a:endParaRPr lang="en-US" sz="1700" dirty="0"/>
          </a:p>
        </p:txBody>
      </p:sp>
      <p:sp>
        <p:nvSpPr>
          <p:cNvPr id="32" name="Text 29"/>
          <p:cNvSpPr txBox="1"/>
          <p:nvPr/>
        </p:nvSpPr>
        <p:spPr>
          <a:xfrm>
            <a:off x="8275320" y="4617720"/>
            <a:ext cx="3136392" cy="1463040"/>
          </a:xfrm>
          <a:prstGeom prst="rect">
            <a:avLst/>
          </a:prstGeom>
          <a:noFill/>
          <a:ln/>
        </p:spPr>
        <p:txBody>
          <a:bodyPr wrap="square" lIns="0" tIns="0" rIns="0" bIns="0" rtlCol="0" anchor="t"/>
          <a:lstStyle/>
          <a:p>
            <a:pPr indent="0" marL="0">
              <a:spcAft>
                <a:spcPts val="600"/>
              </a:spcAft>
              <a:buNone/>
            </a:pPr>
            <a:r>
              <a:rPr lang="en-US" sz="1400" dirty="0">
                <a:solidFill>
                  <a:srgbClr val="E6EEF5"/>
                </a:solidFill>
                <a:latin typeface="Calibri" pitchFamily="34" charset="0"/>
                <a:ea typeface="Calibri" pitchFamily="34" charset="-122"/>
                <a:cs typeface="Calibri" pitchFamily="34" charset="-120"/>
              </a:rPr>
              <a:t>These features make OSPF the preferred Intra-AS protocol for enterprises and ISPs.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0972800" cy="274320"/>
          </a:xfrm>
          <a:prstGeom prst="rect">
            <a:avLst/>
          </a:prstGeom>
          <a:noFill/>
          <a:ln/>
        </p:spPr>
        <p:txBody>
          <a:bodyPr wrap="square" lIns="0" tIns="0" rIns="0" bIns="0" rtlCol="0" anchor="t"/>
          <a:lstStyle/>
          <a:p>
            <a:pPr indent="0" marL="0">
              <a:buNone/>
            </a:pPr>
            <a:r>
              <a:rPr lang="en-US" sz="1200" b="1" spc="200" kern="0" dirty="0">
                <a:solidFill>
                  <a:srgbClr val="0FA3B1"/>
                </a:solidFill>
                <a:latin typeface="Calibri" pitchFamily="34" charset="0"/>
                <a:ea typeface="Calibri" pitchFamily="34" charset="-122"/>
                <a:cs typeface="Calibri" pitchFamily="34" charset="-120"/>
              </a:rPr>
              <a:t>OSPF · PART 02</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Hierarchical OSPF &amp; The 4 Router Roles</a:t>
            </a:r>
            <a:endParaRPr lang="en-US" sz="3000" dirty="0"/>
          </a:p>
        </p:txBody>
      </p:sp>
      <p:sp>
        <p:nvSpPr>
          <p:cNvPr id="5" name="Shape 2"/>
          <p:cNvSpPr/>
          <p:nvPr/>
        </p:nvSpPr>
        <p:spPr>
          <a:xfrm>
            <a:off x="548640" y="1463040"/>
            <a:ext cx="3840480" cy="4754880"/>
          </a:xfrm>
          <a:prstGeom prst="roundRect">
            <a:avLst>
              <a:gd name="adj" fmla="val 2857"/>
            </a:avLst>
          </a:prstGeom>
          <a:solidFill>
            <a:srgbClr val="0B1F3A"/>
          </a:solidFill>
          <a:ln w="12700">
            <a:solidFill>
              <a:srgbClr val="0B1F3A"/>
            </a:solidFill>
            <a:prstDash val="solid"/>
          </a:ln>
        </p:spPr>
      </p:sp>
      <p:sp>
        <p:nvSpPr>
          <p:cNvPr id="6" name="Text 3"/>
          <p:cNvSpPr txBox="1"/>
          <p:nvPr/>
        </p:nvSpPr>
        <p:spPr>
          <a:xfrm>
            <a:off x="777240" y="1645920"/>
            <a:ext cx="3383280" cy="41148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Two-level hierarchy</a:t>
            </a:r>
            <a:endParaRPr lang="en-US" sz="1700" dirty="0"/>
          </a:p>
        </p:txBody>
      </p:sp>
      <p:sp>
        <p:nvSpPr>
          <p:cNvPr id="7" name="Text 4"/>
          <p:cNvSpPr txBox="1"/>
          <p:nvPr/>
        </p:nvSpPr>
        <p:spPr>
          <a:xfrm>
            <a:off x="777240" y="2148840"/>
            <a:ext cx="3383280" cy="3931920"/>
          </a:xfrm>
          <a:prstGeom prst="rect">
            <a:avLst/>
          </a:prstGeom>
          <a:noFill/>
          <a:ln/>
        </p:spPr>
        <p:txBody>
          <a:bodyPr wrap="square" lIns="0" tIns="0" rIns="0" bIns="0" rtlCol="0" anchor="t"/>
          <a:lstStyle/>
          <a:p>
            <a:pPr indent="0" marL="0">
              <a:spcAft>
                <a:spcPts val="600"/>
              </a:spcAft>
              <a:buNone/>
            </a:pPr>
            <a:r>
              <a:rPr lang="en-US" sz="1500" dirty="0">
                <a:solidFill>
                  <a:srgbClr val="E6EEF5"/>
                </a:solidFill>
                <a:latin typeface="Calibri" pitchFamily="34" charset="0"/>
                <a:ea typeface="Calibri" pitchFamily="34" charset="-122"/>
                <a:cs typeface="Calibri" pitchFamily="34" charset="-120"/>
              </a:rPr>
              <a:t>An AS is split into </a:t>
            </a:r>
            <a:pPr indent="0" marL="0">
              <a:spcAft>
                <a:spcPts val="600"/>
              </a:spcAft>
              <a:buNone/>
            </a:pPr>
            <a:r>
              <a:rPr lang="en-US" sz="1500" b="1" dirty="0">
                <a:solidFill>
                  <a:srgbClr val="E6EEF5"/>
                </a:solidFill>
                <a:latin typeface="Calibri" pitchFamily="34" charset="0"/>
                <a:ea typeface="Calibri" pitchFamily="34" charset="-122"/>
                <a:cs typeface="Calibri" pitchFamily="34" charset="-120"/>
              </a:rPr>
              <a:t>Areas</a:t>
            </a:r>
            <a:pPr indent="0" marL="0">
              <a:spcAft>
                <a:spcPts val="600"/>
              </a:spcAft>
              <a:buNone/>
            </a:pPr>
            <a:r>
              <a:rPr lang="en-US" sz="1500" dirty="0">
                <a:solidFill>
                  <a:srgbClr val="E6EEF5"/>
                </a:solidFill>
                <a:latin typeface="Calibri" pitchFamily="34" charset="0"/>
                <a:ea typeface="Calibri" pitchFamily="34" charset="-122"/>
                <a:cs typeface="Calibri" pitchFamily="34" charset="-120"/>
              </a:rPr>
              <a:t>. Each area floods link-state and computes shortest paths independently.
</a:t>
            </a:r>
            <a:pPr indent="0" marL="0">
              <a:spcAft>
                <a:spcPts val="600"/>
              </a:spcAft>
              <a:buNone/>
            </a:pPr>
            <a:r>
              <a:rPr lang="en-US" sz="1500" b="1" dirty="0">
                <a:solidFill>
                  <a:srgbClr val="E6EEF5"/>
                </a:solidFill>
                <a:latin typeface="Calibri" pitchFamily="34" charset="0"/>
                <a:ea typeface="Calibri" pitchFamily="34" charset="-122"/>
                <a:cs typeface="Calibri" pitchFamily="34" charset="-120"/>
              </a:rPr>
              <a:t>Backbone (Area 0):</a:t>
            </a:r>
            <a:pPr indent="0" marL="0">
              <a:spcAft>
                <a:spcPts val="600"/>
              </a:spcAft>
              <a:buNone/>
            </a:pPr>
            <a:r>
              <a:rPr lang="en-US" sz="1500" dirty="0">
                <a:solidFill>
                  <a:srgbClr val="E6EEF5"/>
                </a:solidFill>
                <a:latin typeface="Calibri" pitchFamily="34" charset="0"/>
                <a:ea typeface="Calibri" pitchFamily="34" charset="-122"/>
                <a:cs typeface="Calibri" pitchFamily="34" charset="-120"/>
              </a:rPr>
              <a:t> every area must connect to it; it routes traffic between all other areas.</a:t>
            </a:r>
            <a:endParaRPr lang="en-US" sz="1400" dirty="0"/>
          </a:p>
        </p:txBody>
      </p:sp>
      <p:sp>
        <p:nvSpPr>
          <p:cNvPr id="8" name="Shape 5"/>
          <p:cNvSpPr/>
          <p:nvPr/>
        </p:nvSpPr>
        <p:spPr>
          <a:xfrm>
            <a:off x="4663440" y="1463040"/>
            <a:ext cx="3410712" cy="2286000"/>
          </a:xfrm>
          <a:prstGeom prst="roundRect">
            <a:avLst>
              <a:gd name="adj" fmla="val 4800"/>
            </a:avLst>
          </a:prstGeom>
          <a:solidFill>
            <a:srgbClr val="EAF4F6"/>
          </a:solidFill>
          <a:ln w="12700">
            <a:solidFill>
              <a:srgbClr val="EAF4F6"/>
            </a:solidFill>
            <a:prstDash val="solid"/>
          </a:ln>
        </p:spPr>
      </p:sp>
      <p:sp>
        <p:nvSpPr>
          <p:cNvPr id="9" name="Shape 6"/>
          <p:cNvSpPr/>
          <p:nvPr/>
        </p:nvSpPr>
        <p:spPr>
          <a:xfrm>
            <a:off x="4892040" y="1664208"/>
            <a:ext cx="457200" cy="457200"/>
          </a:xfrm>
          <a:prstGeom prst="ellipse">
            <a:avLst/>
          </a:prstGeom>
          <a:solidFill>
            <a:srgbClr val="0FA3B1"/>
          </a:solidFill>
          <a:ln w="12700">
            <a:solidFill>
              <a:srgbClr val="0FA3B1"/>
            </a:solidFill>
            <a:prstDash val="solid"/>
          </a:ln>
        </p:spPr>
      </p:sp>
      <p:sp>
        <p:nvSpPr>
          <p:cNvPr id="10" name="Text 7"/>
          <p:cNvSpPr txBox="1"/>
          <p:nvPr/>
        </p:nvSpPr>
        <p:spPr>
          <a:xfrm>
            <a:off x="4892040" y="16642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1" name="Text 8"/>
          <p:cNvSpPr txBox="1"/>
          <p:nvPr/>
        </p:nvSpPr>
        <p:spPr>
          <a:xfrm>
            <a:off x="5486400" y="1664208"/>
            <a:ext cx="2359152" cy="45720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Internal Routers</a:t>
            </a:r>
            <a:endParaRPr lang="en-US" sz="1600" dirty="0"/>
          </a:p>
        </p:txBody>
      </p:sp>
      <p:sp>
        <p:nvSpPr>
          <p:cNvPr id="12" name="Text 9"/>
          <p:cNvSpPr txBox="1"/>
          <p:nvPr/>
        </p:nvSpPr>
        <p:spPr>
          <a:xfrm>
            <a:off x="4892040" y="2240280"/>
            <a:ext cx="2953512" cy="1371600"/>
          </a:xfrm>
          <a:prstGeom prst="rect">
            <a:avLst/>
          </a:prstGeom>
          <a:noFill/>
          <a:ln/>
        </p:spPr>
        <p:txBody>
          <a:bodyPr wrap="square" lIns="0" tIns="0" rIns="0" bIns="0" rtlCol="0" anchor="t"/>
          <a:lstStyle/>
          <a:p>
            <a:pPr indent="0" marL="0">
              <a:buNone/>
            </a:pPr>
            <a:r>
              <a:rPr lang="en-US" sz="1400" dirty="0">
                <a:solidFill>
                  <a:srgbClr val="1B2B3A"/>
                </a:solidFill>
                <a:latin typeface="Calibri" pitchFamily="34" charset="0"/>
                <a:ea typeface="Calibri" pitchFamily="34" charset="-122"/>
                <a:cs typeface="Calibri" pitchFamily="34" charset="-120"/>
              </a:rPr>
              <a:t>Wholly inside one non-backbone area; flood and route only within it.</a:t>
            </a:r>
            <a:endParaRPr lang="en-US" sz="1400" dirty="0"/>
          </a:p>
        </p:txBody>
      </p:sp>
      <p:sp>
        <p:nvSpPr>
          <p:cNvPr id="13" name="Shape 10"/>
          <p:cNvSpPr/>
          <p:nvPr/>
        </p:nvSpPr>
        <p:spPr>
          <a:xfrm>
            <a:off x="8229600" y="1463040"/>
            <a:ext cx="3410712" cy="2286000"/>
          </a:xfrm>
          <a:prstGeom prst="roundRect">
            <a:avLst>
              <a:gd name="adj" fmla="val 4800"/>
            </a:avLst>
          </a:prstGeom>
          <a:solidFill>
            <a:srgbClr val="EAF4F6"/>
          </a:solidFill>
          <a:ln w="12700">
            <a:solidFill>
              <a:srgbClr val="EAF4F6"/>
            </a:solidFill>
            <a:prstDash val="solid"/>
          </a:ln>
        </p:spPr>
      </p:sp>
      <p:sp>
        <p:nvSpPr>
          <p:cNvPr id="14" name="Shape 11"/>
          <p:cNvSpPr/>
          <p:nvPr/>
        </p:nvSpPr>
        <p:spPr>
          <a:xfrm>
            <a:off x="8458200" y="1664208"/>
            <a:ext cx="457200" cy="457200"/>
          </a:xfrm>
          <a:prstGeom prst="ellipse">
            <a:avLst/>
          </a:prstGeom>
          <a:solidFill>
            <a:srgbClr val="0FA3B1"/>
          </a:solidFill>
          <a:ln w="12700">
            <a:solidFill>
              <a:srgbClr val="0FA3B1"/>
            </a:solidFill>
            <a:prstDash val="solid"/>
          </a:ln>
        </p:spPr>
      </p:sp>
      <p:sp>
        <p:nvSpPr>
          <p:cNvPr id="15" name="Text 12"/>
          <p:cNvSpPr txBox="1"/>
          <p:nvPr/>
        </p:nvSpPr>
        <p:spPr>
          <a:xfrm>
            <a:off x="8458200" y="16642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6" name="Text 13"/>
          <p:cNvSpPr txBox="1"/>
          <p:nvPr/>
        </p:nvSpPr>
        <p:spPr>
          <a:xfrm>
            <a:off x="9052560" y="1664208"/>
            <a:ext cx="2359152" cy="45720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Area Border Routers (ABRs)</a:t>
            </a:r>
            <a:endParaRPr lang="en-US" sz="1600" dirty="0"/>
          </a:p>
        </p:txBody>
      </p:sp>
      <p:sp>
        <p:nvSpPr>
          <p:cNvPr id="17" name="Text 14"/>
          <p:cNvSpPr txBox="1"/>
          <p:nvPr/>
        </p:nvSpPr>
        <p:spPr>
          <a:xfrm>
            <a:off x="8458200" y="2240280"/>
            <a:ext cx="2953512" cy="1371600"/>
          </a:xfrm>
          <a:prstGeom prst="rect">
            <a:avLst/>
          </a:prstGeom>
          <a:noFill/>
          <a:ln/>
        </p:spPr>
        <p:txBody>
          <a:bodyPr wrap="square" lIns="0" tIns="0" rIns="0" bIns="0" rtlCol="0" anchor="t"/>
          <a:lstStyle/>
          <a:p>
            <a:pPr indent="0" marL="0">
              <a:buNone/>
            </a:pPr>
            <a:r>
              <a:rPr lang="en-US" sz="1400" dirty="0">
                <a:solidFill>
                  <a:srgbClr val="1B2B3A"/>
                </a:solidFill>
                <a:latin typeface="Calibri" pitchFamily="34" charset="0"/>
                <a:ea typeface="Calibri" pitchFamily="34" charset="-122"/>
                <a:cs typeface="Calibri" pitchFamily="34" charset="-120"/>
              </a:rPr>
              <a:t>In a local area </a:t>
            </a:r>
            <a:pPr indent="0" marL="0">
              <a:buNone/>
            </a:pPr>
            <a:r>
              <a:rPr lang="en-US" sz="1400" b="1" dirty="0">
                <a:solidFill>
                  <a:srgbClr val="1B2B3A"/>
                </a:solidFill>
                <a:latin typeface="Calibri" pitchFamily="34" charset="0"/>
                <a:ea typeface="Calibri" pitchFamily="34" charset="-122"/>
                <a:cs typeface="Calibri" pitchFamily="34" charset="-120"/>
              </a:rPr>
              <a:t>and</a:t>
            </a:r>
            <a:pPr indent="0" marL="0">
              <a:buNone/>
            </a:pPr>
            <a:r>
              <a:rPr lang="en-US" sz="1400" dirty="0">
                <a:solidFill>
                  <a:srgbClr val="1B2B3A"/>
                </a:solidFill>
                <a:latin typeface="Calibri" pitchFamily="34" charset="0"/>
                <a:ea typeface="Calibri" pitchFamily="34" charset="-122"/>
                <a:cs typeface="Calibri" pitchFamily="34" charset="-120"/>
              </a:rPr>
              <a:t> Area 0; summarize area distances to the backbone.</a:t>
            </a:r>
            <a:endParaRPr lang="en-US" sz="1400" dirty="0"/>
          </a:p>
        </p:txBody>
      </p:sp>
      <p:sp>
        <p:nvSpPr>
          <p:cNvPr id="18" name="Shape 15"/>
          <p:cNvSpPr/>
          <p:nvPr/>
        </p:nvSpPr>
        <p:spPr>
          <a:xfrm>
            <a:off x="4663440" y="3886200"/>
            <a:ext cx="3410712" cy="2286000"/>
          </a:xfrm>
          <a:prstGeom prst="roundRect">
            <a:avLst>
              <a:gd name="adj" fmla="val 4800"/>
            </a:avLst>
          </a:prstGeom>
          <a:solidFill>
            <a:srgbClr val="EAF4F6"/>
          </a:solidFill>
          <a:ln w="12700">
            <a:solidFill>
              <a:srgbClr val="EAF4F6"/>
            </a:solidFill>
            <a:prstDash val="solid"/>
          </a:ln>
        </p:spPr>
      </p:sp>
      <p:sp>
        <p:nvSpPr>
          <p:cNvPr id="19" name="Shape 16"/>
          <p:cNvSpPr/>
          <p:nvPr/>
        </p:nvSpPr>
        <p:spPr>
          <a:xfrm>
            <a:off x="4892040" y="4087368"/>
            <a:ext cx="457200" cy="457200"/>
          </a:xfrm>
          <a:prstGeom prst="ellipse">
            <a:avLst/>
          </a:prstGeom>
          <a:solidFill>
            <a:srgbClr val="0FA3B1"/>
          </a:solidFill>
          <a:ln w="12700">
            <a:solidFill>
              <a:srgbClr val="0FA3B1"/>
            </a:solidFill>
            <a:prstDash val="solid"/>
          </a:ln>
        </p:spPr>
      </p:sp>
      <p:sp>
        <p:nvSpPr>
          <p:cNvPr id="20" name="Text 17"/>
          <p:cNvSpPr txBox="1"/>
          <p:nvPr/>
        </p:nvSpPr>
        <p:spPr>
          <a:xfrm>
            <a:off x="4892040" y="40873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1" name="Text 18"/>
          <p:cNvSpPr txBox="1"/>
          <p:nvPr/>
        </p:nvSpPr>
        <p:spPr>
          <a:xfrm>
            <a:off x="5486400" y="4087368"/>
            <a:ext cx="2359152" cy="45720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Backbone Routers</a:t>
            </a:r>
            <a:endParaRPr lang="en-US" sz="1600" dirty="0"/>
          </a:p>
        </p:txBody>
      </p:sp>
      <p:sp>
        <p:nvSpPr>
          <p:cNvPr id="22" name="Text 19"/>
          <p:cNvSpPr txBox="1"/>
          <p:nvPr/>
        </p:nvSpPr>
        <p:spPr>
          <a:xfrm>
            <a:off x="4892040" y="4663440"/>
            <a:ext cx="2953512" cy="1371600"/>
          </a:xfrm>
          <a:prstGeom prst="rect">
            <a:avLst/>
          </a:prstGeom>
          <a:noFill/>
          <a:ln/>
        </p:spPr>
        <p:txBody>
          <a:bodyPr wrap="square" lIns="0" tIns="0" rIns="0" bIns="0" rtlCol="0" anchor="t"/>
          <a:lstStyle/>
          <a:p>
            <a:pPr indent="0" marL="0">
              <a:buNone/>
            </a:pPr>
            <a:r>
              <a:rPr lang="en-US" sz="1400" dirty="0">
                <a:solidFill>
                  <a:srgbClr val="1B2B3A"/>
                </a:solidFill>
                <a:latin typeface="Calibri" pitchFamily="34" charset="0"/>
                <a:ea typeface="Calibri" pitchFamily="34" charset="-122"/>
                <a:cs typeface="Calibri" pitchFamily="34" charset="-120"/>
              </a:rPr>
              <a:t>Do OSPF routing in Area 0 (ABRs and routers wholly in Area 0).</a:t>
            </a:r>
            <a:endParaRPr lang="en-US" sz="1400" dirty="0"/>
          </a:p>
        </p:txBody>
      </p:sp>
      <p:sp>
        <p:nvSpPr>
          <p:cNvPr id="23" name="Shape 20"/>
          <p:cNvSpPr/>
          <p:nvPr/>
        </p:nvSpPr>
        <p:spPr>
          <a:xfrm>
            <a:off x="8229600" y="3886200"/>
            <a:ext cx="3410712" cy="2286000"/>
          </a:xfrm>
          <a:prstGeom prst="roundRect">
            <a:avLst>
              <a:gd name="adj" fmla="val 4800"/>
            </a:avLst>
          </a:prstGeom>
          <a:solidFill>
            <a:srgbClr val="EAF4F6"/>
          </a:solidFill>
          <a:ln w="12700">
            <a:solidFill>
              <a:srgbClr val="EAF4F6"/>
            </a:solidFill>
            <a:prstDash val="solid"/>
          </a:ln>
        </p:spPr>
      </p:sp>
      <p:sp>
        <p:nvSpPr>
          <p:cNvPr id="24" name="Shape 21"/>
          <p:cNvSpPr/>
          <p:nvPr/>
        </p:nvSpPr>
        <p:spPr>
          <a:xfrm>
            <a:off x="8458200" y="4087368"/>
            <a:ext cx="457200" cy="457200"/>
          </a:xfrm>
          <a:prstGeom prst="ellipse">
            <a:avLst/>
          </a:prstGeom>
          <a:solidFill>
            <a:srgbClr val="0FA3B1"/>
          </a:solidFill>
          <a:ln w="12700">
            <a:solidFill>
              <a:srgbClr val="0FA3B1"/>
            </a:solidFill>
            <a:prstDash val="solid"/>
          </a:ln>
        </p:spPr>
      </p:sp>
      <p:sp>
        <p:nvSpPr>
          <p:cNvPr id="25" name="Text 22"/>
          <p:cNvSpPr txBox="1"/>
          <p:nvPr/>
        </p:nvSpPr>
        <p:spPr>
          <a:xfrm>
            <a:off x="8458200" y="40873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6" name="Text 23"/>
          <p:cNvSpPr txBox="1"/>
          <p:nvPr/>
        </p:nvSpPr>
        <p:spPr>
          <a:xfrm>
            <a:off x="9052560" y="4087368"/>
            <a:ext cx="2359152" cy="45720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Boundary Routers (ASBRs)</a:t>
            </a:r>
            <a:endParaRPr lang="en-US" sz="1600" dirty="0"/>
          </a:p>
        </p:txBody>
      </p:sp>
      <p:sp>
        <p:nvSpPr>
          <p:cNvPr id="27" name="Text 24"/>
          <p:cNvSpPr txBox="1"/>
          <p:nvPr/>
        </p:nvSpPr>
        <p:spPr>
          <a:xfrm>
            <a:off x="8458200" y="4663440"/>
            <a:ext cx="2953512" cy="1371600"/>
          </a:xfrm>
          <a:prstGeom prst="rect">
            <a:avLst/>
          </a:prstGeom>
          <a:noFill/>
          <a:ln/>
        </p:spPr>
        <p:txBody>
          <a:bodyPr wrap="square" lIns="0" tIns="0" rIns="0" bIns="0" rtlCol="0" anchor="t"/>
          <a:lstStyle/>
          <a:p>
            <a:pPr indent="0" marL="0">
              <a:buNone/>
            </a:pPr>
            <a:r>
              <a:rPr lang="en-US" sz="1400" dirty="0">
                <a:solidFill>
                  <a:srgbClr val="1B2B3A"/>
                </a:solidFill>
                <a:latin typeface="Calibri" pitchFamily="34" charset="0"/>
                <a:ea typeface="Calibri" pitchFamily="34" charset="-122"/>
                <a:cs typeface="Calibri" pitchFamily="34" charset="-120"/>
              </a:rPr>
              <a:t>Connect to </a:t>
            </a:r>
            <a:pPr indent="0" marL="0">
              <a:buNone/>
            </a:pPr>
            <a:r>
              <a:rPr lang="en-US" sz="1400" b="1" dirty="0">
                <a:solidFill>
                  <a:srgbClr val="1B2B3A"/>
                </a:solidFill>
                <a:latin typeface="Calibri" pitchFamily="34" charset="0"/>
                <a:ea typeface="Calibri" pitchFamily="34" charset="-122"/>
                <a:cs typeface="Calibri" pitchFamily="34" charset="-120"/>
              </a:rPr>
              <a:t>other ASs</a:t>
            </a:r>
            <a:pPr indent="0" marL="0">
              <a:buNone/>
            </a:pPr>
            <a:r>
              <a:rPr lang="en-US" sz="1400" dirty="0">
                <a:solidFill>
                  <a:srgbClr val="1B2B3A"/>
                </a:solidFill>
                <a:latin typeface="Calibri" pitchFamily="34" charset="0"/>
                <a:ea typeface="Calibri" pitchFamily="34" charset="-122"/>
                <a:cs typeface="Calibri" pitchFamily="34" charset="-120"/>
              </a:rPr>
              <a:t>; learn external routes (via BGP) and inject them into OSPF.</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0972800" cy="274320"/>
          </a:xfrm>
          <a:prstGeom prst="rect">
            <a:avLst/>
          </a:prstGeom>
          <a:noFill/>
          <a:ln/>
        </p:spPr>
        <p:txBody>
          <a:bodyPr wrap="square" lIns="0" tIns="0" rIns="0" bIns="0" rtlCol="0" anchor="t"/>
          <a:lstStyle/>
          <a:p>
            <a:pPr indent="0" marL="0">
              <a:buNone/>
            </a:pPr>
            <a:r>
              <a:rPr lang="en-US" sz="1200" b="1" spc="200" kern="0" dirty="0">
                <a:solidFill>
                  <a:srgbClr val="0FA3B1"/>
                </a:solidFill>
                <a:latin typeface="Calibri" pitchFamily="34" charset="0"/>
                <a:ea typeface="Calibri" pitchFamily="34" charset="-122"/>
                <a:cs typeface="Calibri" pitchFamily="34" charset="-120"/>
              </a:rPr>
              <a:t>OSPF · PART 02</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The 5 OSPF Packet Types</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914400"/>
                <a:gridCol w="3017520"/>
                <a:gridCol w="7159752"/>
              </a:tblGrid>
              <a:tr h="86868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Type</a:t>
                      </a:r>
                      <a:endParaRPr lang="en-US" sz="1500" dirty="0">
                        <a:latin typeface="Calibri" charset="0"/>
                        <a:ea typeface="Calibri" charset="0"/>
                        <a:cs typeface="Calibri" charset="0"/>
                      </a:endParaRPr>
                    </a:p>
                  </a:txBody>
                  <a:tcPr marL="91440" marR="91440" marT="36576" marB="36576">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0B1F3A"/>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Packet</a:t>
                      </a:r>
                      <a:endParaRPr lang="en-US" sz="1500" dirty="0">
                        <a:latin typeface="Calibri" charset="0"/>
                        <a:ea typeface="Calibri" charset="0"/>
                        <a:cs typeface="Calibri" charset="0"/>
                      </a:endParaRPr>
                    </a:p>
                  </a:txBody>
                  <a:tcPr marL="91440" marR="91440" marT="36576" marB="36576">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0B1F3A"/>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Purpose</a:t>
                      </a:r>
                      <a:endParaRPr lang="en-US" sz="1500" dirty="0">
                        <a:latin typeface="Calibri" charset="0"/>
                        <a:ea typeface="Calibri" charset="0"/>
                        <a:cs typeface="Calibri" charset="0"/>
                      </a:endParaRPr>
                    </a:p>
                  </a:txBody>
                  <a:tcPr marL="91440" marR="91440" marT="36576" marB="36576">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0B1F3A"/>
                    </a:solidFill>
                  </a:tcPr>
                </a:tc>
              </a:tr>
              <a:tr h="868680">
                <a:tc>
                  <a:txBody>
                    <a:bodyPr/>
                    <a:lstStyle/>
                    <a:p>
                      <a:pPr indent="0" marL="0">
                        <a:buNone/>
                      </a:pPr>
                      <a:r>
                        <a:rPr lang="en-US" sz="1500" b="1" dirty="0">
                          <a:solidFill>
                            <a:srgbClr val="1B2B3A"/>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EAF4F6"/>
                    </a:solidFill>
                  </a:tcPr>
                </a:tc>
                <a:tc>
                  <a:txBody>
                    <a:bodyPr/>
                    <a:lstStyle/>
                    <a:p>
                      <a:pPr indent="0" marL="0">
                        <a:buNone/>
                      </a:pPr>
                      <a:r>
                        <a:rPr lang="en-US" sz="1500" dirty="0">
                          <a:solidFill>
                            <a:srgbClr val="1B2B3A"/>
                          </a:solidFill>
                          <a:latin typeface="Calibri" pitchFamily="34" charset="0"/>
                          <a:ea typeface="Calibri" pitchFamily="34" charset="-122"/>
                          <a:cs typeface="Calibri" pitchFamily="34" charset="-120"/>
                        </a:rPr>
                        <a:t>Hello</a:t>
                      </a:r>
                      <a:endParaRPr lang="en-US" sz="15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EAF4F6"/>
                    </a:solidFill>
                  </a:tcPr>
                </a:tc>
                <a:tc>
                  <a:txBody>
                    <a:bodyPr/>
                    <a:lstStyle/>
                    <a:p>
                      <a:pPr indent="0" marL="0">
                        <a:buNone/>
                      </a:pPr>
                      <a:r>
                        <a:rPr lang="en-US" sz="1500" dirty="0">
                          <a:solidFill>
                            <a:srgbClr val="1B2B3A"/>
                          </a:solidFill>
                          <a:latin typeface="Calibri" pitchFamily="34" charset="0"/>
                          <a:ea typeface="Calibri" pitchFamily="34" charset="-122"/>
                          <a:cs typeface="Calibri" pitchFamily="34" charset="-120"/>
                        </a:rPr>
                        <a:t>Sent periodically (e.g. every 10 s) to discover neighbors, check liveness, elect a Designated Router on broadcast LANs.</a:t>
                      </a:r>
                      <a:endParaRPr lang="en-US" sz="15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EAF4F6"/>
                    </a:solidFill>
                  </a:tcPr>
                </a:tc>
              </a:tr>
              <a:tr h="868680">
                <a:tc>
                  <a:txBody>
                    <a:bodyPr/>
                    <a:lstStyle/>
                    <a:p>
                      <a:pPr indent="0" marL="0">
                        <a:buNone/>
                      </a:pPr>
                      <a:r>
                        <a:rPr lang="en-US" sz="1500" b="1" dirty="0">
                          <a:solidFill>
                            <a:srgbClr val="1B2B3A"/>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500" dirty="0">
                          <a:solidFill>
                            <a:srgbClr val="1B2B3A"/>
                          </a:solidFill>
                          <a:latin typeface="Calibri" pitchFamily="34" charset="0"/>
                          <a:ea typeface="Calibri" pitchFamily="34" charset="-122"/>
                          <a:cs typeface="Calibri" pitchFamily="34" charset="-120"/>
                        </a:rPr>
                        <a:t>Database Description (DBD)</a:t>
                      </a:r>
                      <a:endParaRPr lang="en-US" sz="15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500" dirty="0">
                          <a:solidFill>
                            <a:srgbClr val="1B2B3A"/>
                          </a:solidFill>
                          <a:latin typeface="Calibri" pitchFamily="34" charset="0"/>
                          <a:ea typeface="Calibri" pitchFamily="34" charset="-122"/>
                          <a:cs typeface="Calibri" pitchFamily="34" charset="-120"/>
                        </a:rPr>
                        <a:t>Exchanges summaries of the link-state database when an adjacency forms.</a:t>
                      </a:r>
                      <a:endParaRPr lang="en-US" sz="15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r>
              <a:tr h="868680">
                <a:tc>
                  <a:txBody>
                    <a:bodyPr/>
                    <a:lstStyle/>
                    <a:p>
                      <a:pPr indent="0" marL="0">
                        <a:buNone/>
                      </a:pPr>
                      <a:r>
                        <a:rPr lang="en-US" sz="1500" b="1" dirty="0">
                          <a:solidFill>
                            <a:srgbClr val="1B2B3A"/>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EAF4F6"/>
                    </a:solidFill>
                  </a:tcPr>
                </a:tc>
                <a:tc>
                  <a:txBody>
                    <a:bodyPr/>
                    <a:lstStyle/>
                    <a:p>
                      <a:pPr indent="0" marL="0">
                        <a:buNone/>
                      </a:pPr>
                      <a:r>
                        <a:rPr lang="en-US" sz="1500" dirty="0">
                          <a:solidFill>
                            <a:srgbClr val="1B2B3A"/>
                          </a:solidFill>
                          <a:latin typeface="Calibri" pitchFamily="34" charset="0"/>
                          <a:ea typeface="Calibri" pitchFamily="34" charset="-122"/>
                          <a:cs typeface="Calibri" pitchFamily="34" charset="-120"/>
                        </a:rPr>
                        <a:t>Link State Request (LSR)</a:t>
                      </a:r>
                      <a:endParaRPr lang="en-US" sz="15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EAF4F6"/>
                    </a:solidFill>
                  </a:tcPr>
                </a:tc>
                <a:tc>
                  <a:txBody>
                    <a:bodyPr/>
                    <a:lstStyle/>
                    <a:p>
                      <a:pPr indent="0" marL="0">
                        <a:buNone/>
                      </a:pPr>
                      <a:r>
                        <a:rPr lang="en-US" sz="1500" dirty="0">
                          <a:solidFill>
                            <a:srgbClr val="1B2B3A"/>
                          </a:solidFill>
                          <a:latin typeface="Calibri" pitchFamily="34" charset="0"/>
                          <a:ea typeface="Calibri" pitchFamily="34" charset="-122"/>
                          <a:cs typeface="Calibri" pitchFamily="34" charset="-120"/>
                        </a:rPr>
                        <a:t>Requests full details of LSAs that are missing or outdated.</a:t>
                      </a:r>
                      <a:endParaRPr lang="en-US" sz="15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EAF4F6"/>
                    </a:solidFill>
                  </a:tcPr>
                </a:tc>
              </a:tr>
              <a:tr h="868680">
                <a:tc>
                  <a:txBody>
                    <a:bodyPr/>
                    <a:lstStyle/>
                    <a:p>
                      <a:pPr indent="0" marL="0">
                        <a:buNone/>
                      </a:pPr>
                      <a:r>
                        <a:rPr lang="en-US" sz="1500" b="1" dirty="0">
                          <a:solidFill>
                            <a:srgbClr val="1B2B3A"/>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500" dirty="0">
                          <a:solidFill>
                            <a:srgbClr val="1B2B3A"/>
                          </a:solidFill>
                          <a:latin typeface="Calibri" pitchFamily="34" charset="0"/>
                          <a:ea typeface="Calibri" pitchFamily="34" charset="-122"/>
                          <a:cs typeface="Calibri" pitchFamily="34" charset="-120"/>
                        </a:rPr>
                        <a:t>Link State Update (LSU)</a:t>
                      </a:r>
                      <a:endParaRPr lang="en-US" sz="15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500" dirty="0">
                          <a:solidFill>
                            <a:srgbClr val="1B2B3A"/>
                          </a:solidFill>
                          <a:latin typeface="Calibri" pitchFamily="34" charset="0"/>
                          <a:ea typeface="Calibri" pitchFamily="34" charset="-122"/>
                          <a:cs typeface="Calibri" pitchFamily="34" charset="-120"/>
                        </a:rPr>
                        <a:t>Carries one or more full LSAs to flood new link-state info.</a:t>
                      </a:r>
                      <a:endParaRPr lang="en-US" sz="15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r>
              <a:tr h="868680">
                <a:tc>
                  <a:txBody>
                    <a:bodyPr/>
                    <a:lstStyle/>
                    <a:p>
                      <a:pPr indent="0" marL="0">
                        <a:buNone/>
                      </a:pPr>
                      <a:r>
                        <a:rPr lang="en-US" sz="1500" b="1" dirty="0">
                          <a:solidFill>
                            <a:srgbClr val="1B2B3A"/>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EAF4F6"/>
                    </a:solidFill>
                  </a:tcPr>
                </a:tc>
                <a:tc>
                  <a:txBody>
                    <a:bodyPr/>
                    <a:lstStyle/>
                    <a:p>
                      <a:pPr indent="0" marL="0">
                        <a:buNone/>
                      </a:pPr>
                      <a:r>
                        <a:rPr lang="en-US" sz="1500" dirty="0">
                          <a:solidFill>
                            <a:srgbClr val="1B2B3A"/>
                          </a:solidFill>
                          <a:latin typeface="Calibri" pitchFamily="34" charset="0"/>
                          <a:ea typeface="Calibri" pitchFamily="34" charset="-122"/>
                          <a:cs typeface="Calibri" pitchFamily="34" charset="-120"/>
                        </a:rPr>
                        <a:t>Link State Ack (LSAck)</a:t>
                      </a:r>
                      <a:endParaRPr lang="en-US" sz="15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EAF4F6"/>
                    </a:solidFill>
                  </a:tcPr>
                </a:tc>
                <a:tc>
                  <a:txBody>
                    <a:bodyPr/>
                    <a:lstStyle/>
                    <a:p>
                      <a:pPr indent="0" marL="0">
                        <a:buNone/>
                      </a:pPr>
                      <a:r>
                        <a:rPr lang="en-US" sz="1500" dirty="0">
                          <a:solidFill>
                            <a:srgbClr val="1B2B3A"/>
                          </a:solidFill>
                          <a:latin typeface="Calibri" pitchFamily="34" charset="0"/>
                          <a:ea typeface="Calibri" pitchFamily="34" charset="-122"/>
                          <a:cs typeface="Calibri" pitchFamily="34" charset="-120"/>
                        </a:rPr>
                        <a:t>Acknowledges LSUs: reliable flooding directly over IP.</a:t>
                      </a:r>
                      <a:endParaRPr lang="en-US" sz="15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EAF4F6"/>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0972800" cy="274320"/>
          </a:xfrm>
          <a:prstGeom prst="rect">
            <a:avLst/>
          </a:prstGeom>
          <a:noFill/>
          <a:ln/>
        </p:spPr>
        <p:txBody>
          <a:bodyPr wrap="square" lIns="0" tIns="0" rIns="0" bIns="0" rtlCol="0" anchor="t"/>
          <a:lstStyle/>
          <a:p>
            <a:pPr indent="0" marL="0">
              <a:buNone/>
            </a:pPr>
            <a:r>
              <a:rPr lang="en-US" sz="1200" b="1" spc="200" kern="0" dirty="0">
                <a:solidFill>
                  <a:srgbClr val="0FA3B1"/>
                </a:solidFill>
                <a:latin typeface="Calibri" pitchFamily="34" charset="0"/>
                <a:ea typeface="Calibri" pitchFamily="34" charset="-122"/>
                <a:cs typeface="Calibri" pitchFamily="34" charset="-120"/>
              </a:rPr>
              <a:t>BGP · PART 01</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Border Gateway Protocol (RFC 4271)</a:t>
            </a:r>
            <a:endParaRPr lang="en-US" sz="3000" dirty="0"/>
          </a:p>
        </p:txBody>
      </p:sp>
      <p:sp>
        <p:nvSpPr>
          <p:cNvPr id="5" name="Shape 2"/>
          <p:cNvSpPr/>
          <p:nvPr/>
        </p:nvSpPr>
        <p:spPr>
          <a:xfrm>
            <a:off x="548640" y="1463040"/>
            <a:ext cx="11091672" cy="1005840"/>
          </a:xfrm>
          <a:prstGeom prst="roundRect">
            <a:avLst>
              <a:gd name="adj" fmla="val 10909"/>
            </a:avLst>
          </a:prstGeom>
          <a:solidFill>
            <a:srgbClr val="0B1F3A"/>
          </a:solidFill>
          <a:ln w="12700">
            <a:solidFill>
              <a:srgbClr val="0B1F3A"/>
            </a:solidFill>
            <a:prstDash val="solid"/>
          </a:ln>
        </p:spPr>
      </p:sp>
      <p:sp>
        <p:nvSpPr>
          <p:cNvPr id="6" name="Text 3"/>
          <p:cNvSpPr txBox="1"/>
          <p:nvPr/>
        </p:nvSpPr>
        <p:spPr>
          <a:xfrm>
            <a:off x="822960" y="1463040"/>
            <a:ext cx="10515600" cy="100584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The standard </a:t>
            </a:r>
            <a:pPr indent="0" marL="0">
              <a:buNone/>
            </a:pPr>
            <a:r>
              <a:rPr lang="en-US" sz="1700" b="1" dirty="0">
                <a:solidFill>
                  <a:srgbClr val="FFFFFF"/>
                </a:solidFill>
                <a:latin typeface="Calibri" pitchFamily="34" charset="0"/>
                <a:ea typeface="Calibri" pitchFamily="34" charset="-122"/>
                <a:cs typeface="Calibri" pitchFamily="34" charset="-120"/>
              </a:rPr>
              <a:t>Inter-AS (exterior) protocol</a:t>
            </a:r>
            <a:pPr indent="0" marL="0">
              <a:buNone/>
            </a:pPr>
            <a:r>
              <a:rPr lang="en-US" sz="1700" dirty="0">
                <a:solidFill>
                  <a:srgbClr val="FFFFFF"/>
                </a:solidFill>
                <a:latin typeface="Calibri" pitchFamily="34" charset="0"/>
                <a:ea typeface="Calibri" pitchFamily="34" charset="-122"/>
                <a:cs typeface="Calibri" pitchFamily="34" charset="-120"/>
              </a:rPr>
              <a:t> that binds all ASs together. A </a:t>
            </a:r>
            <a:pPr indent="0" marL="0">
              <a:buNone/>
            </a:pPr>
            <a:r>
              <a:rPr lang="en-US" sz="1700" b="1" dirty="0">
                <a:solidFill>
                  <a:srgbClr val="FFFFFF"/>
                </a:solidFill>
                <a:latin typeface="Calibri" pitchFamily="34" charset="0"/>
                <a:ea typeface="Calibri" pitchFamily="34" charset="-122"/>
                <a:cs typeface="Calibri" pitchFamily="34" charset="-120"/>
              </a:rPr>
              <a:t>Path Vector</a:t>
            </a:r>
            <a:pPr indent="0" marL="0">
              <a:buNone/>
            </a:pPr>
            <a:r>
              <a:rPr lang="en-US" sz="1700" dirty="0">
                <a:solidFill>
                  <a:srgbClr val="FFFFFF"/>
                </a:solidFill>
                <a:latin typeface="Calibri" pitchFamily="34" charset="0"/>
                <a:ea typeface="Calibri" pitchFamily="34" charset="-122"/>
                <a:cs typeface="Calibri" pitchFamily="34" charset="-120"/>
              </a:rPr>
              <a:t> protocol: it carries the whole path of AS numbers, not just a distance.</a:t>
            </a:r>
            <a:endParaRPr lang="en-US" sz="1400" dirty="0"/>
          </a:p>
        </p:txBody>
      </p:sp>
      <p:sp>
        <p:nvSpPr>
          <p:cNvPr id="7" name="Text 4"/>
          <p:cNvSpPr txBox="1"/>
          <p:nvPr/>
        </p:nvSpPr>
        <p:spPr>
          <a:xfrm>
            <a:off x="548640" y="2743200"/>
            <a:ext cx="7315200" cy="365760"/>
          </a:xfrm>
          <a:prstGeom prst="rect">
            <a:avLst/>
          </a:prstGeom>
          <a:noFill/>
          <a:ln/>
        </p:spPr>
        <p:txBody>
          <a:bodyPr wrap="square" lIns="0" tIns="0" rIns="0" bIns="0" rtlCol="0" anchor="t"/>
          <a:lstStyle/>
          <a:p>
            <a:pPr indent="0" marL="0">
              <a:buNone/>
            </a:pPr>
            <a:r>
              <a:rPr lang="en-US" sz="2000" b="1" dirty="0">
                <a:solidFill>
                  <a:srgbClr val="0B1F3A"/>
                </a:solidFill>
                <a:latin typeface="Cambria" pitchFamily="34" charset="0"/>
                <a:ea typeface="Cambria" pitchFamily="34" charset="-122"/>
                <a:cs typeface="Cambria" pitchFamily="34" charset="-120"/>
              </a:rPr>
              <a:t>Three core responsibilities</a:t>
            </a:r>
            <a:endParaRPr lang="en-US" sz="2000" dirty="0"/>
          </a:p>
        </p:txBody>
      </p:sp>
      <p:sp>
        <p:nvSpPr>
          <p:cNvPr id="8" name="Shape 5"/>
          <p:cNvSpPr/>
          <p:nvPr/>
        </p:nvSpPr>
        <p:spPr>
          <a:xfrm>
            <a:off x="548640" y="3291840"/>
            <a:ext cx="3593592" cy="2926080"/>
          </a:xfrm>
          <a:prstGeom prst="roundRect">
            <a:avLst>
              <a:gd name="adj" fmla="val 3750"/>
            </a:avLst>
          </a:prstGeom>
          <a:solidFill>
            <a:srgbClr val="EAF4F6"/>
          </a:solidFill>
          <a:ln w="12700">
            <a:solidFill>
              <a:srgbClr val="EAF4F6"/>
            </a:solidFill>
            <a:prstDash val="solid"/>
          </a:ln>
        </p:spPr>
      </p:sp>
      <p:sp>
        <p:nvSpPr>
          <p:cNvPr id="9" name="Shape 6"/>
          <p:cNvSpPr/>
          <p:nvPr/>
        </p:nvSpPr>
        <p:spPr>
          <a:xfrm>
            <a:off x="777240" y="3493008"/>
            <a:ext cx="457200" cy="457200"/>
          </a:xfrm>
          <a:prstGeom prst="ellipse">
            <a:avLst/>
          </a:prstGeom>
          <a:solidFill>
            <a:srgbClr val="0FA3B1"/>
          </a:solidFill>
          <a:ln w="12700">
            <a:solidFill>
              <a:srgbClr val="0FA3B1"/>
            </a:solidFill>
            <a:prstDash val="solid"/>
          </a:ln>
        </p:spPr>
      </p:sp>
      <p:sp>
        <p:nvSpPr>
          <p:cNvPr id="10" name="Text 7"/>
          <p:cNvSpPr txBox="1"/>
          <p:nvPr/>
        </p:nvSpPr>
        <p:spPr>
          <a:xfrm>
            <a:off x="777240" y="34930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1" name="Text 8"/>
          <p:cNvSpPr txBox="1"/>
          <p:nvPr/>
        </p:nvSpPr>
        <p:spPr>
          <a:xfrm>
            <a:off x="1371600" y="3493008"/>
            <a:ext cx="2542032" cy="45720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Learn reachability</a:t>
            </a:r>
            <a:endParaRPr lang="en-US" sz="1600" dirty="0"/>
          </a:p>
        </p:txBody>
      </p:sp>
      <p:sp>
        <p:nvSpPr>
          <p:cNvPr id="12" name="Text 9"/>
          <p:cNvSpPr txBox="1"/>
          <p:nvPr/>
        </p:nvSpPr>
        <p:spPr>
          <a:xfrm>
            <a:off x="777240" y="4069080"/>
            <a:ext cx="3136392" cy="2011680"/>
          </a:xfrm>
          <a:prstGeom prst="rect">
            <a:avLst/>
          </a:prstGeom>
          <a:noFill/>
          <a:ln/>
        </p:spPr>
        <p:txBody>
          <a:bodyPr wrap="square" lIns="0" tIns="0" rIns="0" bIns="0" rtlCol="0" anchor="t"/>
          <a:lstStyle/>
          <a:p>
            <a:pPr indent="0" marL="0">
              <a:buNone/>
            </a:pPr>
            <a:r>
              <a:rPr lang="en-US" sz="1500" dirty="0">
                <a:solidFill>
                  <a:srgbClr val="1B2B3A"/>
                </a:solidFill>
                <a:latin typeface="Calibri" pitchFamily="34" charset="0"/>
                <a:ea typeface="Calibri" pitchFamily="34" charset="-122"/>
                <a:cs typeface="Calibri" pitchFamily="34" charset="-120"/>
              </a:rPr>
              <a:t>Obtain subnet reachability from neighboring ASs; each subnet announces its existence to the Internet.</a:t>
            </a:r>
            <a:endParaRPr lang="en-US" sz="1400" dirty="0"/>
          </a:p>
        </p:txBody>
      </p:sp>
      <p:sp>
        <p:nvSpPr>
          <p:cNvPr id="13" name="Shape 10"/>
          <p:cNvSpPr/>
          <p:nvPr/>
        </p:nvSpPr>
        <p:spPr>
          <a:xfrm>
            <a:off x="4297680" y="3291840"/>
            <a:ext cx="3593592" cy="2926080"/>
          </a:xfrm>
          <a:prstGeom prst="roundRect">
            <a:avLst>
              <a:gd name="adj" fmla="val 3750"/>
            </a:avLst>
          </a:prstGeom>
          <a:solidFill>
            <a:srgbClr val="EAF4F6"/>
          </a:solidFill>
          <a:ln w="12700">
            <a:solidFill>
              <a:srgbClr val="EAF4F6"/>
            </a:solidFill>
            <a:prstDash val="solid"/>
          </a:ln>
        </p:spPr>
      </p:sp>
      <p:sp>
        <p:nvSpPr>
          <p:cNvPr id="14" name="Shape 11"/>
          <p:cNvSpPr/>
          <p:nvPr/>
        </p:nvSpPr>
        <p:spPr>
          <a:xfrm>
            <a:off x="4526280" y="3493008"/>
            <a:ext cx="457200" cy="457200"/>
          </a:xfrm>
          <a:prstGeom prst="ellipse">
            <a:avLst/>
          </a:prstGeom>
          <a:solidFill>
            <a:srgbClr val="0FA3B1"/>
          </a:solidFill>
          <a:ln w="12700">
            <a:solidFill>
              <a:srgbClr val="0FA3B1"/>
            </a:solidFill>
            <a:prstDash val="solid"/>
          </a:ln>
        </p:spPr>
      </p:sp>
      <p:sp>
        <p:nvSpPr>
          <p:cNvPr id="15" name="Text 12"/>
          <p:cNvSpPr txBox="1"/>
          <p:nvPr/>
        </p:nvSpPr>
        <p:spPr>
          <a:xfrm>
            <a:off x="4526280" y="34930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6" name="Text 13"/>
          <p:cNvSpPr txBox="1"/>
          <p:nvPr/>
        </p:nvSpPr>
        <p:spPr>
          <a:xfrm>
            <a:off x="5120640" y="3493008"/>
            <a:ext cx="2542032" cy="45720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Propagate</a:t>
            </a:r>
            <a:endParaRPr lang="en-US" sz="1600" dirty="0"/>
          </a:p>
        </p:txBody>
      </p:sp>
      <p:sp>
        <p:nvSpPr>
          <p:cNvPr id="17" name="Text 14"/>
          <p:cNvSpPr txBox="1"/>
          <p:nvPr/>
        </p:nvSpPr>
        <p:spPr>
          <a:xfrm>
            <a:off x="4526280" y="4069080"/>
            <a:ext cx="3136392" cy="2011680"/>
          </a:xfrm>
          <a:prstGeom prst="rect">
            <a:avLst/>
          </a:prstGeom>
          <a:noFill/>
          <a:ln/>
        </p:spPr>
        <p:txBody>
          <a:bodyPr wrap="square" lIns="0" tIns="0" rIns="0" bIns="0" rtlCol="0" anchor="t"/>
          <a:lstStyle/>
          <a:p>
            <a:pPr indent="0" marL="0">
              <a:buNone/>
            </a:pPr>
            <a:r>
              <a:rPr lang="en-US" sz="1500" dirty="0">
                <a:solidFill>
                  <a:srgbClr val="1B2B3A"/>
                </a:solidFill>
                <a:latin typeface="Calibri" pitchFamily="34" charset="0"/>
                <a:ea typeface="Calibri" pitchFamily="34" charset="-122"/>
                <a:cs typeface="Calibri" pitchFamily="34" charset="-120"/>
              </a:rPr>
              <a:t>Spread that reachability to all routers internal to the AS.</a:t>
            </a:r>
            <a:endParaRPr lang="en-US" sz="1400" dirty="0"/>
          </a:p>
        </p:txBody>
      </p:sp>
      <p:sp>
        <p:nvSpPr>
          <p:cNvPr id="18" name="Shape 15"/>
          <p:cNvSpPr/>
          <p:nvPr/>
        </p:nvSpPr>
        <p:spPr>
          <a:xfrm>
            <a:off x="8046720" y="3291840"/>
            <a:ext cx="3593592" cy="2926080"/>
          </a:xfrm>
          <a:prstGeom prst="roundRect">
            <a:avLst>
              <a:gd name="adj" fmla="val 3750"/>
            </a:avLst>
          </a:prstGeom>
          <a:solidFill>
            <a:srgbClr val="EAF4F6"/>
          </a:solidFill>
          <a:ln w="12700">
            <a:solidFill>
              <a:srgbClr val="EAF4F6"/>
            </a:solidFill>
            <a:prstDash val="solid"/>
          </a:ln>
        </p:spPr>
      </p:sp>
      <p:sp>
        <p:nvSpPr>
          <p:cNvPr id="19" name="Shape 16"/>
          <p:cNvSpPr/>
          <p:nvPr/>
        </p:nvSpPr>
        <p:spPr>
          <a:xfrm>
            <a:off x="8275320" y="3493008"/>
            <a:ext cx="457200" cy="457200"/>
          </a:xfrm>
          <a:prstGeom prst="ellipse">
            <a:avLst/>
          </a:prstGeom>
          <a:solidFill>
            <a:srgbClr val="0FA3B1"/>
          </a:solidFill>
          <a:ln w="12700">
            <a:solidFill>
              <a:srgbClr val="0FA3B1"/>
            </a:solidFill>
            <a:prstDash val="solid"/>
          </a:ln>
        </p:spPr>
      </p:sp>
      <p:sp>
        <p:nvSpPr>
          <p:cNvPr id="20" name="Text 17"/>
          <p:cNvSpPr txBox="1"/>
          <p:nvPr/>
        </p:nvSpPr>
        <p:spPr>
          <a:xfrm>
            <a:off x="8275320" y="34930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1" name="Text 18"/>
          <p:cNvSpPr txBox="1"/>
          <p:nvPr/>
        </p:nvSpPr>
        <p:spPr>
          <a:xfrm>
            <a:off x="8869680" y="3493008"/>
            <a:ext cx="2542032" cy="45720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Choose good routes</a:t>
            </a:r>
            <a:endParaRPr lang="en-US" sz="1600" dirty="0"/>
          </a:p>
        </p:txBody>
      </p:sp>
      <p:sp>
        <p:nvSpPr>
          <p:cNvPr id="22" name="Text 19"/>
          <p:cNvSpPr txBox="1"/>
          <p:nvPr/>
        </p:nvSpPr>
        <p:spPr>
          <a:xfrm>
            <a:off x="8275320" y="4069080"/>
            <a:ext cx="3136392" cy="2011680"/>
          </a:xfrm>
          <a:prstGeom prst="rect">
            <a:avLst/>
          </a:prstGeom>
          <a:noFill/>
          <a:ln/>
        </p:spPr>
        <p:txBody>
          <a:bodyPr wrap="square" lIns="0" tIns="0" rIns="0" bIns="0" rtlCol="0" anchor="t"/>
          <a:lstStyle/>
          <a:p>
            <a:pPr indent="0" marL="0">
              <a:buNone/>
            </a:pPr>
            <a:r>
              <a:rPr lang="en-US" sz="1500" dirty="0">
                <a:solidFill>
                  <a:srgbClr val="1B2B3A"/>
                </a:solidFill>
                <a:latin typeface="Calibri" pitchFamily="34" charset="0"/>
                <a:ea typeface="Calibri" pitchFamily="34" charset="-122"/>
                <a:cs typeface="Calibri" pitchFamily="34" charset="-120"/>
              </a:rPr>
              <a:t>Pick routes using reachability information and </a:t>
            </a:r>
            <a:pPr indent="0" marL="0">
              <a:buNone/>
            </a:pPr>
            <a:r>
              <a:rPr lang="en-US" sz="1500" b="1" dirty="0">
                <a:solidFill>
                  <a:srgbClr val="1B2B3A"/>
                </a:solidFill>
                <a:latin typeface="Calibri" pitchFamily="34" charset="0"/>
                <a:ea typeface="Calibri" pitchFamily="34" charset="-122"/>
                <a:cs typeface="Calibri" pitchFamily="34" charset="-120"/>
              </a:rPr>
              <a:t>AS policy</a:t>
            </a:r>
            <a:pPr indent="0" marL="0">
              <a:buNone/>
            </a:pPr>
            <a:r>
              <a:rPr lang="en-US" sz="1500" dirty="0">
                <a:solidFill>
                  <a:srgbClr val="1B2B3A"/>
                </a:solidFill>
                <a:latin typeface="Calibri" pitchFamily="34" charset="0"/>
                <a:ea typeface="Calibri" pitchFamily="34" charset="-122"/>
                <a:cs typeface="Calibri" pitchFamily="34" charset="-120"/>
              </a:rPr>
              <a:t>.</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0972800" cy="274320"/>
          </a:xfrm>
          <a:prstGeom prst="rect">
            <a:avLst/>
          </a:prstGeom>
          <a:noFill/>
          <a:ln/>
        </p:spPr>
        <p:txBody>
          <a:bodyPr wrap="square" lIns="0" tIns="0" rIns="0" bIns="0" rtlCol="0" anchor="t"/>
          <a:lstStyle/>
          <a:p>
            <a:pPr indent="0" marL="0">
              <a:buNone/>
            </a:pPr>
            <a:r>
              <a:rPr lang="en-US" sz="1200" b="1" spc="200" kern="0" dirty="0">
                <a:solidFill>
                  <a:srgbClr val="0FA3B1"/>
                </a:solidFill>
                <a:latin typeface="Calibri" pitchFamily="34" charset="0"/>
                <a:ea typeface="Calibri" pitchFamily="34" charset="-122"/>
                <a:cs typeface="Calibri" pitchFamily="34" charset="-120"/>
              </a:rPr>
              <a:t>BGP · PART 01</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eBGP vs. iBGP &amp; BGP Message Types</a:t>
            </a:r>
            <a:endParaRPr lang="en-US" sz="3000" dirty="0"/>
          </a:p>
        </p:txBody>
      </p:sp>
      <p:sp>
        <p:nvSpPr>
          <p:cNvPr id="5" name="Text 2"/>
          <p:cNvSpPr txBox="1"/>
          <p:nvPr/>
        </p:nvSpPr>
        <p:spPr>
          <a:xfrm>
            <a:off x="548640" y="1371600"/>
            <a:ext cx="10972800" cy="365760"/>
          </a:xfrm>
          <a:prstGeom prst="rect">
            <a:avLst/>
          </a:prstGeom>
          <a:noFill/>
          <a:ln/>
        </p:spPr>
        <p:txBody>
          <a:bodyPr wrap="square" lIns="0" tIns="0" rIns="0" bIns="0" rtlCol="0" anchor="t"/>
          <a:lstStyle/>
          <a:p>
            <a:pPr indent="0" marL="0">
              <a:buNone/>
            </a:pPr>
            <a:r>
              <a:rPr lang="en-US" sz="1600" dirty="0">
                <a:solidFill>
                  <a:srgbClr val="1B2B3A"/>
                </a:solidFill>
                <a:latin typeface="Calibri" pitchFamily="34" charset="0"/>
                <a:ea typeface="Calibri" pitchFamily="34" charset="-122"/>
                <a:cs typeface="Calibri" pitchFamily="34" charset="-120"/>
              </a:rPr>
              <a:t>BGP peers exchange routes over semi-permanent </a:t>
            </a:r>
            <a:pPr indent="0" marL="0">
              <a:buNone/>
            </a:pPr>
            <a:r>
              <a:rPr lang="en-US" sz="1600" b="1" dirty="0">
                <a:solidFill>
                  <a:srgbClr val="1B2B3A"/>
                </a:solidFill>
                <a:latin typeface="Calibri" pitchFamily="34" charset="0"/>
                <a:ea typeface="Calibri" pitchFamily="34" charset="-122"/>
                <a:cs typeface="Calibri" pitchFamily="34" charset="-120"/>
              </a:rPr>
              <a:t>TCP connections on port 179</a:t>
            </a:r>
            <a:pPr indent="0" marL="0">
              <a:buNone/>
            </a:pPr>
            <a:r>
              <a:rPr lang="en-US" sz="1600" dirty="0">
                <a:solidFill>
                  <a:srgbClr val="1B2B3A"/>
                </a:solidFill>
                <a:latin typeface="Calibri" pitchFamily="34" charset="0"/>
                <a:ea typeface="Calibri" pitchFamily="34" charset="-122"/>
                <a:cs typeface="Calibri" pitchFamily="34" charset="-120"/>
              </a:rPr>
              <a:t>.</a:t>
            </a:r>
            <a:endParaRPr lang="en-US" sz="1400" dirty="0"/>
          </a:p>
        </p:txBody>
      </p:sp>
      <p:sp>
        <p:nvSpPr>
          <p:cNvPr id="6" name="Shape 3"/>
          <p:cNvSpPr/>
          <p:nvPr/>
        </p:nvSpPr>
        <p:spPr>
          <a:xfrm>
            <a:off x="548640" y="1920240"/>
            <a:ext cx="5422392" cy="1737360"/>
          </a:xfrm>
          <a:prstGeom prst="roundRect">
            <a:avLst>
              <a:gd name="adj" fmla="val 6316"/>
            </a:avLst>
          </a:prstGeom>
          <a:solidFill>
            <a:srgbClr val="EAF4F6"/>
          </a:solidFill>
          <a:ln w="12700">
            <a:solidFill>
              <a:srgbClr val="EAF4F6"/>
            </a:solidFill>
            <a:prstDash val="solid"/>
          </a:ln>
        </p:spPr>
      </p:sp>
      <p:sp>
        <p:nvSpPr>
          <p:cNvPr id="7" name="Text 4"/>
          <p:cNvSpPr txBox="1"/>
          <p:nvPr/>
        </p:nvSpPr>
        <p:spPr>
          <a:xfrm>
            <a:off x="777240" y="2103120"/>
            <a:ext cx="4965192" cy="411480"/>
          </a:xfrm>
          <a:prstGeom prst="rect">
            <a:avLst/>
          </a:prstGeom>
          <a:noFill/>
          <a:ln/>
        </p:spPr>
        <p:txBody>
          <a:bodyPr wrap="square" lIns="0" tIns="0" rIns="0" bIns="0" rtlCol="0" anchor="ctr"/>
          <a:lstStyle/>
          <a:p>
            <a:pPr indent="0" marL="0">
              <a:buNone/>
            </a:pPr>
            <a:r>
              <a:rPr lang="en-US" sz="1700" b="1" dirty="0">
                <a:solidFill>
                  <a:srgbClr val="0B1F3A"/>
                </a:solidFill>
                <a:latin typeface="Cambria" pitchFamily="34" charset="0"/>
                <a:ea typeface="Cambria" pitchFamily="34" charset="-122"/>
                <a:cs typeface="Cambria" pitchFamily="34" charset="-120"/>
              </a:rPr>
              <a:t>eBGP (external)</a:t>
            </a:r>
            <a:endParaRPr lang="en-US" sz="1700" dirty="0"/>
          </a:p>
        </p:txBody>
      </p:sp>
      <p:sp>
        <p:nvSpPr>
          <p:cNvPr id="8" name="Text 5"/>
          <p:cNvSpPr txBox="1"/>
          <p:nvPr/>
        </p:nvSpPr>
        <p:spPr>
          <a:xfrm>
            <a:off x="777240" y="2606040"/>
            <a:ext cx="4965192" cy="914400"/>
          </a:xfrm>
          <a:prstGeom prst="rect">
            <a:avLst/>
          </a:prstGeom>
          <a:noFill/>
          <a:ln/>
        </p:spPr>
        <p:txBody>
          <a:bodyPr wrap="square" lIns="0" tIns="0" rIns="0" bIns="0" rtlCol="0" anchor="t"/>
          <a:lstStyle/>
          <a:p>
            <a:pPr indent="0" marL="0">
              <a:spcAft>
                <a:spcPts val="600"/>
              </a:spcAft>
              <a:buNone/>
            </a:pPr>
            <a:r>
              <a:rPr lang="en-US" sz="1400" dirty="0">
                <a:solidFill>
                  <a:srgbClr val="1B2B3A"/>
                </a:solidFill>
                <a:latin typeface="Calibri" pitchFamily="34" charset="0"/>
                <a:ea typeface="Calibri" pitchFamily="34" charset="-122"/>
                <a:cs typeface="Calibri" pitchFamily="34" charset="-120"/>
              </a:rPr>
              <a:t>Session between routers in </a:t>
            </a:r>
            <a:pPr indent="0" marL="0">
              <a:spcAft>
                <a:spcPts val="600"/>
              </a:spcAft>
              <a:buNone/>
            </a:pPr>
            <a:r>
              <a:rPr lang="en-US" sz="1400" b="1" dirty="0">
                <a:solidFill>
                  <a:srgbClr val="1B2B3A"/>
                </a:solidFill>
                <a:latin typeface="Calibri" pitchFamily="34" charset="0"/>
                <a:ea typeface="Calibri" pitchFamily="34" charset="-122"/>
                <a:cs typeface="Calibri" pitchFamily="34" charset="-120"/>
              </a:rPr>
              <a:t>two different ASs</a:t>
            </a:r>
            <a:pPr indent="0" marL="0">
              <a:spcAft>
                <a:spcPts val="600"/>
              </a:spcAft>
              <a:buNone/>
            </a:pPr>
            <a:r>
              <a:rPr lang="en-US" sz="1400" dirty="0">
                <a:solidFill>
                  <a:srgbClr val="1B2B3A"/>
                </a:solidFill>
                <a:latin typeface="Calibri" pitchFamily="34" charset="0"/>
                <a:ea typeface="Calibri" pitchFamily="34" charset="-122"/>
                <a:cs typeface="Calibri" pitchFamily="34" charset="-120"/>
              </a:rPr>
              <a:t>, usually directly connected gateways.</a:t>
            </a:r>
            <a:endParaRPr lang="en-US" sz="1400" dirty="0"/>
          </a:p>
        </p:txBody>
      </p:sp>
      <p:sp>
        <p:nvSpPr>
          <p:cNvPr id="9" name="Shape 6"/>
          <p:cNvSpPr/>
          <p:nvPr/>
        </p:nvSpPr>
        <p:spPr>
          <a:xfrm>
            <a:off x="6217920" y="1920240"/>
            <a:ext cx="5422392" cy="1737360"/>
          </a:xfrm>
          <a:prstGeom prst="roundRect">
            <a:avLst>
              <a:gd name="adj" fmla="val 6316"/>
            </a:avLst>
          </a:prstGeom>
          <a:solidFill>
            <a:srgbClr val="EAF4F6"/>
          </a:solidFill>
          <a:ln w="12700">
            <a:solidFill>
              <a:srgbClr val="EAF4F6"/>
            </a:solidFill>
            <a:prstDash val="solid"/>
          </a:ln>
        </p:spPr>
      </p:sp>
      <p:sp>
        <p:nvSpPr>
          <p:cNvPr id="10" name="Text 7"/>
          <p:cNvSpPr txBox="1"/>
          <p:nvPr/>
        </p:nvSpPr>
        <p:spPr>
          <a:xfrm>
            <a:off x="6446520" y="2103120"/>
            <a:ext cx="4965192" cy="411480"/>
          </a:xfrm>
          <a:prstGeom prst="rect">
            <a:avLst/>
          </a:prstGeom>
          <a:noFill/>
          <a:ln/>
        </p:spPr>
        <p:txBody>
          <a:bodyPr wrap="square" lIns="0" tIns="0" rIns="0" bIns="0" rtlCol="0" anchor="ctr"/>
          <a:lstStyle/>
          <a:p>
            <a:pPr indent="0" marL="0">
              <a:buNone/>
            </a:pPr>
            <a:r>
              <a:rPr lang="en-US" sz="1700" b="1" dirty="0">
                <a:solidFill>
                  <a:srgbClr val="0B1F3A"/>
                </a:solidFill>
                <a:latin typeface="Cambria" pitchFamily="34" charset="0"/>
                <a:ea typeface="Cambria" pitchFamily="34" charset="-122"/>
                <a:cs typeface="Cambria" pitchFamily="34" charset="-120"/>
              </a:rPr>
              <a:t>iBGP (internal)</a:t>
            </a:r>
            <a:endParaRPr lang="en-US" sz="1700" dirty="0"/>
          </a:p>
        </p:txBody>
      </p:sp>
      <p:sp>
        <p:nvSpPr>
          <p:cNvPr id="11" name="Text 8"/>
          <p:cNvSpPr txBox="1"/>
          <p:nvPr/>
        </p:nvSpPr>
        <p:spPr>
          <a:xfrm>
            <a:off x="6446520" y="2606040"/>
            <a:ext cx="4965192" cy="914400"/>
          </a:xfrm>
          <a:prstGeom prst="rect">
            <a:avLst/>
          </a:prstGeom>
          <a:noFill/>
          <a:ln/>
        </p:spPr>
        <p:txBody>
          <a:bodyPr wrap="square" lIns="0" tIns="0" rIns="0" bIns="0" rtlCol="0" anchor="t"/>
          <a:lstStyle/>
          <a:p>
            <a:pPr indent="0" marL="0">
              <a:spcAft>
                <a:spcPts val="600"/>
              </a:spcAft>
              <a:buNone/>
            </a:pPr>
            <a:r>
              <a:rPr lang="en-US" sz="1400" dirty="0">
                <a:solidFill>
                  <a:srgbClr val="1B2B3A"/>
                </a:solidFill>
                <a:latin typeface="Calibri" pitchFamily="34" charset="0"/>
                <a:ea typeface="Calibri" pitchFamily="34" charset="-122"/>
                <a:cs typeface="Calibri" pitchFamily="34" charset="-120"/>
              </a:rPr>
              <a:t>Session between routers in the </a:t>
            </a:r>
            <a:pPr indent="0" marL="0">
              <a:spcAft>
                <a:spcPts val="600"/>
              </a:spcAft>
              <a:buNone/>
            </a:pPr>
            <a:r>
              <a:rPr lang="en-US" sz="1400" b="1" dirty="0">
                <a:solidFill>
                  <a:srgbClr val="1B2B3A"/>
                </a:solidFill>
                <a:latin typeface="Calibri" pitchFamily="34" charset="0"/>
                <a:ea typeface="Calibri" pitchFamily="34" charset="-122"/>
                <a:cs typeface="Calibri" pitchFamily="34" charset="-120"/>
              </a:rPr>
              <a:t>same AS</a:t>
            </a:r>
            <a:pPr indent="0" marL="0">
              <a:spcAft>
                <a:spcPts val="600"/>
              </a:spcAft>
              <a:buNone/>
            </a:pPr>
            <a:r>
              <a:rPr lang="en-US" sz="1400" dirty="0">
                <a:solidFill>
                  <a:srgbClr val="1B2B3A"/>
                </a:solidFill>
                <a:latin typeface="Calibri" pitchFamily="34" charset="0"/>
                <a:ea typeface="Calibri" pitchFamily="34" charset="-122"/>
                <a:cs typeface="Calibri" pitchFamily="34" charset="-120"/>
              </a:rPr>
              <a:t>; distributes external prefix reachability inside.</a:t>
            </a:r>
            <a:endParaRPr lang="en-US" sz="1400" dirty="0"/>
          </a:p>
        </p:txBody>
      </p:sp>
      <p:sp>
        <p:nvSpPr>
          <p:cNvPr id="12" name="Shape 9"/>
          <p:cNvSpPr/>
          <p:nvPr/>
        </p:nvSpPr>
        <p:spPr>
          <a:xfrm>
            <a:off x="548640" y="3840480"/>
            <a:ext cx="2651760" cy="2377440"/>
          </a:xfrm>
          <a:prstGeom prst="roundRect">
            <a:avLst>
              <a:gd name="adj" fmla="val 4615"/>
            </a:avLst>
          </a:prstGeom>
          <a:solidFill>
            <a:srgbClr val="0B1F3A"/>
          </a:solidFill>
          <a:ln w="12700">
            <a:solidFill>
              <a:srgbClr val="0B1F3A"/>
            </a:solidFill>
            <a:prstDash val="solid"/>
          </a:ln>
        </p:spPr>
      </p:sp>
      <p:sp>
        <p:nvSpPr>
          <p:cNvPr id="13" name="Text 10"/>
          <p:cNvSpPr txBox="1"/>
          <p:nvPr/>
        </p:nvSpPr>
        <p:spPr>
          <a:xfrm>
            <a:off x="777240" y="4023360"/>
            <a:ext cx="2194560" cy="41148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OPEN</a:t>
            </a:r>
            <a:endParaRPr lang="en-US" sz="1700" dirty="0"/>
          </a:p>
        </p:txBody>
      </p:sp>
      <p:sp>
        <p:nvSpPr>
          <p:cNvPr id="14" name="Text 11"/>
          <p:cNvSpPr txBox="1"/>
          <p:nvPr/>
        </p:nvSpPr>
        <p:spPr>
          <a:xfrm>
            <a:off x="777240" y="4526280"/>
            <a:ext cx="2194560" cy="1554480"/>
          </a:xfrm>
          <a:prstGeom prst="rect">
            <a:avLst/>
          </a:prstGeom>
          <a:noFill/>
          <a:ln/>
        </p:spPr>
        <p:txBody>
          <a:bodyPr wrap="square" lIns="0" tIns="0" rIns="0" bIns="0" rtlCol="0" anchor="t"/>
          <a:lstStyle/>
          <a:p>
            <a:pPr indent="0" marL="0">
              <a:spcAft>
                <a:spcPts val="600"/>
              </a:spcAft>
              <a:buNone/>
            </a:pPr>
            <a:r>
              <a:rPr lang="en-US" sz="1400" dirty="0">
                <a:solidFill>
                  <a:srgbClr val="E6EEF5"/>
                </a:solidFill>
                <a:latin typeface="Calibri" pitchFamily="34" charset="0"/>
                <a:ea typeface="Calibri" pitchFamily="34" charset="-122"/>
                <a:cs typeface="Calibri" pitchFamily="34" charset="-120"/>
              </a:rPr>
              <a:t>Opens a session and authenticates the sender.</a:t>
            </a:r>
            <a:endParaRPr lang="en-US" sz="1400" dirty="0"/>
          </a:p>
        </p:txBody>
      </p:sp>
      <p:sp>
        <p:nvSpPr>
          <p:cNvPr id="15" name="Shape 12"/>
          <p:cNvSpPr/>
          <p:nvPr/>
        </p:nvSpPr>
        <p:spPr>
          <a:xfrm>
            <a:off x="3346704" y="3840480"/>
            <a:ext cx="2651760" cy="2377440"/>
          </a:xfrm>
          <a:prstGeom prst="roundRect">
            <a:avLst>
              <a:gd name="adj" fmla="val 4615"/>
            </a:avLst>
          </a:prstGeom>
          <a:solidFill>
            <a:srgbClr val="EAF4F6"/>
          </a:solidFill>
          <a:ln w="12700">
            <a:solidFill>
              <a:srgbClr val="EAF4F6"/>
            </a:solidFill>
            <a:prstDash val="solid"/>
          </a:ln>
        </p:spPr>
      </p:sp>
      <p:sp>
        <p:nvSpPr>
          <p:cNvPr id="16" name="Text 13"/>
          <p:cNvSpPr txBox="1"/>
          <p:nvPr/>
        </p:nvSpPr>
        <p:spPr>
          <a:xfrm>
            <a:off x="3575304" y="4023360"/>
            <a:ext cx="2194560" cy="411480"/>
          </a:xfrm>
          <a:prstGeom prst="rect">
            <a:avLst/>
          </a:prstGeom>
          <a:noFill/>
          <a:ln/>
        </p:spPr>
        <p:txBody>
          <a:bodyPr wrap="square" lIns="0" tIns="0" rIns="0" bIns="0" rtlCol="0" anchor="ctr"/>
          <a:lstStyle/>
          <a:p>
            <a:pPr indent="0" marL="0">
              <a:buNone/>
            </a:pPr>
            <a:r>
              <a:rPr lang="en-US" sz="1700" b="1" dirty="0">
                <a:solidFill>
                  <a:srgbClr val="0B1F3A"/>
                </a:solidFill>
                <a:latin typeface="Cambria" pitchFamily="34" charset="0"/>
                <a:ea typeface="Cambria" pitchFamily="34" charset="-122"/>
                <a:cs typeface="Cambria" pitchFamily="34" charset="-120"/>
              </a:rPr>
              <a:t>UPDATE</a:t>
            </a:r>
            <a:endParaRPr lang="en-US" sz="1700" dirty="0"/>
          </a:p>
        </p:txBody>
      </p:sp>
      <p:sp>
        <p:nvSpPr>
          <p:cNvPr id="17" name="Text 14"/>
          <p:cNvSpPr txBox="1"/>
          <p:nvPr/>
        </p:nvSpPr>
        <p:spPr>
          <a:xfrm>
            <a:off x="3575304" y="4526280"/>
            <a:ext cx="2194560" cy="1554480"/>
          </a:xfrm>
          <a:prstGeom prst="rect">
            <a:avLst/>
          </a:prstGeom>
          <a:noFill/>
          <a:ln/>
        </p:spPr>
        <p:txBody>
          <a:bodyPr wrap="square" lIns="0" tIns="0" rIns="0" bIns="0" rtlCol="0" anchor="t"/>
          <a:lstStyle/>
          <a:p>
            <a:pPr indent="0" marL="0">
              <a:spcAft>
                <a:spcPts val="600"/>
              </a:spcAft>
              <a:buNone/>
            </a:pPr>
            <a:r>
              <a:rPr lang="en-US" sz="1400" dirty="0">
                <a:solidFill>
                  <a:srgbClr val="1B2B3A"/>
                </a:solidFill>
                <a:latin typeface="Calibri" pitchFamily="34" charset="0"/>
                <a:ea typeface="Calibri" pitchFamily="34" charset="-122"/>
                <a:cs typeface="Calibri" pitchFamily="34" charset="-120"/>
              </a:rPr>
              <a:t>Advertises new routes (with attributes) or withdraws old ones.</a:t>
            </a:r>
            <a:endParaRPr lang="en-US" sz="1400" dirty="0"/>
          </a:p>
        </p:txBody>
      </p:sp>
      <p:sp>
        <p:nvSpPr>
          <p:cNvPr id="18" name="Shape 15"/>
          <p:cNvSpPr/>
          <p:nvPr/>
        </p:nvSpPr>
        <p:spPr>
          <a:xfrm>
            <a:off x="6144768" y="3840480"/>
            <a:ext cx="2651760" cy="2377440"/>
          </a:xfrm>
          <a:prstGeom prst="roundRect">
            <a:avLst>
              <a:gd name="adj" fmla="val 4615"/>
            </a:avLst>
          </a:prstGeom>
          <a:solidFill>
            <a:srgbClr val="0B1F3A"/>
          </a:solidFill>
          <a:ln w="12700">
            <a:solidFill>
              <a:srgbClr val="0B1F3A"/>
            </a:solidFill>
            <a:prstDash val="solid"/>
          </a:ln>
        </p:spPr>
      </p:sp>
      <p:sp>
        <p:nvSpPr>
          <p:cNvPr id="19" name="Text 16"/>
          <p:cNvSpPr txBox="1"/>
          <p:nvPr/>
        </p:nvSpPr>
        <p:spPr>
          <a:xfrm>
            <a:off x="6373368" y="4023360"/>
            <a:ext cx="2194560" cy="41148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KEEPALIVE</a:t>
            </a:r>
            <a:endParaRPr lang="en-US" sz="1700" dirty="0"/>
          </a:p>
        </p:txBody>
      </p:sp>
      <p:sp>
        <p:nvSpPr>
          <p:cNvPr id="20" name="Text 17"/>
          <p:cNvSpPr txBox="1"/>
          <p:nvPr/>
        </p:nvSpPr>
        <p:spPr>
          <a:xfrm>
            <a:off x="6373368" y="4526280"/>
            <a:ext cx="2194560" cy="1554480"/>
          </a:xfrm>
          <a:prstGeom prst="rect">
            <a:avLst/>
          </a:prstGeom>
          <a:noFill/>
          <a:ln/>
        </p:spPr>
        <p:txBody>
          <a:bodyPr wrap="square" lIns="0" tIns="0" rIns="0" bIns="0" rtlCol="0" anchor="t"/>
          <a:lstStyle/>
          <a:p>
            <a:pPr indent="0" marL="0">
              <a:spcAft>
                <a:spcPts val="600"/>
              </a:spcAft>
              <a:buNone/>
            </a:pPr>
            <a:r>
              <a:rPr lang="en-US" sz="1400" dirty="0">
                <a:solidFill>
                  <a:srgbClr val="E6EEF5"/>
                </a:solidFill>
                <a:latin typeface="Calibri" pitchFamily="34" charset="0"/>
                <a:ea typeface="Calibri" pitchFamily="34" charset="-122"/>
                <a:cs typeface="Calibri" pitchFamily="34" charset="-120"/>
              </a:rPr>
              <a:t>Keeps the session alive when idle; acknowledges OPEN.</a:t>
            </a:r>
            <a:endParaRPr lang="en-US" sz="1400" dirty="0"/>
          </a:p>
        </p:txBody>
      </p:sp>
      <p:sp>
        <p:nvSpPr>
          <p:cNvPr id="21" name="Shape 18"/>
          <p:cNvSpPr/>
          <p:nvPr/>
        </p:nvSpPr>
        <p:spPr>
          <a:xfrm>
            <a:off x="8942832" y="3840480"/>
            <a:ext cx="2651760" cy="2377440"/>
          </a:xfrm>
          <a:prstGeom prst="roundRect">
            <a:avLst>
              <a:gd name="adj" fmla="val 4615"/>
            </a:avLst>
          </a:prstGeom>
          <a:solidFill>
            <a:srgbClr val="EAF4F6"/>
          </a:solidFill>
          <a:ln w="12700">
            <a:solidFill>
              <a:srgbClr val="EAF4F6"/>
            </a:solidFill>
            <a:prstDash val="solid"/>
          </a:ln>
        </p:spPr>
      </p:sp>
      <p:sp>
        <p:nvSpPr>
          <p:cNvPr id="22" name="Text 19"/>
          <p:cNvSpPr txBox="1"/>
          <p:nvPr/>
        </p:nvSpPr>
        <p:spPr>
          <a:xfrm>
            <a:off x="9171432" y="4023360"/>
            <a:ext cx="2194560" cy="411480"/>
          </a:xfrm>
          <a:prstGeom prst="rect">
            <a:avLst/>
          </a:prstGeom>
          <a:noFill/>
          <a:ln/>
        </p:spPr>
        <p:txBody>
          <a:bodyPr wrap="square" lIns="0" tIns="0" rIns="0" bIns="0" rtlCol="0" anchor="ctr"/>
          <a:lstStyle/>
          <a:p>
            <a:pPr indent="0" marL="0">
              <a:buNone/>
            </a:pPr>
            <a:r>
              <a:rPr lang="en-US" sz="1700" b="1" dirty="0">
                <a:solidFill>
                  <a:srgbClr val="0B1F3A"/>
                </a:solidFill>
                <a:latin typeface="Cambria" pitchFamily="34" charset="0"/>
                <a:ea typeface="Cambria" pitchFamily="34" charset="-122"/>
                <a:cs typeface="Cambria" pitchFamily="34" charset="-120"/>
              </a:rPr>
              <a:t>NOTIFICATION</a:t>
            </a:r>
            <a:endParaRPr lang="en-US" sz="1700" dirty="0"/>
          </a:p>
        </p:txBody>
      </p:sp>
      <p:sp>
        <p:nvSpPr>
          <p:cNvPr id="23" name="Text 20"/>
          <p:cNvSpPr txBox="1"/>
          <p:nvPr/>
        </p:nvSpPr>
        <p:spPr>
          <a:xfrm>
            <a:off x="9171432" y="4526280"/>
            <a:ext cx="2194560" cy="1554480"/>
          </a:xfrm>
          <a:prstGeom prst="rect">
            <a:avLst/>
          </a:prstGeom>
          <a:noFill/>
          <a:ln/>
        </p:spPr>
        <p:txBody>
          <a:bodyPr wrap="square" lIns="0" tIns="0" rIns="0" bIns="0" rtlCol="0" anchor="t"/>
          <a:lstStyle/>
          <a:p>
            <a:pPr indent="0" marL="0">
              <a:spcAft>
                <a:spcPts val="600"/>
              </a:spcAft>
              <a:buNone/>
            </a:pPr>
            <a:r>
              <a:rPr lang="en-US" sz="1400" dirty="0">
                <a:solidFill>
                  <a:srgbClr val="1B2B3A"/>
                </a:solidFill>
                <a:latin typeface="Calibri" pitchFamily="34" charset="0"/>
                <a:ea typeface="Calibri" pitchFamily="34" charset="-122"/>
                <a:cs typeface="Calibri" pitchFamily="34" charset="-120"/>
              </a:rPr>
              <a:t>Reports an error and closes the connection.</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0972800" cy="274320"/>
          </a:xfrm>
          <a:prstGeom prst="rect">
            <a:avLst/>
          </a:prstGeom>
          <a:noFill/>
          <a:ln/>
        </p:spPr>
        <p:txBody>
          <a:bodyPr wrap="square" lIns="0" tIns="0" rIns="0" bIns="0" rtlCol="0" anchor="t"/>
          <a:lstStyle/>
          <a:p>
            <a:pPr indent="0" marL="0">
              <a:buNone/>
            </a:pPr>
            <a:r>
              <a:rPr lang="en-US" sz="1200" b="1" spc="200" kern="0" dirty="0">
                <a:solidFill>
                  <a:srgbClr val="0FA3B1"/>
                </a:solidFill>
                <a:latin typeface="Calibri" pitchFamily="34" charset="0"/>
                <a:ea typeface="Calibri" pitchFamily="34" charset="-122"/>
                <a:cs typeface="Calibri" pitchFamily="34" charset="-120"/>
              </a:rPr>
              <a:t>BGP · PART 01</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BGP Attributes: AS-PATH and NEXT-HOP</a:t>
            </a:r>
            <a:endParaRPr lang="en-US" sz="3000" dirty="0"/>
          </a:p>
        </p:txBody>
      </p:sp>
      <p:sp>
        <p:nvSpPr>
          <p:cNvPr id="5" name="Shape 2"/>
          <p:cNvSpPr/>
          <p:nvPr/>
        </p:nvSpPr>
        <p:spPr>
          <a:xfrm>
            <a:off x="548640" y="1463040"/>
            <a:ext cx="11091672" cy="731520"/>
          </a:xfrm>
          <a:prstGeom prst="roundRect">
            <a:avLst>
              <a:gd name="adj" fmla="val 15000"/>
            </a:avLst>
          </a:prstGeom>
          <a:solidFill>
            <a:srgbClr val="0B1F3A"/>
          </a:solidFill>
          <a:ln w="12700">
            <a:solidFill>
              <a:srgbClr val="0B1F3A"/>
            </a:solidFill>
            <a:prstDash val="solid"/>
          </a:ln>
        </p:spPr>
      </p:sp>
      <p:sp>
        <p:nvSpPr>
          <p:cNvPr id="6" name="Text 3"/>
          <p:cNvSpPr txBox="1"/>
          <p:nvPr/>
        </p:nvSpPr>
        <p:spPr>
          <a:xfrm>
            <a:off x="822960" y="1463040"/>
            <a:ext cx="10515600" cy="731520"/>
          </a:xfrm>
          <a:prstGeom prst="rect">
            <a:avLst/>
          </a:prstGeom>
          <a:noFill/>
          <a:ln/>
        </p:spPr>
        <p:txBody>
          <a:bodyPr wrap="square" lIns="0" tIns="0" rIns="0" bIns="0" rtlCol="0" anchor="ctr"/>
          <a:lstStyle/>
          <a:p>
            <a:pPr indent="0" marL="0">
              <a:buNone/>
            </a:pPr>
            <a:r>
              <a:rPr lang="en-US" sz="2200" dirty="0">
                <a:solidFill>
                  <a:srgbClr val="FFFFFF"/>
                </a:solidFill>
                <a:latin typeface="Calibri" pitchFamily="34" charset="0"/>
                <a:ea typeface="Calibri" pitchFamily="34" charset="-122"/>
                <a:cs typeface="Calibri" pitchFamily="34" charset="-120"/>
              </a:rPr>
              <a:t>BGP Route  =  Prefix (e.g. 138.16.64/22)  +  BGP Attributes</a:t>
            </a:r>
            <a:endParaRPr lang="en-US" sz="1400" dirty="0"/>
          </a:p>
        </p:txBody>
      </p:sp>
      <p:sp>
        <p:nvSpPr>
          <p:cNvPr id="7" name="Shape 4"/>
          <p:cNvSpPr/>
          <p:nvPr/>
        </p:nvSpPr>
        <p:spPr>
          <a:xfrm>
            <a:off x="548640" y="2468880"/>
            <a:ext cx="5422392" cy="3749040"/>
          </a:xfrm>
          <a:prstGeom prst="roundRect">
            <a:avLst>
              <a:gd name="adj" fmla="val 2927"/>
            </a:avLst>
          </a:prstGeom>
          <a:solidFill>
            <a:srgbClr val="EAF4F6"/>
          </a:solidFill>
          <a:ln w="12700">
            <a:solidFill>
              <a:srgbClr val="EAF4F6"/>
            </a:solidFill>
            <a:prstDash val="solid"/>
          </a:ln>
        </p:spPr>
      </p:sp>
      <p:sp>
        <p:nvSpPr>
          <p:cNvPr id="8" name="Text 5"/>
          <p:cNvSpPr txBox="1"/>
          <p:nvPr/>
        </p:nvSpPr>
        <p:spPr>
          <a:xfrm>
            <a:off x="777240" y="2651760"/>
            <a:ext cx="4965192" cy="411480"/>
          </a:xfrm>
          <a:prstGeom prst="rect">
            <a:avLst/>
          </a:prstGeom>
          <a:noFill/>
          <a:ln/>
        </p:spPr>
        <p:txBody>
          <a:bodyPr wrap="square" lIns="0" tIns="0" rIns="0" bIns="0" rtlCol="0" anchor="ctr"/>
          <a:lstStyle/>
          <a:p>
            <a:pPr indent="0" marL="0">
              <a:buNone/>
            </a:pPr>
            <a:r>
              <a:rPr lang="en-US" sz="1700" b="1" dirty="0">
                <a:solidFill>
                  <a:srgbClr val="0B1F3A"/>
                </a:solidFill>
                <a:latin typeface="Cambria" pitchFamily="34" charset="0"/>
                <a:ea typeface="Cambria" pitchFamily="34" charset="-122"/>
                <a:cs typeface="Cambria" pitchFamily="34" charset="-120"/>
              </a:rPr>
              <a:t>AS-PATH</a:t>
            </a:r>
            <a:endParaRPr lang="en-US" sz="1700" dirty="0"/>
          </a:p>
        </p:txBody>
      </p:sp>
      <p:sp>
        <p:nvSpPr>
          <p:cNvPr id="9" name="Text 6"/>
          <p:cNvSpPr txBox="1"/>
          <p:nvPr/>
        </p:nvSpPr>
        <p:spPr>
          <a:xfrm>
            <a:off x="777240" y="3154680"/>
            <a:ext cx="4965192" cy="2926080"/>
          </a:xfrm>
          <a:prstGeom prst="rect">
            <a:avLst/>
          </a:prstGeom>
          <a:noFill/>
          <a:ln/>
        </p:spPr>
        <p:txBody>
          <a:bodyPr wrap="square" lIns="0" tIns="0" rIns="0" bIns="0" rtlCol="0" anchor="t"/>
          <a:lstStyle/>
          <a:p>
            <a:pPr indent="0" marL="0">
              <a:spcAft>
                <a:spcPts val="600"/>
              </a:spcAft>
              <a:buNone/>
            </a:pPr>
            <a:r>
              <a:rPr lang="en-US" sz="1500" dirty="0">
                <a:solidFill>
                  <a:srgbClr val="1B2B3A"/>
                </a:solidFill>
                <a:latin typeface="Calibri" pitchFamily="34" charset="0"/>
                <a:ea typeface="Calibri" pitchFamily="34" charset="-122"/>
                <a:cs typeface="Calibri" pitchFamily="34" charset="-120"/>
              </a:rPr>
              <a:t>The ASNs the advertisement has passed through (e.g. AS2 AS3). Each AS </a:t>
            </a:r>
            <a:pPr indent="0" marL="0">
              <a:spcAft>
                <a:spcPts val="600"/>
              </a:spcAft>
              <a:buNone/>
            </a:pPr>
            <a:r>
              <a:rPr lang="en-US" sz="1500" b="1" dirty="0">
                <a:solidFill>
                  <a:srgbClr val="1B2B3A"/>
                </a:solidFill>
                <a:latin typeface="Calibri" pitchFamily="34" charset="0"/>
                <a:ea typeface="Calibri" pitchFamily="34" charset="-122"/>
                <a:cs typeface="Calibri" pitchFamily="34" charset="-120"/>
              </a:rPr>
              <a:t>prepends its own ASN</a:t>
            </a:r>
            <a:pPr indent="0" marL="0">
              <a:spcAft>
                <a:spcPts val="600"/>
              </a:spcAft>
              <a:buNone/>
            </a:pPr>
            <a:r>
              <a:rPr lang="en-US" sz="1500" dirty="0">
                <a:solidFill>
                  <a:srgbClr val="1B2B3A"/>
                </a:solidFill>
                <a:latin typeface="Calibri" pitchFamily="34" charset="0"/>
                <a:ea typeface="Calibri" pitchFamily="34" charset="-122"/>
                <a:cs typeface="Calibri" pitchFamily="34" charset="-120"/>
              </a:rPr>
              <a:t>.
</a:t>
            </a:r>
            <a:pPr indent="0" marL="0">
              <a:spcAft>
                <a:spcPts val="600"/>
              </a:spcAft>
              <a:buNone/>
            </a:pPr>
            <a:r>
              <a:rPr lang="en-US" sz="1500" b="1" dirty="0">
                <a:solidFill>
                  <a:srgbClr val="1B2B3A"/>
                </a:solidFill>
                <a:latin typeface="Calibri" pitchFamily="34" charset="0"/>
                <a:ea typeface="Calibri" pitchFamily="34" charset="-122"/>
                <a:cs typeface="Calibri" pitchFamily="34" charset="-120"/>
              </a:rPr>
              <a:t>Loop prevention:</a:t>
            </a:r>
            <a:pPr indent="0" marL="0">
              <a:spcAft>
                <a:spcPts val="600"/>
              </a:spcAft>
              <a:buNone/>
            </a:pPr>
            <a:r>
              <a:rPr lang="en-US" sz="1500" dirty="0">
                <a:solidFill>
                  <a:srgbClr val="1B2B3A"/>
                </a:solidFill>
                <a:latin typeface="Calibri" pitchFamily="34" charset="0"/>
                <a:ea typeface="Calibri" pitchFamily="34" charset="-122"/>
                <a:cs typeface="Calibri" pitchFamily="34" charset="-120"/>
              </a:rPr>
              <a:t> a router that sees its own ASN in the path </a:t>
            </a:r>
            <a:pPr indent="0" marL="0">
              <a:spcAft>
                <a:spcPts val="600"/>
              </a:spcAft>
              <a:buNone/>
            </a:pPr>
            <a:r>
              <a:rPr lang="en-US" sz="1500" b="1" dirty="0">
                <a:solidFill>
                  <a:srgbClr val="1B2B3A"/>
                </a:solidFill>
                <a:latin typeface="Calibri" pitchFamily="34" charset="0"/>
                <a:ea typeface="Calibri" pitchFamily="34" charset="-122"/>
                <a:cs typeface="Calibri" pitchFamily="34" charset="-120"/>
              </a:rPr>
              <a:t>rejects</a:t>
            </a:r>
            <a:pPr indent="0" marL="0">
              <a:spcAft>
                <a:spcPts val="600"/>
              </a:spcAft>
              <a:buNone/>
            </a:pPr>
            <a:r>
              <a:rPr lang="en-US" sz="1500" dirty="0">
                <a:solidFill>
                  <a:srgbClr val="1B2B3A"/>
                </a:solidFill>
                <a:latin typeface="Calibri" pitchFamily="34" charset="0"/>
                <a:ea typeface="Calibri" pitchFamily="34" charset="-122"/>
                <a:cs typeface="Calibri" pitchFamily="34" charset="-120"/>
              </a:rPr>
              <a:t> the advertisement.</a:t>
            </a:r>
            <a:endParaRPr lang="en-US" sz="1400" dirty="0"/>
          </a:p>
        </p:txBody>
      </p:sp>
      <p:sp>
        <p:nvSpPr>
          <p:cNvPr id="10" name="Shape 7"/>
          <p:cNvSpPr/>
          <p:nvPr/>
        </p:nvSpPr>
        <p:spPr>
          <a:xfrm>
            <a:off x="6217920" y="2468880"/>
            <a:ext cx="5422392" cy="3749040"/>
          </a:xfrm>
          <a:prstGeom prst="roundRect">
            <a:avLst>
              <a:gd name="adj" fmla="val 2927"/>
            </a:avLst>
          </a:prstGeom>
          <a:solidFill>
            <a:srgbClr val="0B1F3A"/>
          </a:solidFill>
          <a:ln w="12700">
            <a:solidFill>
              <a:srgbClr val="0B1F3A"/>
            </a:solidFill>
            <a:prstDash val="solid"/>
          </a:ln>
        </p:spPr>
      </p:sp>
      <p:sp>
        <p:nvSpPr>
          <p:cNvPr id="11" name="Text 8"/>
          <p:cNvSpPr txBox="1"/>
          <p:nvPr/>
        </p:nvSpPr>
        <p:spPr>
          <a:xfrm>
            <a:off x="6446520" y="2651760"/>
            <a:ext cx="4965192" cy="41148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NEXT-HOP</a:t>
            </a:r>
            <a:endParaRPr lang="en-US" sz="1700" dirty="0"/>
          </a:p>
        </p:txBody>
      </p:sp>
      <p:sp>
        <p:nvSpPr>
          <p:cNvPr id="12" name="Text 9"/>
          <p:cNvSpPr txBox="1"/>
          <p:nvPr/>
        </p:nvSpPr>
        <p:spPr>
          <a:xfrm>
            <a:off x="6446520" y="3154680"/>
            <a:ext cx="4965192" cy="2926080"/>
          </a:xfrm>
          <a:prstGeom prst="rect">
            <a:avLst/>
          </a:prstGeom>
          <a:noFill/>
          <a:ln/>
        </p:spPr>
        <p:txBody>
          <a:bodyPr wrap="square" lIns="0" tIns="0" rIns="0" bIns="0" rtlCol="0" anchor="t"/>
          <a:lstStyle/>
          <a:p>
            <a:pPr indent="0" marL="0">
              <a:spcAft>
                <a:spcPts val="600"/>
              </a:spcAft>
              <a:buNone/>
            </a:pPr>
            <a:r>
              <a:rPr lang="en-US" sz="1500" dirty="0">
                <a:solidFill>
                  <a:srgbClr val="E6EEF5"/>
                </a:solidFill>
                <a:latin typeface="Calibri" pitchFamily="34" charset="0"/>
                <a:ea typeface="Calibri" pitchFamily="34" charset="-122"/>
                <a:cs typeface="Calibri" pitchFamily="34" charset="-120"/>
              </a:rPr>
              <a:t>The </a:t>
            </a:r>
            <a:pPr indent="0" marL="0">
              <a:spcAft>
                <a:spcPts val="600"/>
              </a:spcAft>
              <a:buNone/>
            </a:pPr>
            <a:r>
              <a:rPr lang="en-US" sz="1500" b="1" dirty="0">
                <a:solidFill>
                  <a:srgbClr val="E6EEF5"/>
                </a:solidFill>
                <a:latin typeface="Calibri" pitchFamily="34" charset="0"/>
                <a:ea typeface="Calibri" pitchFamily="34" charset="-122"/>
                <a:cs typeface="Calibri" pitchFamily="34" charset="-120"/>
              </a:rPr>
              <a:t>IP of the router interface that starts the AS-PATH</a:t>
            </a:r>
            <a:pPr indent="0" marL="0">
              <a:spcAft>
                <a:spcPts val="600"/>
              </a:spcAft>
              <a:buNone/>
            </a:pPr>
            <a:r>
              <a:rPr lang="en-US" sz="1500" dirty="0">
                <a:solidFill>
                  <a:srgbClr val="E6EEF5"/>
                </a:solidFill>
                <a:latin typeface="Calibri" pitchFamily="34" charset="0"/>
                <a:ea typeface="Calibri" pitchFamily="34" charset="-122"/>
                <a:cs typeface="Calibri" pitchFamily="34" charset="-120"/>
              </a:rPr>
              <a:t> (the external gateway where the eBGP route entered).
</a:t>
            </a:r>
            <a:pPr indent="0" marL="0">
              <a:spcAft>
                <a:spcPts val="600"/>
              </a:spcAft>
              <a:buNone/>
            </a:pPr>
            <a:r>
              <a:rPr lang="en-US" sz="1500" b="1" dirty="0">
                <a:solidFill>
                  <a:srgbClr val="E6EEF5"/>
                </a:solidFill>
                <a:latin typeface="Calibri" pitchFamily="34" charset="0"/>
                <a:ea typeface="Calibri" pitchFamily="34" charset="-122"/>
                <a:cs typeface="Calibri" pitchFamily="34" charset="-120"/>
              </a:rPr>
              <a:t>Why crucial:</a:t>
            </a:r>
            <a:pPr indent="0" marL="0">
              <a:spcAft>
                <a:spcPts val="600"/>
              </a:spcAft>
              <a:buNone/>
            </a:pPr>
            <a:r>
              <a:rPr lang="en-US" sz="1500" dirty="0">
                <a:solidFill>
                  <a:srgbClr val="E6EEF5"/>
                </a:solidFill>
                <a:latin typeface="Calibri" pitchFamily="34" charset="0"/>
                <a:ea typeface="Calibri" pitchFamily="34" charset="-122"/>
                <a:cs typeface="Calibri" pitchFamily="34" charset="-120"/>
              </a:rPr>
              <a:t> it bridges BGP and OSPF; internal routers look up NEXT-HOP in their OSPF table to find the exit interface.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0972800" cy="274320"/>
          </a:xfrm>
          <a:prstGeom prst="rect">
            <a:avLst/>
          </a:prstGeom>
          <a:noFill/>
          <a:ln/>
        </p:spPr>
        <p:txBody>
          <a:bodyPr wrap="square" lIns="0" tIns="0" rIns="0" bIns="0" rtlCol="0" anchor="t"/>
          <a:lstStyle/>
          <a:p>
            <a:pPr indent="0" marL="0">
              <a:buNone/>
            </a:pPr>
            <a:r>
              <a:rPr lang="en-US" sz="1200" b="1" spc="200" kern="0" dirty="0">
                <a:solidFill>
                  <a:srgbClr val="0FA3B1"/>
                </a:solidFill>
                <a:latin typeface="Calibri" pitchFamily="34" charset="0"/>
                <a:ea typeface="Calibri" pitchFamily="34" charset="-122"/>
                <a:cs typeface="Calibri" pitchFamily="34" charset="-120"/>
              </a:rPr>
              <a:t>BGP · PART 02</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Hot Potato Routing &amp; BGP Route Selection</a:t>
            </a:r>
            <a:endParaRPr lang="en-US" sz="3000" dirty="0"/>
          </a:p>
        </p:txBody>
      </p:sp>
      <p:sp>
        <p:nvSpPr>
          <p:cNvPr id="5" name="Shape 2"/>
          <p:cNvSpPr/>
          <p:nvPr/>
        </p:nvSpPr>
        <p:spPr>
          <a:xfrm>
            <a:off x="548640" y="1463040"/>
            <a:ext cx="4389120" cy="4754880"/>
          </a:xfrm>
          <a:prstGeom prst="roundRect">
            <a:avLst>
              <a:gd name="adj" fmla="val 2500"/>
            </a:avLst>
          </a:prstGeom>
          <a:solidFill>
            <a:srgbClr val="0B1F3A"/>
          </a:solidFill>
          <a:ln w="12700">
            <a:solidFill>
              <a:srgbClr val="0B1F3A"/>
            </a:solidFill>
            <a:prstDash val="solid"/>
          </a:ln>
        </p:spPr>
      </p:sp>
      <p:sp>
        <p:nvSpPr>
          <p:cNvPr id="6" name="Text 3"/>
          <p:cNvSpPr txBox="1"/>
          <p:nvPr/>
        </p:nvSpPr>
        <p:spPr>
          <a:xfrm>
            <a:off x="777240" y="1645920"/>
            <a:ext cx="3931920" cy="41148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Hot Potato Routing</a:t>
            </a:r>
            <a:endParaRPr lang="en-US" sz="1700" dirty="0"/>
          </a:p>
        </p:txBody>
      </p:sp>
      <p:sp>
        <p:nvSpPr>
          <p:cNvPr id="7" name="Text 4"/>
          <p:cNvSpPr txBox="1"/>
          <p:nvPr/>
        </p:nvSpPr>
        <p:spPr>
          <a:xfrm>
            <a:off x="777240" y="2148840"/>
            <a:ext cx="3931920" cy="3931920"/>
          </a:xfrm>
          <a:prstGeom prst="rect">
            <a:avLst/>
          </a:prstGeom>
          <a:noFill/>
          <a:ln/>
        </p:spPr>
        <p:txBody>
          <a:bodyPr wrap="square" lIns="0" tIns="0" rIns="0" bIns="0" rtlCol="0" anchor="t"/>
          <a:lstStyle/>
          <a:p>
            <a:pPr indent="0" marL="0">
              <a:spcAft>
                <a:spcPts val="600"/>
              </a:spcAft>
              <a:buNone/>
            </a:pPr>
            <a:r>
              <a:rPr lang="en-US" sz="1500" dirty="0">
                <a:solidFill>
                  <a:srgbClr val="E6EEF5"/>
                </a:solidFill>
                <a:latin typeface="Calibri" pitchFamily="34" charset="0"/>
                <a:ea typeface="Calibri" pitchFamily="34" charset="-122"/>
                <a:cs typeface="Calibri" pitchFamily="34" charset="-120"/>
              </a:rPr>
              <a:t>A router in AS1 learns prefix X is reachable via gateways 1b and 1c.
</a:t>
            </a:r>
            <a:pPr indent="0" marL="0">
              <a:spcAft>
                <a:spcPts val="600"/>
              </a:spcAft>
              <a:buNone/>
            </a:pPr>
            <a:r>
              <a:rPr lang="en-US" sz="1500" b="1" dirty="0">
                <a:solidFill>
                  <a:srgbClr val="E6EEF5"/>
                </a:solidFill>
                <a:latin typeface="Calibri" pitchFamily="34" charset="0"/>
                <a:ea typeface="Calibri" pitchFamily="34" charset="-122"/>
                <a:cs typeface="Calibri" pitchFamily="34" charset="-120"/>
              </a:rPr>
              <a:t>Rule:</a:t>
            </a:r>
            <a:pPr indent="0" marL="0">
              <a:spcAft>
                <a:spcPts val="600"/>
              </a:spcAft>
              <a:buNone/>
            </a:pPr>
            <a:r>
              <a:rPr lang="en-US" sz="1500" dirty="0">
                <a:solidFill>
                  <a:srgbClr val="E6EEF5"/>
                </a:solidFill>
                <a:latin typeface="Calibri" pitchFamily="34" charset="0"/>
                <a:ea typeface="Calibri" pitchFamily="34" charset="-122"/>
                <a:cs typeface="Calibri" pitchFamily="34" charset="-120"/>
              </a:rPr>
              <a:t> forward to the gateway with the </a:t>
            </a:r>
            <a:pPr indent="0" marL="0">
              <a:spcAft>
                <a:spcPts val="600"/>
              </a:spcAft>
              <a:buNone/>
            </a:pPr>
            <a:r>
              <a:rPr lang="en-US" sz="1500" b="1" dirty="0">
                <a:solidFill>
                  <a:srgbClr val="E6EEF5"/>
                </a:solidFill>
                <a:latin typeface="Calibri" pitchFamily="34" charset="0"/>
                <a:ea typeface="Calibri" pitchFamily="34" charset="-122"/>
                <a:cs typeface="Calibri" pitchFamily="34" charset="-120"/>
              </a:rPr>
              <a:t>smallest intra-AS (OSPF) cost</a:t>
            </a:r>
            <a:pPr indent="0" marL="0">
              <a:spcAft>
                <a:spcPts val="600"/>
              </a:spcAft>
              <a:buNone/>
            </a:pPr>
            <a:r>
              <a:rPr lang="en-US" sz="1500" dirty="0">
                <a:solidFill>
                  <a:srgbClr val="E6EEF5"/>
                </a:solidFill>
                <a:latin typeface="Calibri" pitchFamily="34" charset="0"/>
                <a:ea typeface="Calibri" pitchFamily="34" charset="-122"/>
                <a:cs typeface="Calibri" pitchFamily="34" charset="-120"/>
              </a:rPr>
              <a:t>, ignoring the cost beyond it.</a:t>
            </a:r>
            <a:endParaRPr lang="en-US" sz="1400" dirty="0"/>
          </a:p>
          <a:p>
            <a:pPr indent="0" marL="0">
              <a:spcAft>
                <a:spcPts val="600"/>
              </a:spcAft>
              <a:buNone/>
            </a:pPr>
            <a:endParaRPr lang="en-US" sz="1400" dirty="0"/>
          </a:p>
          <a:p>
            <a:pPr indent="0" marL="0">
              <a:spcAft>
                <a:spcPts val="600"/>
              </a:spcAft>
              <a:buNone/>
            </a:pPr>
            <a:r>
              <a:rPr lang="en-US" sz="1500" dirty="0">
                <a:solidFill>
                  <a:srgbClr val="E6EEF5"/>
                </a:solidFill>
                <a:latin typeface="Calibri" pitchFamily="34" charset="0"/>
                <a:ea typeface="Calibri" pitchFamily="34" charset="-122"/>
                <a:cs typeface="Calibri" pitchFamily="34" charset="-120"/>
              </a:rPr>
              <a:t>"Pass the hot potato out of my AS as cheaply as possible."</a:t>
            </a:r>
            <a:endParaRPr lang="en-US" sz="1400" dirty="0"/>
          </a:p>
        </p:txBody>
      </p:sp>
      <p:sp>
        <p:nvSpPr>
          <p:cNvPr id="8" name="Text 5"/>
          <p:cNvSpPr txBox="1"/>
          <p:nvPr/>
        </p:nvSpPr>
        <p:spPr>
          <a:xfrm>
            <a:off x="5212080" y="1463040"/>
            <a:ext cx="6400800" cy="365760"/>
          </a:xfrm>
          <a:prstGeom prst="rect">
            <a:avLst/>
          </a:prstGeom>
          <a:noFill/>
          <a:ln/>
        </p:spPr>
        <p:txBody>
          <a:bodyPr wrap="square" lIns="0" tIns="0" rIns="0" bIns="0" rtlCol="0" anchor="t"/>
          <a:lstStyle/>
          <a:p>
            <a:pPr indent="0" marL="0">
              <a:buNone/>
            </a:pPr>
            <a:r>
              <a:rPr lang="en-US" sz="1800" b="1" dirty="0">
                <a:solidFill>
                  <a:srgbClr val="0B1F3A"/>
                </a:solidFill>
                <a:latin typeface="Cambria" pitchFamily="34" charset="0"/>
                <a:ea typeface="Cambria" pitchFamily="34" charset="-122"/>
                <a:cs typeface="Cambria" pitchFamily="34" charset="-120"/>
              </a:rPr>
              <a:t>Selection order (eliminate until one route is left)</a:t>
            </a:r>
            <a:endParaRPr lang="en-US" sz="1800" dirty="0"/>
          </a:p>
        </p:txBody>
      </p:sp>
      <p:sp>
        <p:nvSpPr>
          <p:cNvPr id="9" name="Shape 6"/>
          <p:cNvSpPr/>
          <p:nvPr/>
        </p:nvSpPr>
        <p:spPr>
          <a:xfrm>
            <a:off x="5212080" y="1965960"/>
            <a:ext cx="6428232" cy="987552"/>
          </a:xfrm>
          <a:prstGeom prst="roundRect">
            <a:avLst>
              <a:gd name="adj" fmla="val 11111"/>
            </a:avLst>
          </a:prstGeom>
          <a:solidFill>
            <a:srgbClr val="EAF4F6"/>
          </a:solidFill>
          <a:ln w="12700">
            <a:solidFill>
              <a:srgbClr val="EAF4F6"/>
            </a:solidFill>
            <a:prstDash val="solid"/>
          </a:ln>
        </p:spPr>
      </p:sp>
      <p:sp>
        <p:nvSpPr>
          <p:cNvPr id="10" name="Text 7"/>
          <p:cNvSpPr txBox="1"/>
          <p:nvPr/>
        </p:nvSpPr>
        <p:spPr>
          <a:xfrm>
            <a:off x="5440680" y="2148840"/>
            <a:ext cx="5971032" cy="411480"/>
          </a:xfrm>
          <a:prstGeom prst="rect">
            <a:avLst/>
          </a:prstGeom>
          <a:noFill/>
          <a:ln/>
        </p:spPr>
        <p:txBody>
          <a:bodyPr wrap="square" lIns="0" tIns="0" rIns="0" bIns="0" rtlCol="0" anchor="ctr"/>
          <a:lstStyle/>
          <a:p>
            <a:pPr indent="0" marL="0">
              <a:buNone/>
            </a:pPr>
            <a:endParaRPr lang="en-US" sz="1700" dirty="0"/>
          </a:p>
        </p:txBody>
      </p:sp>
      <p:sp>
        <p:nvSpPr>
          <p:cNvPr id="11" name="Text 8"/>
          <p:cNvSpPr txBox="1"/>
          <p:nvPr/>
        </p:nvSpPr>
        <p:spPr>
          <a:xfrm>
            <a:off x="5440680" y="2651760"/>
            <a:ext cx="5971032" cy="164592"/>
          </a:xfrm>
          <a:prstGeom prst="rect">
            <a:avLst/>
          </a:prstGeom>
          <a:noFill/>
          <a:ln/>
        </p:spPr>
        <p:txBody>
          <a:bodyPr wrap="square" lIns="0" tIns="0" rIns="0" bIns="0" rtlCol="0" anchor="t"/>
          <a:lstStyle/>
          <a:p>
            <a:pPr indent="0" marL="0">
              <a:spcAft>
                <a:spcPts val="600"/>
              </a:spcAft>
              <a:buNone/>
            </a:pPr>
            <a:endParaRPr lang="en-US" sz="1400" dirty="0"/>
          </a:p>
        </p:txBody>
      </p:sp>
      <p:sp>
        <p:nvSpPr>
          <p:cNvPr id="12" name="Shape 9"/>
          <p:cNvSpPr/>
          <p:nvPr/>
        </p:nvSpPr>
        <p:spPr>
          <a:xfrm>
            <a:off x="5212080" y="3044952"/>
            <a:ext cx="6428232" cy="987552"/>
          </a:xfrm>
          <a:prstGeom prst="roundRect">
            <a:avLst>
              <a:gd name="adj" fmla="val 11111"/>
            </a:avLst>
          </a:prstGeom>
          <a:solidFill>
            <a:srgbClr val="EAF4F6"/>
          </a:solidFill>
          <a:ln w="12700">
            <a:solidFill>
              <a:srgbClr val="EAF4F6"/>
            </a:solidFill>
            <a:prstDash val="solid"/>
          </a:ln>
        </p:spPr>
      </p:sp>
      <p:sp>
        <p:nvSpPr>
          <p:cNvPr id="13" name="Text 10"/>
          <p:cNvSpPr txBox="1"/>
          <p:nvPr/>
        </p:nvSpPr>
        <p:spPr>
          <a:xfrm>
            <a:off x="5440680" y="3227832"/>
            <a:ext cx="5971032" cy="411480"/>
          </a:xfrm>
          <a:prstGeom prst="rect">
            <a:avLst/>
          </a:prstGeom>
          <a:noFill/>
          <a:ln/>
        </p:spPr>
        <p:txBody>
          <a:bodyPr wrap="square" lIns="0" tIns="0" rIns="0" bIns="0" rtlCol="0" anchor="ctr"/>
          <a:lstStyle/>
          <a:p>
            <a:pPr indent="0" marL="0">
              <a:buNone/>
            </a:pPr>
            <a:endParaRPr lang="en-US" sz="1700" dirty="0"/>
          </a:p>
        </p:txBody>
      </p:sp>
      <p:sp>
        <p:nvSpPr>
          <p:cNvPr id="14" name="Text 11"/>
          <p:cNvSpPr txBox="1"/>
          <p:nvPr/>
        </p:nvSpPr>
        <p:spPr>
          <a:xfrm>
            <a:off x="5440680" y="3730752"/>
            <a:ext cx="5971032" cy="164592"/>
          </a:xfrm>
          <a:prstGeom prst="rect">
            <a:avLst/>
          </a:prstGeom>
          <a:noFill/>
          <a:ln/>
        </p:spPr>
        <p:txBody>
          <a:bodyPr wrap="square" lIns="0" tIns="0" rIns="0" bIns="0" rtlCol="0" anchor="t"/>
          <a:lstStyle/>
          <a:p>
            <a:pPr indent="0" marL="0">
              <a:spcAft>
                <a:spcPts val="600"/>
              </a:spcAft>
              <a:buNone/>
            </a:pPr>
            <a:endParaRPr lang="en-US" sz="1400" dirty="0"/>
          </a:p>
        </p:txBody>
      </p:sp>
      <p:sp>
        <p:nvSpPr>
          <p:cNvPr id="15" name="Shape 12"/>
          <p:cNvSpPr/>
          <p:nvPr/>
        </p:nvSpPr>
        <p:spPr>
          <a:xfrm>
            <a:off x="5212080" y="4123944"/>
            <a:ext cx="6428232" cy="987552"/>
          </a:xfrm>
          <a:prstGeom prst="roundRect">
            <a:avLst>
              <a:gd name="adj" fmla="val 11111"/>
            </a:avLst>
          </a:prstGeom>
          <a:solidFill>
            <a:srgbClr val="EAF4F6"/>
          </a:solidFill>
          <a:ln w="12700">
            <a:solidFill>
              <a:srgbClr val="EAF4F6"/>
            </a:solidFill>
            <a:prstDash val="solid"/>
          </a:ln>
        </p:spPr>
      </p:sp>
      <p:sp>
        <p:nvSpPr>
          <p:cNvPr id="16" name="Text 13"/>
          <p:cNvSpPr txBox="1"/>
          <p:nvPr/>
        </p:nvSpPr>
        <p:spPr>
          <a:xfrm>
            <a:off x="5440680" y="4306824"/>
            <a:ext cx="5971032" cy="411480"/>
          </a:xfrm>
          <a:prstGeom prst="rect">
            <a:avLst/>
          </a:prstGeom>
          <a:noFill/>
          <a:ln/>
        </p:spPr>
        <p:txBody>
          <a:bodyPr wrap="square" lIns="0" tIns="0" rIns="0" bIns="0" rtlCol="0" anchor="ctr"/>
          <a:lstStyle/>
          <a:p>
            <a:pPr indent="0" marL="0">
              <a:buNone/>
            </a:pPr>
            <a:endParaRPr lang="en-US" sz="1700" dirty="0"/>
          </a:p>
        </p:txBody>
      </p:sp>
      <p:sp>
        <p:nvSpPr>
          <p:cNvPr id="17" name="Text 14"/>
          <p:cNvSpPr txBox="1"/>
          <p:nvPr/>
        </p:nvSpPr>
        <p:spPr>
          <a:xfrm>
            <a:off x="5440680" y="4809744"/>
            <a:ext cx="5971032" cy="164592"/>
          </a:xfrm>
          <a:prstGeom prst="rect">
            <a:avLst/>
          </a:prstGeom>
          <a:noFill/>
          <a:ln/>
        </p:spPr>
        <p:txBody>
          <a:bodyPr wrap="square" lIns="0" tIns="0" rIns="0" bIns="0" rtlCol="0" anchor="t"/>
          <a:lstStyle/>
          <a:p>
            <a:pPr indent="0" marL="0">
              <a:spcAft>
                <a:spcPts val="600"/>
              </a:spcAft>
              <a:buNone/>
            </a:pPr>
            <a:endParaRPr lang="en-US" sz="1400" dirty="0"/>
          </a:p>
        </p:txBody>
      </p:sp>
      <p:sp>
        <p:nvSpPr>
          <p:cNvPr id="18" name="Shape 15"/>
          <p:cNvSpPr/>
          <p:nvPr/>
        </p:nvSpPr>
        <p:spPr>
          <a:xfrm>
            <a:off x="5212080" y="5202936"/>
            <a:ext cx="6428232" cy="987552"/>
          </a:xfrm>
          <a:prstGeom prst="roundRect">
            <a:avLst>
              <a:gd name="adj" fmla="val 11111"/>
            </a:avLst>
          </a:prstGeom>
          <a:solidFill>
            <a:srgbClr val="EAF4F6"/>
          </a:solidFill>
          <a:ln w="12700">
            <a:solidFill>
              <a:srgbClr val="EAF4F6"/>
            </a:solidFill>
            <a:prstDash val="solid"/>
          </a:ln>
        </p:spPr>
      </p:sp>
      <p:sp>
        <p:nvSpPr>
          <p:cNvPr id="19" name="Text 16"/>
          <p:cNvSpPr txBox="1"/>
          <p:nvPr/>
        </p:nvSpPr>
        <p:spPr>
          <a:xfrm>
            <a:off x="5440680" y="5385816"/>
            <a:ext cx="5971032" cy="411480"/>
          </a:xfrm>
          <a:prstGeom prst="rect">
            <a:avLst/>
          </a:prstGeom>
          <a:noFill/>
          <a:ln/>
        </p:spPr>
        <p:txBody>
          <a:bodyPr wrap="square" lIns="0" tIns="0" rIns="0" bIns="0" rtlCol="0" anchor="ctr"/>
          <a:lstStyle/>
          <a:p>
            <a:pPr indent="0" marL="0">
              <a:buNone/>
            </a:pPr>
            <a:endParaRPr lang="en-US" sz="1700" dirty="0"/>
          </a:p>
        </p:txBody>
      </p:sp>
      <p:sp>
        <p:nvSpPr>
          <p:cNvPr id="20" name="Text 17"/>
          <p:cNvSpPr txBox="1"/>
          <p:nvPr/>
        </p:nvSpPr>
        <p:spPr>
          <a:xfrm>
            <a:off x="5440680" y="5888736"/>
            <a:ext cx="5971032" cy="164592"/>
          </a:xfrm>
          <a:prstGeom prst="rect">
            <a:avLst/>
          </a:prstGeom>
          <a:noFill/>
          <a:ln/>
        </p:spPr>
        <p:txBody>
          <a:bodyPr wrap="square" lIns="0" tIns="0" rIns="0" bIns="0" rtlCol="0" anchor="t"/>
          <a:lstStyle/>
          <a:p>
            <a:pPr indent="0" marL="0">
              <a:spcAft>
                <a:spcPts val="600"/>
              </a:spcAft>
              <a:buNone/>
            </a:pPr>
            <a:endParaRPr lang="en-US" sz="1400" dirty="0"/>
          </a:p>
        </p:txBody>
      </p:sp>
      <p:sp>
        <p:nvSpPr>
          <p:cNvPr id="21" name="Shape 18"/>
          <p:cNvSpPr/>
          <p:nvPr/>
        </p:nvSpPr>
        <p:spPr>
          <a:xfrm>
            <a:off x="5440680" y="2231136"/>
            <a:ext cx="457200" cy="457200"/>
          </a:xfrm>
          <a:prstGeom prst="ellipse">
            <a:avLst/>
          </a:prstGeom>
          <a:solidFill>
            <a:srgbClr val="0FA3B1"/>
          </a:solidFill>
          <a:ln w="12700">
            <a:solidFill>
              <a:srgbClr val="0FA3B1"/>
            </a:solidFill>
            <a:prstDash val="solid"/>
          </a:ln>
        </p:spPr>
      </p:sp>
      <p:sp>
        <p:nvSpPr>
          <p:cNvPr id="22" name="Text 19"/>
          <p:cNvSpPr txBox="1"/>
          <p:nvPr/>
        </p:nvSpPr>
        <p:spPr>
          <a:xfrm>
            <a:off x="5440680" y="223113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23" name="Text 20"/>
          <p:cNvSpPr txBox="1"/>
          <p:nvPr/>
        </p:nvSpPr>
        <p:spPr>
          <a:xfrm>
            <a:off x="6126480" y="2057400"/>
            <a:ext cx="5394960" cy="365760"/>
          </a:xfrm>
          <a:prstGeom prst="rect">
            <a:avLst/>
          </a:prstGeom>
          <a:noFill/>
          <a:ln/>
        </p:spPr>
        <p:txBody>
          <a:bodyPr wrap="square" lIns="0" tIns="0" rIns="0" bIns="0" rtlCol="0" anchor="t"/>
          <a:lstStyle/>
          <a:p>
            <a:pPr indent="0" marL="0">
              <a:buNone/>
            </a:pPr>
            <a:r>
              <a:rPr lang="en-US" sz="1600" b="1" dirty="0">
                <a:solidFill>
                  <a:srgbClr val="0B1F3A"/>
                </a:solidFill>
                <a:latin typeface="Cambria" pitchFamily="34" charset="0"/>
                <a:ea typeface="Cambria" pitchFamily="34" charset="-122"/>
                <a:cs typeface="Cambria" pitchFamily="34" charset="-120"/>
              </a:rPr>
              <a:t>Highest LOCAL-PREF</a:t>
            </a:r>
            <a:endParaRPr lang="en-US" sz="1600" dirty="0"/>
          </a:p>
        </p:txBody>
      </p:sp>
      <p:sp>
        <p:nvSpPr>
          <p:cNvPr id="24" name="Text 21"/>
          <p:cNvSpPr txBox="1"/>
          <p:nvPr/>
        </p:nvSpPr>
        <p:spPr>
          <a:xfrm>
            <a:off x="6126480" y="2468880"/>
            <a:ext cx="5394960" cy="365760"/>
          </a:xfrm>
          <a:prstGeom prst="rect">
            <a:avLst/>
          </a:prstGeom>
          <a:noFill/>
          <a:ln/>
        </p:spPr>
        <p:txBody>
          <a:bodyPr wrap="square" lIns="0" tIns="0" rIns="0" bIns="0" rtlCol="0" anchor="t"/>
          <a:lstStyle/>
          <a:p>
            <a:pPr indent="0" marL="0">
              <a:buNone/>
            </a:pPr>
            <a:r>
              <a:rPr lang="en-US" sz="1400" dirty="0">
                <a:solidFill>
                  <a:srgbClr val="1B2B3A"/>
                </a:solidFill>
                <a:latin typeface="Calibri" pitchFamily="34" charset="0"/>
                <a:ea typeface="Calibri" pitchFamily="34" charset="-122"/>
                <a:cs typeface="Calibri" pitchFamily="34" charset="-120"/>
              </a:rPr>
              <a:t>Policy value set by the AS administrator.</a:t>
            </a:r>
            <a:endParaRPr lang="en-US" sz="1400" dirty="0"/>
          </a:p>
        </p:txBody>
      </p:sp>
      <p:sp>
        <p:nvSpPr>
          <p:cNvPr id="25" name="Shape 22"/>
          <p:cNvSpPr/>
          <p:nvPr/>
        </p:nvSpPr>
        <p:spPr>
          <a:xfrm>
            <a:off x="5440680" y="3310128"/>
            <a:ext cx="457200" cy="457200"/>
          </a:xfrm>
          <a:prstGeom prst="ellipse">
            <a:avLst/>
          </a:prstGeom>
          <a:solidFill>
            <a:srgbClr val="0FA3B1"/>
          </a:solidFill>
          <a:ln w="12700">
            <a:solidFill>
              <a:srgbClr val="0FA3B1"/>
            </a:solidFill>
            <a:prstDash val="solid"/>
          </a:ln>
        </p:spPr>
      </p:sp>
      <p:sp>
        <p:nvSpPr>
          <p:cNvPr id="26" name="Text 23"/>
          <p:cNvSpPr txBox="1"/>
          <p:nvPr/>
        </p:nvSpPr>
        <p:spPr>
          <a:xfrm>
            <a:off x="5440680" y="331012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7" name="Text 24"/>
          <p:cNvSpPr txBox="1"/>
          <p:nvPr/>
        </p:nvSpPr>
        <p:spPr>
          <a:xfrm>
            <a:off x="6126480" y="3136392"/>
            <a:ext cx="5394960" cy="365760"/>
          </a:xfrm>
          <a:prstGeom prst="rect">
            <a:avLst/>
          </a:prstGeom>
          <a:noFill/>
          <a:ln/>
        </p:spPr>
        <p:txBody>
          <a:bodyPr wrap="square" lIns="0" tIns="0" rIns="0" bIns="0" rtlCol="0" anchor="t"/>
          <a:lstStyle/>
          <a:p>
            <a:pPr indent="0" marL="0">
              <a:buNone/>
            </a:pPr>
            <a:r>
              <a:rPr lang="en-US" sz="1600" b="1" dirty="0">
                <a:solidFill>
                  <a:srgbClr val="0B1F3A"/>
                </a:solidFill>
                <a:latin typeface="Cambria" pitchFamily="34" charset="0"/>
                <a:ea typeface="Cambria" pitchFamily="34" charset="-122"/>
                <a:cs typeface="Cambria" pitchFamily="34" charset="-120"/>
              </a:rPr>
              <a:t>Shortest AS-PATH</a:t>
            </a:r>
            <a:endParaRPr lang="en-US" sz="1600" dirty="0"/>
          </a:p>
        </p:txBody>
      </p:sp>
      <p:sp>
        <p:nvSpPr>
          <p:cNvPr id="28" name="Text 25"/>
          <p:cNvSpPr txBox="1"/>
          <p:nvPr/>
        </p:nvSpPr>
        <p:spPr>
          <a:xfrm>
            <a:off x="6126480" y="3547872"/>
            <a:ext cx="5394960" cy="365760"/>
          </a:xfrm>
          <a:prstGeom prst="rect">
            <a:avLst/>
          </a:prstGeom>
          <a:noFill/>
          <a:ln/>
        </p:spPr>
        <p:txBody>
          <a:bodyPr wrap="square" lIns="0" tIns="0" rIns="0" bIns="0" rtlCol="0" anchor="t"/>
          <a:lstStyle/>
          <a:p>
            <a:pPr indent="0" marL="0">
              <a:buNone/>
            </a:pPr>
            <a:r>
              <a:rPr lang="en-US" sz="1400" dirty="0">
                <a:solidFill>
                  <a:srgbClr val="1B2B3A"/>
                </a:solidFill>
                <a:latin typeface="Calibri" pitchFamily="34" charset="0"/>
                <a:ea typeface="Calibri" pitchFamily="34" charset="-122"/>
                <a:cs typeface="Calibri" pitchFamily="34" charset="-120"/>
              </a:rPr>
              <a:t>Fewest AS hops among the rest.</a:t>
            </a:r>
            <a:endParaRPr lang="en-US" sz="1400" dirty="0"/>
          </a:p>
        </p:txBody>
      </p:sp>
      <p:sp>
        <p:nvSpPr>
          <p:cNvPr id="29" name="Shape 26"/>
          <p:cNvSpPr/>
          <p:nvPr/>
        </p:nvSpPr>
        <p:spPr>
          <a:xfrm>
            <a:off x="5440680" y="4389120"/>
            <a:ext cx="457200" cy="457200"/>
          </a:xfrm>
          <a:prstGeom prst="ellipse">
            <a:avLst/>
          </a:prstGeom>
          <a:solidFill>
            <a:srgbClr val="F5A623"/>
          </a:solidFill>
          <a:ln w="12700">
            <a:solidFill>
              <a:srgbClr val="F5A623"/>
            </a:solidFill>
            <a:prstDash val="solid"/>
          </a:ln>
        </p:spPr>
      </p:sp>
      <p:sp>
        <p:nvSpPr>
          <p:cNvPr id="30" name="Text 27"/>
          <p:cNvSpPr txBox="1"/>
          <p:nvPr/>
        </p:nvSpPr>
        <p:spPr>
          <a:xfrm>
            <a:off x="5440680" y="43891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31" name="Text 28"/>
          <p:cNvSpPr txBox="1"/>
          <p:nvPr/>
        </p:nvSpPr>
        <p:spPr>
          <a:xfrm>
            <a:off x="6126480" y="4215384"/>
            <a:ext cx="5394960" cy="365760"/>
          </a:xfrm>
          <a:prstGeom prst="rect">
            <a:avLst/>
          </a:prstGeom>
          <a:noFill/>
          <a:ln/>
        </p:spPr>
        <p:txBody>
          <a:bodyPr wrap="square" lIns="0" tIns="0" rIns="0" bIns="0" rtlCol="0" anchor="t"/>
          <a:lstStyle/>
          <a:p>
            <a:pPr indent="0" marL="0">
              <a:buNone/>
            </a:pPr>
            <a:r>
              <a:rPr lang="en-US" sz="1600" b="1" dirty="0">
                <a:solidFill>
                  <a:srgbClr val="0B1F3A"/>
                </a:solidFill>
                <a:latin typeface="Cambria" pitchFamily="34" charset="0"/>
                <a:ea typeface="Cambria" pitchFamily="34" charset="-122"/>
                <a:cs typeface="Cambria" pitchFamily="34" charset="-120"/>
              </a:rPr>
              <a:t>Closest NEXT-HOP (hot potato)</a:t>
            </a:r>
            <a:endParaRPr lang="en-US" sz="1600" dirty="0"/>
          </a:p>
        </p:txBody>
      </p:sp>
      <p:sp>
        <p:nvSpPr>
          <p:cNvPr id="32" name="Text 29"/>
          <p:cNvSpPr txBox="1"/>
          <p:nvPr/>
        </p:nvSpPr>
        <p:spPr>
          <a:xfrm>
            <a:off x="6126480" y="4626864"/>
            <a:ext cx="5394960" cy="365760"/>
          </a:xfrm>
          <a:prstGeom prst="rect">
            <a:avLst/>
          </a:prstGeom>
          <a:noFill/>
          <a:ln/>
        </p:spPr>
        <p:txBody>
          <a:bodyPr wrap="square" lIns="0" tIns="0" rIns="0" bIns="0" rtlCol="0" anchor="t"/>
          <a:lstStyle/>
          <a:p>
            <a:pPr indent="0" marL="0">
              <a:buNone/>
            </a:pPr>
            <a:r>
              <a:rPr lang="en-US" sz="1400" dirty="0">
                <a:solidFill>
                  <a:srgbClr val="1B2B3A"/>
                </a:solidFill>
                <a:latin typeface="Calibri" pitchFamily="34" charset="0"/>
                <a:ea typeface="Calibri" pitchFamily="34" charset="-122"/>
                <a:cs typeface="Calibri" pitchFamily="34" charset="-120"/>
              </a:rPr>
              <a:t>Minimum intra-AS IGP cost to NEXT-HOP.</a:t>
            </a:r>
            <a:endParaRPr lang="en-US" sz="1400" dirty="0"/>
          </a:p>
        </p:txBody>
      </p:sp>
      <p:sp>
        <p:nvSpPr>
          <p:cNvPr id="33" name="Shape 30"/>
          <p:cNvSpPr/>
          <p:nvPr/>
        </p:nvSpPr>
        <p:spPr>
          <a:xfrm>
            <a:off x="5440680" y="5468112"/>
            <a:ext cx="457200" cy="457200"/>
          </a:xfrm>
          <a:prstGeom prst="ellipse">
            <a:avLst/>
          </a:prstGeom>
          <a:solidFill>
            <a:srgbClr val="0FA3B1"/>
          </a:solidFill>
          <a:ln w="12700">
            <a:solidFill>
              <a:srgbClr val="0FA3B1"/>
            </a:solidFill>
            <a:prstDash val="solid"/>
          </a:ln>
        </p:spPr>
      </p:sp>
      <p:sp>
        <p:nvSpPr>
          <p:cNvPr id="34" name="Text 31"/>
          <p:cNvSpPr txBox="1"/>
          <p:nvPr/>
        </p:nvSpPr>
        <p:spPr>
          <a:xfrm>
            <a:off x="5440680" y="546811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35" name="Text 32"/>
          <p:cNvSpPr txBox="1"/>
          <p:nvPr/>
        </p:nvSpPr>
        <p:spPr>
          <a:xfrm>
            <a:off x="6126480" y="5294376"/>
            <a:ext cx="5394960" cy="365760"/>
          </a:xfrm>
          <a:prstGeom prst="rect">
            <a:avLst/>
          </a:prstGeom>
          <a:noFill/>
          <a:ln/>
        </p:spPr>
        <p:txBody>
          <a:bodyPr wrap="square" lIns="0" tIns="0" rIns="0" bIns="0" rtlCol="0" anchor="t"/>
          <a:lstStyle/>
          <a:p>
            <a:pPr indent="0" marL="0">
              <a:buNone/>
            </a:pPr>
            <a:r>
              <a:rPr lang="en-US" sz="1600" b="1" dirty="0">
                <a:solidFill>
                  <a:srgbClr val="0B1F3A"/>
                </a:solidFill>
                <a:latin typeface="Cambria" pitchFamily="34" charset="0"/>
                <a:ea typeface="Cambria" pitchFamily="34" charset="-122"/>
                <a:cs typeface="Cambria" pitchFamily="34" charset="-120"/>
              </a:rPr>
              <a:t>BGP identifiers</a:t>
            </a:r>
            <a:endParaRPr lang="en-US" sz="1600" dirty="0"/>
          </a:p>
        </p:txBody>
      </p:sp>
      <p:sp>
        <p:nvSpPr>
          <p:cNvPr id="36" name="Text 33"/>
          <p:cNvSpPr txBox="1"/>
          <p:nvPr/>
        </p:nvSpPr>
        <p:spPr>
          <a:xfrm>
            <a:off x="6126480" y="5705856"/>
            <a:ext cx="5394960" cy="365760"/>
          </a:xfrm>
          <a:prstGeom prst="rect">
            <a:avLst/>
          </a:prstGeom>
          <a:noFill/>
          <a:ln/>
        </p:spPr>
        <p:txBody>
          <a:bodyPr wrap="square" lIns="0" tIns="0" rIns="0" bIns="0" rtlCol="0" anchor="t"/>
          <a:lstStyle/>
          <a:p>
            <a:pPr indent="0" marL="0">
              <a:buNone/>
            </a:pPr>
            <a:r>
              <a:rPr lang="en-US" sz="1400" dirty="0">
                <a:solidFill>
                  <a:srgbClr val="1B2B3A"/>
                </a:solidFill>
                <a:latin typeface="Calibri" pitchFamily="34" charset="0"/>
                <a:ea typeface="Calibri" pitchFamily="34" charset="-122"/>
                <a:cs typeface="Calibri" pitchFamily="34" charset="-120"/>
              </a:rPr>
              <a:t>Router IDs break any remaining tie.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0972800" cy="274320"/>
          </a:xfrm>
          <a:prstGeom prst="rect">
            <a:avLst/>
          </a:prstGeom>
          <a:noFill/>
          <a:ln/>
        </p:spPr>
        <p:txBody>
          <a:bodyPr wrap="square" lIns="0" tIns="0" rIns="0" bIns="0" rtlCol="0" anchor="t"/>
          <a:lstStyle/>
          <a:p>
            <a:pPr indent="0" marL="0">
              <a:buNone/>
            </a:pPr>
            <a:r>
              <a:rPr lang="en-US" sz="1200" b="1" spc="200" kern="0" dirty="0">
                <a:solidFill>
                  <a:srgbClr val="0FA3B1"/>
                </a:solidFill>
                <a:latin typeface="Calibri" pitchFamily="34" charset="0"/>
                <a:ea typeface="Calibri" pitchFamily="34" charset="-122"/>
                <a:cs typeface="Calibri" pitchFamily="34" charset="-120"/>
              </a:rPr>
              <a:t>BGP · PART 02</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BGP Policy Routing</a:t>
            </a:r>
            <a:endParaRPr lang="en-US" sz="3000" dirty="0"/>
          </a:p>
        </p:txBody>
      </p:sp>
      <p:sp>
        <p:nvSpPr>
          <p:cNvPr id="5" name="Shape 2"/>
          <p:cNvSpPr/>
          <p:nvPr/>
        </p:nvSpPr>
        <p:spPr>
          <a:xfrm>
            <a:off x="548640" y="1463040"/>
            <a:ext cx="6035040" cy="4754880"/>
          </a:xfrm>
          <a:prstGeom prst="roundRect">
            <a:avLst>
              <a:gd name="adj" fmla="val 2308"/>
            </a:avLst>
          </a:prstGeom>
          <a:solidFill>
            <a:srgbClr val="EAF4F6"/>
          </a:solidFill>
          <a:ln w="12700">
            <a:solidFill>
              <a:srgbClr val="EAF4F6"/>
            </a:solidFill>
            <a:prstDash val="solid"/>
          </a:ln>
        </p:spPr>
      </p:sp>
      <p:sp>
        <p:nvSpPr>
          <p:cNvPr id="6" name="Text 3"/>
          <p:cNvSpPr txBox="1"/>
          <p:nvPr/>
        </p:nvSpPr>
        <p:spPr>
          <a:xfrm>
            <a:off x="777240" y="1645920"/>
            <a:ext cx="5577840" cy="411480"/>
          </a:xfrm>
          <a:prstGeom prst="rect">
            <a:avLst/>
          </a:prstGeom>
          <a:noFill/>
          <a:ln/>
        </p:spPr>
        <p:txBody>
          <a:bodyPr wrap="square" lIns="0" tIns="0" rIns="0" bIns="0" rtlCol="0" anchor="ctr"/>
          <a:lstStyle/>
          <a:p>
            <a:pPr indent="0" marL="0">
              <a:buNone/>
            </a:pPr>
            <a:r>
              <a:rPr lang="en-US" sz="1700" b="1" dirty="0">
                <a:solidFill>
                  <a:srgbClr val="0B1F3A"/>
                </a:solidFill>
                <a:latin typeface="Cambria" pitchFamily="34" charset="0"/>
                <a:ea typeface="Cambria" pitchFamily="34" charset="-122"/>
                <a:cs typeface="Cambria" pitchFamily="34" charset="-120"/>
              </a:rPr>
              <a:t>Example: multi-homed customer X</a:t>
            </a:r>
            <a:endParaRPr lang="en-US" sz="1700" dirty="0"/>
          </a:p>
        </p:txBody>
      </p:sp>
      <p:sp>
        <p:nvSpPr>
          <p:cNvPr id="7" name="Text 4"/>
          <p:cNvSpPr txBox="1"/>
          <p:nvPr/>
        </p:nvSpPr>
        <p:spPr>
          <a:xfrm>
            <a:off x="777240" y="2148840"/>
            <a:ext cx="5577840" cy="3931920"/>
          </a:xfrm>
          <a:prstGeom prst="rect">
            <a:avLst/>
          </a:prstGeom>
          <a:noFill/>
          <a:ln/>
        </p:spPr>
        <p:txBody>
          <a:bodyPr wrap="square" lIns="0" tIns="0" rIns="0" bIns="0" rtlCol="0" anchor="t"/>
          <a:lstStyle/>
          <a:p>
            <a:pPr indent="0" marL="0">
              <a:spcAft>
                <a:spcPts val="600"/>
              </a:spcAft>
              <a:buNone/>
            </a:pPr>
            <a:r>
              <a:rPr lang="en-US" sz="1500" dirty="0">
                <a:solidFill>
                  <a:srgbClr val="1B2B3A"/>
                </a:solidFill>
                <a:latin typeface="Calibri" pitchFamily="34" charset="0"/>
                <a:ea typeface="Calibri" pitchFamily="34" charset="-122"/>
                <a:cs typeface="Calibri" pitchFamily="34" charset="-120"/>
              </a:rPr>
              <a:t>Backbone ISPs A, B, C; stub networks W, X, Y. X connects to both ISP B and ISP C.
</a:t>
            </a:r>
            <a:pPr indent="0" marL="0">
              <a:spcAft>
                <a:spcPts val="600"/>
              </a:spcAft>
              <a:buNone/>
            </a:pPr>
            <a:r>
              <a:rPr lang="en-US" sz="1500" b="1" dirty="0">
                <a:solidFill>
                  <a:srgbClr val="1B2B3A"/>
                </a:solidFill>
                <a:latin typeface="Calibri" pitchFamily="34" charset="0"/>
                <a:ea typeface="Calibri" pitchFamily="34" charset="-122"/>
                <a:cs typeface="Calibri" pitchFamily="34" charset="-120"/>
              </a:rPr>
              <a:t>Problem:</a:t>
            </a:r>
            <a:pPr indent="0" marL="0">
              <a:spcAft>
                <a:spcPts val="600"/>
              </a:spcAft>
              <a:buNone/>
            </a:pPr>
            <a:r>
              <a:rPr lang="en-US" sz="1500" dirty="0">
                <a:solidFill>
                  <a:srgbClr val="1B2B3A"/>
                </a:solidFill>
                <a:latin typeface="Calibri" pitchFamily="34" charset="0"/>
                <a:ea typeface="Calibri" pitchFamily="34" charset="-122"/>
                <a:cs typeface="Calibri" pitchFamily="34" charset="-120"/>
              </a:rPr>
              <a:t> if X told B it can reach C, B would push huge transit traffic through X.
</a:t>
            </a:r>
            <a:pPr indent="0" marL="0">
              <a:spcAft>
                <a:spcPts val="600"/>
              </a:spcAft>
              <a:buNone/>
            </a:pPr>
            <a:r>
              <a:rPr lang="en-US" sz="1500" b="1" dirty="0">
                <a:solidFill>
                  <a:srgbClr val="1B2B3A"/>
                </a:solidFill>
                <a:latin typeface="Calibri" pitchFamily="34" charset="0"/>
                <a:ea typeface="Calibri" pitchFamily="34" charset="-122"/>
                <a:cs typeface="Calibri" pitchFamily="34" charset="-120"/>
              </a:rPr>
              <a:t>Policy solution:</a:t>
            </a:r>
            <a:pPr indent="0" marL="0">
              <a:spcAft>
                <a:spcPts val="600"/>
              </a:spcAft>
              <a:buNone/>
            </a:pPr>
            <a:r>
              <a:rPr lang="en-US" sz="1500" dirty="0">
                <a:solidFill>
                  <a:srgbClr val="1B2B3A"/>
                </a:solidFill>
                <a:latin typeface="Calibri" pitchFamily="34" charset="0"/>
                <a:ea typeface="Calibri" pitchFamily="34" charset="-122"/>
                <a:cs typeface="Calibri" pitchFamily="34" charset="-120"/>
              </a:rPr>
              <a:t> X simply </a:t>
            </a:r>
            <a:pPr indent="0" marL="0">
              <a:spcAft>
                <a:spcPts val="600"/>
              </a:spcAft>
              <a:buNone/>
            </a:pPr>
            <a:r>
              <a:rPr lang="en-US" sz="1500" b="1" dirty="0">
                <a:solidFill>
                  <a:srgbClr val="1B2B3A"/>
                </a:solidFill>
                <a:latin typeface="Calibri" pitchFamily="34" charset="0"/>
                <a:ea typeface="Calibri" pitchFamily="34" charset="-122"/>
                <a:cs typeface="Calibri" pitchFamily="34" charset="-120"/>
              </a:rPr>
              <a:t>does not advertise</a:t>
            </a:r>
            <a:pPr indent="0" marL="0">
              <a:spcAft>
                <a:spcPts val="600"/>
              </a:spcAft>
              <a:buNone/>
            </a:pPr>
            <a:r>
              <a:rPr lang="en-US" sz="1500" dirty="0">
                <a:solidFill>
                  <a:srgbClr val="1B2B3A"/>
                </a:solidFill>
                <a:latin typeface="Calibri" pitchFamily="34" charset="0"/>
                <a:ea typeface="Calibri" pitchFamily="34" charset="-122"/>
                <a:cs typeface="Calibri" pitchFamily="34" charset="-120"/>
              </a:rPr>
              <a:t> a route to C to B. B never learns B→X→C exists, so X carries only its own traffic.</a:t>
            </a:r>
            <a:endParaRPr lang="en-US" sz="1400" dirty="0"/>
          </a:p>
        </p:txBody>
      </p:sp>
      <p:sp>
        <p:nvSpPr>
          <p:cNvPr id="8" name="Shape 5"/>
          <p:cNvSpPr/>
          <p:nvPr/>
        </p:nvSpPr>
        <p:spPr>
          <a:xfrm>
            <a:off x="6858000" y="1463040"/>
            <a:ext cx="4782312" cy="2240280"/>
          </a:xfrm>
          <a:prstGeom prst="roundRect">
            <a:avLst>
              <a:gd name="adj" fmla="val 4898"/>
            </a:avLst>
          </a:prstGeom>
          <a:solidFill>
            <a:srgbClr val="EAF4F6"/>
          </a:solidFill>
          <a:ln w="12700">
            <a:solidFill>
              <a:srgbClr val="EAF4F6"/>
            </a:solidFill>
            <a:prstDash val="solid"/>
          </a:ln>
        </p:spPr>
      </p:sp>
      <p:sp>
        <p:nvSpPr>
          <p:cNvPr id="9" name="Text 6"/>
          <p:cNvSpPr txBox="1"/>
          <p:nvPr/>
        </p:nvSpPr>
        <p:spPr>
          <a:xfrm>
            <a:off x="7086600" y="1645920"/>
            <a:ext cx="4325112" cy="411480"/>
          </a:xfrm>
          <a:prstGeom prst="rect">
            <a:avLst/>
          </a:prstGeom>
          <a:noFill/>
          <a:ln/>
        </p:spPr>
        <p:txBody>
          <a:bodyPr wrap="square" lIns="0" tIns="0" rIns="0" bIns="0" rtlCol="0" anchor="ctr"/>
          <a:lstStyle/>
          <a:p>
            <a:pPr indent="0" marL="0">
              <a:buNone/>
            </a:pPr>
            <a:r>
              <a:rPr lang="en-US" sz="1700" b="1" dirty="0">
                <a:solidFill>
                  <a:srgbClr val="0B1F3A"/>
                </a:solidFill>
                <a:latin typeface="Cambria" pitchFamily="34" charset="0"/>
                <a:ea typeface="Cambria" pitchFamily="34" charset="-122"/>
                <a:cs typeface="Cambria" pitchFamily="34" charset="-120"/>
              </a:rPr>
              <a:t>Intra-AS (OSPF)</a:t>
            </a:r>
            <a:endParaRPr lang="en-US" sz="1700" dirty="0"/>
          </a:p>
        </p:txBody>
      </p:sp>
      <p:sp>
        <p:nvSpPr>
          <p:cNvPr id="10" name="Text 7"/>
          <p:cNvSpPr txBox="1"/>
          <p:nvPr/>
        </p:nvSpPr>
        <p:spPr>
          <a:xfrm>
            <a:off x="7086600" y="2148840"/>
            <a:ext cx="4325112" cy="1417320"/>
          </a:xfrm>
          <a:prstGeom prst="rect">
            <a:avLst/>
          </a:prstGeom>
          <a:noFill/>
          <a:ln/>
        </p:spPr>
        <p:txBody>
          <a:bodyPr wrap="square" lIns="0" tIns="0" rIns="0" bIns="0" rtlCol="0" anchor="t"/>
          <a:lstStyle/>
          <a:p>
            <a:pPr indent="0" marL="0">
              <a:spcAft>
                <a:spcPts val="600"/>
              </a:spcAft>
              <a:buNone/>
            </a:pPr>
            <a:r>
              <a:rPr lang="en-US" sz="1500" dirty="0">
                <a:solidFill>
                  <a:srgbClr val="1B2B3A"/>
                </a:solidFill>
                <a:latin typeface="Calibri" pitchFamily="34" charset="0"/>
                <a:ea typeface="Calibri" pitchFamily="34" charset="-122"/>
                <a:cs typeface="Calibri" pitchFamily="34" charset="-120"/>
              </a:rPr>
              <a:t>Single admin → no policy needed → </a:t>
            </a:r>
            <a:pPr indent="0" marL="0">
              <a:spcAft>
                <a:spcPts val="600"/>
              </a:spcAft>
              <a:buNone/>
            </a:pPr>
            <a:r>
              <a:rPr lang="en-US" sz="1500" b="1" dirty="0">
                <a:solidFill>
                  <a:srgbClr val="1B2B3A"/>
                </a:solidFill>
                <a:latin typeface="Calibri" pitchFamily="34" charset="0"/>
                <a:ea typeface="Calibri" pitchFamily="34" charset="-122"/>
                <a:cs typeface="Calibri" pitchFamily="34" charset="-120"/>
              </a:rPr>
              <a:t>100% performance</a:t>
            </a:r>
            <a:pPr indent="0" marL="0">
              <a:spcAft>
                <a:spcPts val="600"/>
              </a:spcAft>
              <a:buNone/>
            </a:pPr>
            <a:r>
              <a:rPr lang="en-US" sz="1500" dirty="0">
                <a:solidFill>
                  <a:srgbClr val="1B2B3A"/>
                </a:solidFill>
                <a:latin typeface="Calibri" pitchFamily="34" charset="0"/>
                <a:ea typeface="Calibri" pitchFamily="34" charset="-122"/>
                <a:cs typeface="Calibri" pitchFamily="34" charset="-120"/>
              </a:rPr>
              <a:t>.</a:t>
            </a:r>
            <a:endParaRPr lang="en-US" sz="1400" dirty="0"/>
          </a:p>
        </p:txBody>
      </p:sp>
      <p:sp>
        <p:nvSpPr>
          <p:cNvPr id="11" name="Shape 8"/>
          <p:cNvSpPr/>
          <p:nvPr/>
        </p:nvSpPr>
        <p:spPr>
          <a:xfrm>
            <a:off x="6858000" y="3977640"/>
            <a:ext cx="4782312" cy="2240280"/>
          </a:xfrm>
          <a:prstGeom prst="roundRect">
            <a:avLst>
              <a:gd name="adj" fmla="val 4898"/>
            </a:avLst>
          </a:prstGeom>
          <a:solidFill>
            <a:srgbClr val="0B1F3A"/>
          </a:solidFill>
          <a:ln w="12700">
            <a:solidFill>
              <a:srgbClr val="0B1F3A"/>
            </a:solidFill>
            <a:prstDash val="solid"/>
          </a:ln>
        </p:spPr>
      </p:sp>
      <p:sp>
        <p:nvSpPr>
          <p:cNvPr id="12" name="Text 9"/>
          <p:cNvSpPr txBox="1"/>
          <p:nvPr/>
        </p:nvSpPr>
        <p:spPr>
          <a:xfrm>
            <a:off x="7086600" y="4160520"/>
            <a:ext cx="4325112" cy="41148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Inter-AS (BGP)</a:t>
            </a:r>
            <a:endParaRPr lang="en-US" sz="1700" dirty="0"/>
          </a:p>
        </p:txBody>
      </p:sp>
      <p:sp>
        <p:nvSpPr>
          <p:cNvPr id="13" name="Text 10"/>
          <p:cNvSpPr txBox="1"/>
          <p:nvPr/>
        </p:nvSpPr>
        <p:spPr>
          <a:xfrm>
            <a:off x="7086600" y="4663440"/>
            <a:ext cx="4325112" cy="1417320"/>
          </a:xfrm>
          <a:prstGeom prst="rect">
            <a:avLst/>
          </a:prstGeom>
          <a:noFill/>
          <a:ln/>
        </p:spPr>
        <p:txBody>
          <a:bodyPr wrap="square" lIns="0" tIns="0" rIns="0" bIns="0" rtlCol="0" anchor="t"/>
          <a:lstStyle/>
          <a:p>
            <a:pPr indent="0" marL="0">
              <a:spcAft>
                <a:spcPts val="600"/>
              </a:spcAft>
              <a:buNone/>
            </a:pPr>
            <a:r>
              <a:rPr lang="en-US" sz="1500" dirty="0">
                <a:solidFill>
                  <a:srgbClr val="E6EEF5"/>
                </a:solidFill>
                <a:latin typeface="Calibri" pitchFamily="34" charset="0"/>
                <a:ea typeface="Calibri" pitchFamily="34" charset="-122"/>
                <a:cs typeface="Calibri" pitchFamily="34" charset="-120"/>
              </a:rPr>
              <a:t>Independent commercial entities → </a:t>
            </a:r>
            <a:pPr indent="0" marL="0">
              <a:spcAft>
                <a:spcPts val="600"/>
              </a:spcAft>
              <a:buNone/>
            </a:pPr>
            <a:r>
              <a:rPr lang="en-US" sz="1500" b="1" dirty="0">
                <a:solidFill>
                  <a:srgbClr val="E6EEF5"/>
                </a:solidFill>
                <a:latin typeface="Calibri" pitchFamily="34" charset="0"/>
                <a:ea typeface="Calibri" pitchFamily="34" charset="-122"/>
                <a:cs typeface="Calibri" pitchFamily="34" charset="-120"/>
              </a:rPr>
              <a:t>policy dominates</a:t>
            </a:r>
            <a:pPr indent="0" marL="0">
              <a:spcAft>
                <a:spcPts val="600"/>
              </a:spcAft>
              <a:buNone/>
            </a:pPr>
            <a:r>
              <a:rPr lang="en-US" sz="1500" dirty="0">
                <a:solidFill>
                  <a:srgbClr val="E6EEF5"/>
                </a:solidFill>
                <a:latin typeface="Calibri" pitchFamily="34" charset="0"/>
                <a:ea typeface="Calibri" pitchFamily="34" charset="-122"/>
                <a:cs typeface="Calibri" pitchFamily="34" charset="-120"/>
              </a:rPr>
              <a:t>: a longer compliant path beats a shorter non-compliant one.</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0972800" cy="274320"/>
          </a:xfrm>
          <a:prstGeom prst="rect">
            <a:avLst/>
          </a:prstGeom>
          <a:noFill/>
          <a:ln/>
        </p:spPr>
        <p:txBody>
          <a:bodyPr wrap="square" lIns="0" tIns="0" rIns="0" bIns="0" rtlCol="0" anchor="t"/>
          <a:lstStyle/>
          <a:p>
            <a:pPr indent="0" marL="0">
              <a:buNone/>
            </a:pPr>
            <a:r>
              <a:rPr lang="en-US" sz="1200" b="1" spc="200" kern="0" dirty="0">
                <a:solidFill>
                  <a:srgbClr val="0FA3B1"/>
                </a:solidFill>
                <a:latin typeface="Calibri" pitchFamily="34" charset="0"/>
                <a:ea typeface="Calibri" pitchFamily="34" charset="-122"/>
                <a:cs typeface="Calibri" pitchFamily="34" charset="-120"/>
              </a:rPr>
              <a:t>ICMP · PART 01</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ICMP: Internet Control Message Protocol (RFC 792)</a:t>
            </a:r>
            <a:endParaRPr lang="en-US" sz="3000" dirty="0"/>
          </a:p>
        </p:txBody>
      </p:sp>
      <p:sp>
        <p:nvSpPr>
          <p:cNvPr id="5" name="Text 2"/>
          <p:cNvSpPr txBox="1"/>
          <p:nvPr/>
        </p:nvSpPr>
        <p:spPr>
          <a:xfrm>
            <a:off x="548640" y="1371600"/>
            <a:ext cx="10972800" cy="365760"/>
          </a:xfrm>
          <a:prstGeom prst="rect">
            <a:avLst/>
          </a:prstGeom>
          <a:noFill/>
          <a:ln/>
        </p:spPr>
        <p:txBody>
          <a:bodyPr wrap="square" lIns="0" tIns="0" rIns="0" bIns="0" rtlCol="0" anchor="t"/>
          <a:lstStyle/>
          <a:p>
            <a:pPr indent="0" marL="0">
              <a:buNone/>
            </a:pPr>
            <a:r>
              <a:rPr lang="en-US" sz="1600" i="1" dirty="0">
                <a:solidFill>
                  <a:srgbClr val="5B6B7A"/>
                </a:solidFill>
                <a:latin typeface="Calibri" pitchFamily="34" charset="0"/>
                <a:ea typeface="Calibri" pitchFamily="34" charset="-122"/>
                <a:cs typeface="Calibri" pitchFamily="34" charset="-120"/>
              </a:rPr>
              <a:t>Companion to IP: hosts and routers use it to exchange network-layer control information.</a:t>
            </a:r>
            <a:endParaRPr lang="en-US" sz="1600" dirty="0"/>
          </a:p>
        </p:txBody>
      </p:sp>
      <p:sp>
        <p:nvSpPr>
          <p:cNvPr id="6" name="Shape 3"/>
          <p:cNvSpPr/>
          <p:nvPr/>
        </p:nvSpPr>
        <p:spPr>
          <a:xfrm>
            <a:off x="548640" y="1920240"/>
            <a:ext cx="3566160" cy="2743200"/>
          </a:xfrm>
          <a:prstGeom prst="roundRect">
            <a:avLst>
              <a:gd name="adj" fmla="val 4000"/>
            </a:avLst>
          </a:prstGeom>
          <a:solidFill>
            <a:srgbClr val="EAF4F6"/>
          </a:solidFill>
          <a:ln w="12700">
            <a:solidFill>
              <a:srgbClr val="EAF4F6"/>
            </a:solidFill>
            <a:prstDash val="solid"/>
          </a:ln>
        </p:spPr>
      </p:sp>
      <p:sp>
        <p:nvSpPr>
          <p:cNvPr id="7" name="Shape 4"/>
          <p:cNvSpPr/>
          <p:nvPr/>
        </p:nvSpPr>
        <p:spPr>
          <a:xfrm>
            <a:off x="777240" y="2121408"/>
            <a:ext cx="457200" cy="457200"/>
          </a:xfrm>
          <a:prstGeom prst="ellipse">
            <a:avLst/>
          </a:prstGeom>
          <a:solidFill>
            <a:srgbClr val="0FA3B1"/>
          </a:solidFill>
          <a:ln w="12700">
            <a:solidFill>
              <a:srgbClr val="0FA3B1"/>
            </a:solidFill>
            <a:prstDash val="solid"/>
          </a:ln>
        </p:spPr>
      </p:sp>
      <p:sp>
        <p:nvSpPr>
          <p:cNvPr id="8" name="Text 5"/>
          <p:cNvSpPr txBox="1"/>
          <p:nvPr/>
        </p:nvSpPr>
        <p:spPr>
          <a:xfrm>
            <a:off x="777240" y="21214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6"/>
          <p:cNvSpPr txBox="1"/>
          <p:nvPr/>
        </p:nvSpPr>
        <p:spPr>
          <a:xfrm>
            <a:off x="1371600" y="2121408"/>
            <a:ext cx="2514600" cy="45720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Error reporting</a:t>
            </a:r>
            <a:endParaRPr lang="en-US" sz="1600" dirty="0"/>
          </a:p>
        </p:txBody>
      </p:sp>
      <p:sp>
        <p:nvSpPr>
          <p:cNvPr id="10" name="Text 7"/>
          <p:cNvSpPr txBox="1"/>
          <p:nvPr/>
        </p:nvSpPr>
        <p:spPr>
          <a:xfrm>
            <a:off x="777240" y="2697480"/>
            <a:ext cx="3108960" cy="1828800"/>
          </a:xfrm>
          <a:prstGeom prst="rect">
            <a:avLst/>
          </a:prstGeom>
          <a:noFill/>
          <a:ln/>
        </p:spPr>
        <p:txBody>
          <a:bodyPr wrap="square" lIns="0" tIns="0" rIns="0" bIns="0" rtlCol="0" anchor="t"/>
          <a:lstStyle/>
          <a:p>
            <a:pPr indent="0" marL="0">
              <a:buNone/>
            </a:pPr>
            <a:r>
              <a:rPr lang="en-US" sz="1400" dirty="0">
                <a:solidFill>
                  <a:srgbClr val="1B2B3A"/>
                </a:solidFill>
                <a:latin typeface="Calibri" pitchFamily="34" charset="0"/>
                <a:ea typeface="Calibri" pitchFamily="34" charset="-122"/>
                <a:cs typeface="Calibri" pitchFamily="34" charset="-120"/>
              </a:rPr>
              <a:t>Tells the </a:t>
            </a:r>
            <a:pPr indent="0" marL="0">
              <a:buNone/>
            </a:pPr>
            <a:r>
              <a:rPr lang="en-US" sz="1400" b="1" dirty="0">
                <a:solidFill>
                  <a:srgbClr val="1B2B3A"/>
                </a:solidFill>
                <a:latin typeface="Calibri" pitchFamily="34" charset="0"/>
                <a:ea typeface="Calibri" pitchFamily="34" charset="-122"/>
                <a:cs typeface="Calibri" pitchFamily="34" charset="-120"/>
              </a:rPr>
              <a:t>original source</a:t>
            </a:r>
            <a:pPr indent="0" marL="0">
              <a:buNone/>
            </a:pPr>
            <a:r>
              <a:rPr lang="en-US" sz="1400" dirty="0">
                <a:solidFill>
                  <a:srgbClr val="1B2B3A"/>
                </a:solidFill>
                <a:latin typeface="Calibri" pitchFamily="34" charset="0"/>
                <a:ea typeface="Calibri" pitchFamily="34" charset="-122"/>
                <a:cs typeface="Calibri" pitchFamily="34" charset="-120"/>
              </a:rPr>
              <a:t> when a datagram hits an error: unreachable net/host/port/protocol, fragmentation needed, TTL expired.</a:t>
            </a:r>
            <a:endParaRPr lang="en-US" sz="1400" dirty="0"/>
          </a:p>
        </p:txBody>
      </p:sp>
      <p:sp>
        <p:nvSpPr>
          <p:cNvPr id="11" name="Shape 8"/>
          <p:cNvSpPr/>
          <p:nvPr/>
        </p:nvSpPr>
        <p:spPr>
          <a:xfrm>
            <a:off x="548640" y="4846320"/>
            <a:ext cx="3566160" cy="1371600"/>
          </a:xfrm>
          <a:prstGeom prst="roundRect">
            <a:avLst>
              <a:gd name="adj" fmla="val 8000"/>
            </a:avLst>
          </a:prstGeom>
          <a:solidFill>
            <a:srgbClr val="EAF4F6"/>
          </a:solidFill>
          <a:ln w="12700">
            <a:solidFill>
              <a:srgbClr val="EAF4F6"/>
            </a:solidFill>
            <a:prstDash val="solid"/>
          </a:ln>
        </p:spPr>
      </p:sp>
      <p:sp>
        <p:nvSpPr>
          <p:cNvPr id="12" name="Shape 9"/>
          <p:cNvSpPr/>
          <p:nvPr/>
        </p:nvSpPr>
        <p:spPr>
          <a:xfrm>
            <a:off x="777240" y="5047488"/>
            <a:ext cx="457200" cy="457200"/>
          </a:xfrm>
          <a:prstGeom prst="ellipse">
            <a:avLst/>
          </a:prstGeom>
          <a:solidFill>
            <a:srgbClr val="0FA3B1"/>
          </a:solidFill>
          <a:ln w="12700">
            <a:solidFill>
              <a:srgbClr val="0FA3B1"/>
            </a:solidFill>
            <a:prstDash val="solid"/>
          </a:ln>
        </p:spPr>
      </p:sp>
      <p:sp>
        <p:nvSpPr>
          <p:cNvPr id="13" name="Text 10"/>
          <p:cNvSpPr txBox="1"/>
          <p:nvPr/>
        </p:nvSpPr>
        <p:spPr>
          <a:xfrm>
            <a:off x="777240" y="50474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1"/>
          <p:cNvSpPr txBox="1"/>
          <p:nvPr/>
        </p:nvSpPr>
        <p:spPr>
          <a:xfrm>
            <a:off x="1371600" y="5047488"/>
            <a:ext cx="2514600" cy="45720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Diagnostics / queries</a:t>
            </a:r>
            <a:endParaRPr lang="en-US" sz="1600" dirty="0"/>
          </a:p>
        </p:txBody>
      </p:sp>
      <p:sp>
        <p:nvSpPr>
          <p:cNvPr id="15" name="Text 12"/>
          <p:cNvSpPr txBox="1"/>
          <p:nvPr/>
        </p:nvSpPr>
        <p:spPr>
          <a:xfrm>
            <a:off x="777240" y="5623560"/>
            <a:ext cx="3108960" cy="457200"/>
          </a:xfrm>
          <a:prstGeom prst="rect">
            <a:avLst/>
          </a:prstGeom>
          <a:noFill/>
          <a:ln/>
        </p:spPr>
        <p:txBody>
          <a:bodyPr wrap="square" lIns="0" tIns="0" rIns="0" bIns="0" rtlCol="0" anchor="t"/>
          <a:lstStyle/>
          <a:p>
            <a:pPr indent="0" marL="0">
              <a:buNone/>
            </a:pPr>
            <a:r>
              <a:rPr lang="en-US" sz="1400" dirty="0">
                <a:solidFill>
                  <a:srgbClr val="1B2B3A"/>
                </a:solidFill>
                <a:latin typeface="Calibri" pitchFamily="34" charset="0"/>
                <a:ea typeface="Calibri" pitchFamily="34" charset="-122"/>
                <a:cs typeface="Calibri" pitchFamily="34" charset="-120"/>
              </a:rPr>
              <a:t>Echo Request &amp; Reply, used by </a:t>
            </a:r>
            <a:pPr indent="0" marL="0">
              <a:buNone/>
            </a:pPr>
            <a:r>
              <a:rPr lang="en-US" sz="1400" b="1" dirty="0">
                <a:solidFill>
                  <a:srgbClr val="1B2B3A"/>
                </a:solidFill>
                <a:latin typeface="Calibri" pitchFamily="34" charset="0"/>
                <a:ea typeface="Calibri" pitchFamily="34" charset="-122"/>
                <a:cs typeface="Calibri" pitchFamily="34" charset="-120"/>
              </a:rPr>
              <a:t>ping</a:t>
            </a:r>
            <a:pPr indent="0" marL="0">
              <a:buNone/>
            </a:pPr>
            <a:r>
              <a:rPr lang="en-US" sz="1400" dirty="0">
                <a:solidFill>
                  <a:srgbClr val="1B2B3A"/>
                </a:solidFill>
                <a:latin typeface="Calibri" pitchFamily="34" charset="0"/>
                <a:ea typeface="Calibri" pitchFamily="34" charset="-122"/>
                <a:cs typeface="Calibri" pitchFamily="34" charset="-120"/>
              </a:rPr>
              <a:t>.</a:t>
            </a:r>
            <a:endParaRPr lang="en-US" sz="1400" dirty="0"/>
          </a:p>
        </p:txBody>
      </p:sp>
      <p:sp>
        <p:nvSpPr>
          <p:cNvPr id="16" name="Text 13"/>
          <p:cNvSpPr txBox="1"/>
          <p:nvPr/>
        </p:nvSpPr>
        <p:spPr>
          <a:xfrm>
            <a:off x="4480560" y="1920240"/>
            <a:ext cx="7132320" cy="365760"/>
          </a:xfrm>
          <a:prstGeom prst="rect">
            <a:avLst/>
          </a:prstGeom>
          <a:noFill/>
          <a:ln/>
        </p:spPr>
        <p:txBody>
          <a:bodyPr wrap="square" lIns="0" tIns="0" rIns="0" bIns="0" rtlCol="0" anchor="t"/>
          <a:lstStyle/>
          <a:p>
            <a:pPr indent="0" marL="0">
              <a:buNone/>
            </a:pPr>
            <a:r>
              <a:rPr lang="en-US" sz="1800" b="1" dirty="0">
                <a:solidFill>
                  <a:srgbClr val="0B1F3A"/>
                </a:solidFill>
                <a:latin typeface="Cambria" pitchFamily="34" charset="0"/>
                <a:ea typeface="Cambria" pitchFamily="34" charset="-122"/>
                <a:cs typeface="Cambria" pitchFamily="34" charset="-120"/>
              </a:rPr>
              <a:t>IPv4 header "Protocol" field</a:t>
            </a:r>
            <a:endParaRPr lang="en-US" sz="1800" dirty="0"/>
          </a:p>
        </p:txBody>
      </p:sp>
      <p:sp>
        <p:nvSpPr>
          <p:cNvPr id="17" name="Shape 14"/>
          <p:cNvSpPr/>
          <p:nvPr/>
        </p:nvSpPr>
        <p:spPr>
          <a:xfrm>
            <a:off x="4480560" y="2468880"/>
            <a:ext cx="2286000" cy="2194560"/>
          </a:xfrm>
          <a:prstGeom prst="roundRect">
            <a:avLst>
              <a:gd name="adj" fmla="val 5000"/>
            </a:avLst>
          </a:prstGeom>
          <a:solidFill>
            <a:srgbClr val="0B1F3A"/>
          </a:solidFill>
          <a:ln w="12700">
            <a:solidFill>
              <a:srgbClr val="0B1F3A"/>
            </a:solidFill>
            <a:prstDash val="solid"/>
          </a:ln>
        </p:spPr>
      </p:sp>
      <p:sp>
        <p:nvSpPr>
          <p:cNvPr id="18" name="Text 15"/>
          <p:cNvSpPr txBox="1"/>
          <p:nvPr/>
        </p:nvSpPr>
        <p:spPr>
          <a:xfrm>
            <a:off x="4480560" y="2606040"/>
            <a:ext cx="2286000" cy="1280160"/>
          </a:xfrm>
          <a:prstGeom prst="rect">
            <a:avLst/>
          </a:prstGeom>
          <a:noFill/>
          <a:ln/>
        </p:spPr>
        <p:txBody>
          <a:bodyPr wrap="square" lIns="0" tIns="0" rIns="0" bIns="0" rtlCol="0" anchor="ctr"/>
          <a:lstStyle/>
          <a:p>
            <a:pPr algn="ctr" indent="0" marL="0">
              <a:buNone/>
            </a:pPr>
            <a:r>
              <a:rPr lang="en-US" sz="6400" b="1" dirty="0">
                <a:solidFill>
                  <a:srgbClr val="F5A623"/>
                </a:solidFill>
                <a:latin typeface="Cambria" pitchFamily="34" charset="0"/>
                <a:ea typeface="Cambria" pitchFamily="34" charset="-122"/>
                <a:cs typeface="Cambria" pitchFamily="34" charset="-120"/>
              </a:rPr>
              <a:t>1</a:t>
            </a:r>
            <a:endParaRPr lang="en-US" sz="6400" dirty="0"/>
          </a:p>
        </p:txBody>
      </p:sp>
      <p:sp>
        <p:nvSpPr>
          <p:cNvPr id="19" name="Text 16"/>
          <p:cNvSpPr txBox="1"/>
          <p:nvPr/>
        </p:nvSpPr>
        <p:spPr>
          <a:xfrm>
            <a:off x="4480560" y="3931920"/>
            <a:ext cx="2286000" cy="457200"/>
          </a:xfrm>
          <a:prstGeom prst="rect">
            <a:avLst/>
          </a:prstGeom>
          <a:noFill/>
          <a:ln/>
        </p:spPr>
        <p:txBody>
          <a:bodyPr wrap="square" lIns="0" tIns="0" rIns="0" bIns="0" rtlCol="0" anchor="t"/>
          <a:lstStyle/>
          <a:p>
            <a:pPr algn="ctr" indent="0" marL="0">
              <a:buNone/>
            </a:pPr>
            <a:r>
              <a:rPr lang="en-US" sz="2000" b="1" dirty="0">
                <a:solidFill>
                  <a:srgbClr val="FFFFFF"/>
                </a:solidFill>
                <a:latin typeface="Calibri" pitchFamily="34" charset="0"/>
                <a:ea typeface="Calibri" pitchFamily="34" charset="-122"/>
                <a:cs typeface="Calibri" pitchFamily="34" charset="-120"/>
              </a:rPr>
              <a:t>ICMP</a:t>
            </a:r>
            <a:endParaRPr lang="en-US" sz="2000" dirty="0"/>
          </a:p>
        </p:txBody>
      </p:sp>
      <p:sp>
        <p:nvSpPr>
          <p:cNvPr id="20" name="Shape 17"/>
          <p:cNvSpPr/>
          <p:nvPr/>
        </p:nvSpPr>
        <p:spPr>
          <a:xfrm>
            <a:off x="6949440" y="2468880"/>
            <a:ext cx="2286000" cy="2194560"/>
          </a:xfrm>
          <a:prstGeom prst="roundRect">
            <a:avLst>
              <a:gd name="adj" fmla="val 5000"/>
            </a:avLst>
          </a:prstGeom>
          <a:solidFill>
            <a:srgbClr val="EAF4F6"/>
          </a:solidFill>
          <a:ln w="12700">
            <a:solidFill>
              <a:srgbClr val="EAF4F6"/>
            </a:solidFill>
            <a:prstDash val="solid"/>
          </a:ln>
        </p:spPr>
      </p:sp>
      <p:sp>
        <p:nvSpPr>
          <p:cNvPr id="21" name="Text 18"/>
          <p:cNvSpPr txBox="1"/>
          <p:nvPr/>
        </p:nvSpPr>
        <p:spPr>
          <a:xfrm>
            <a:off x="6949440" y="2606040"/>
            <a:ext cx="2286000" cy="1280160"/>
          </a:xfrm>
          <a:prstGeom prst="rect">
            <a:avLst/>
          </a:prstGeom>
          <a:noFill/>
          <a:ln/>
        </p:spPr>
        <p:txBody>
          <a:bodyPr wrap="square" lIns="0" tIns="0" rIns="0" bIns="0" rtlCol="0" anchor="ctr"/>
          <a:lstStyle/>
          <a:p>
            <a:pPr algn="ctr" indent="0" marL="0">
              <a:buNone/>
            </a:pPr>
            <a:r>
              <a:rPr lang="en-US" sz="6400" b="1" dirty="0">
                <a:solidFill>
                  <a:srgbClr val="0FA3B1"/>
                </a:solidFill>
                <a:latin typeface="Cambria" pitchFamily="34" charset="0"/>
                <a:ea typeface="Cambria" pitchFamily="34" charset="-122"/>
                <a:cs typeface="Cambria" pitchFamily="34" charset="-120"/>
              </a:rPr>
              <a:t>6</a:t>
            </a:r>
            <a:endParaRPr lang="en-US" sz="6400" dirty="0"/>
          </a:p>
        </p:txBody>
      </p:sp>
      <p:sp>
        <p:nvSpPr>
          <p:cNvPr id="22" name="Text 19"/>
          <p:cNvSpPr txBox="1"/>
          <p:nvPr/>
        </p:nvSpPr>
        <p:spPr>
          <a:xfrm>
            <a:off x="6949440" y="3931920"/>
            <a:ext cx="2286000" cy="457200"/>
          </a:xfrm>
          <a:prstGeom prst="rect">
            <a:avLst/>
          </a:prstGeom>
          <a:noFill/>
          <a:ln/>
        </p:spPr>
        <p:txBody>
          <a:bodyPr wrap="square" lIns="0" tIns="0" rIns="0" bIns="0" rtlCol="0" anchor="t"/>
          <a:lstStyle/>
          <a:p>
            <a:pPr algn="ctr" indent="0" marL="0">
              <a:buNone/>
            </a:pPr>
            <a:r>
              <a:rPr lang="en-US" sz="2000" b="1" dirty="0">
                <a:solidFill>
                  <a:srgbClr val="0B1F3A"/>
                </a:solidFill>
                <a:latin typeface="Calibri" pitchFamily="34" charset="0"/>
                <a:ea typeface="Calibri" pitchFamily="34" charset="-122"/>
                <a:cs typeface="Calibri" pitchFamily="34" charset="-120"/>
              </a:rPr>
              <a:t>TCP</a:t>
            </a:r>
            <a:endParaRPr lang="en-US" sz="2000" dirty="0"/>
          </a:p>
        </p:txBody>
      </p:sp>
      <p:sp>
        <p:nvSpPr>
          <p:cNvPr id="23" name="Shape 20"/>
          <p:cNvSpPr/>
          <p:nvPr/>
        </p:nvSpPr>
        <p:spPr>
          <a:xfrm>
            <a:off x="9418320" y="2468880"/>
            <a:ext cx="2286000" cy="2194560"/>
          </a:xfrm>
          <a:prstGeom prst="roundRect">
            <a:avLst>
              <a:gd name="adj" fmla="val 5000"/>
            </a:avLst>
          </a:prstGeom>
          <a:solidFill>
            <a:srgbClr val="EAF4F6"/>
          </a:solidFill>
          <a:ln w="12700">
            <a:solidFill>
              <a:srgbClr val="EAF4F6"/>
            </a:solidFill>
            <a:prstDash val="solid"/>
          </a:ln>
        </p:spPr>
      </p:sp>
      <p:sp>
        <p:nvSpPr>
          <p:cNvPr id="24" name="Text 21"/>
          <p:cNvSpPr txBox="1"/>
          <p:nvPr/>
        </p:nvSpPr>
        <p:spPr>
          <a:xfrm>
            <a:off x="9418320" y="2606040"/>
            <a:ext cx="2286000" cy="1280160"/>
          </a:xfrm>
          <a:prstGeom prst="rect">
            <a:avLst/>
          </a:prstGeom>
          <a:noFill/>
          <a:ln/>
        </p:spPr>
        <p:txBody>
          <a:bodyPr wrap="square" lIns="0" tIns="0" rIns="0" bIns="0" rtlCol="0" anchor="ctr"/>
          <a:lstStyle/>
          <a:p>
            <a:pPr algn="ctr" indent="0" marL="0">
              <a:buNone/>
            </a:pPr>
            <a:r>
              <a:rPr lang="en-US" sz="6400" b="1" dirty="0">
                <a:solidFill>
                  <a:srgbClr val="0FA3B1"/>
                </a:solidFill>
                <a:latin typeface="Cambria" pitchFamily="34" charset="0"/>
                <a:ea typeface="Cambria" pitchFamily="34" charset="-122"/>
                <a:cs typeface="Cambria" pitchFamily="34" charset="-120"/>
              </a:rPr>
              <a:t>17</a:t>
            </a:r>
            <a:endParaRPr lang="en-US" sz="6400" dirty="0"/>
          </a:p>
        </p:txBody>
      </p:sp>
      <p:sp>
        <p:nvSpPr>
          <p:cNvPr id="25" name="Text 22"/>
          <p:cNvSpPr txBox="1"/>
          <p:nvPr/>
        </p:nvSpPr>
        <p:spPr>
          <a:xfrm>
            <a:off x="9418320" y="3931920"/>
            <a:ext cx="2286000" cy="457200"/>
          </a:xfrm>
          <a:prstGeom prst="rect">
            <a:avLst/>
          </a:prstGeom>
          <a:noFill/>
          <a:ln/>
        </p:spPr>
        <p:txBody>
          <a:bodyPr wrap="square" lIns="0" tIns="0" rIns="0" bIns="0" rtlCol="0" anchor="t"/>
          <a:lstStyle/>
          <a:p>
            <a:pPr algn="ctr" indent="0" marL="0">
              <a:buNone/>
            </a:pPr>
            <a:r>
              <a:rPr lang="en-US" sz="2000" b="1" dirty="0">
                <a:solidFill>
                  <a:srgbClr val="0B1F3A"/>
                </a:solidFill>
                <a:latin typeface="Calibri" pitchFamily="34" charset="0"/>
                <a:ea typeface="Calibri" pitchFamily="34" charset="-122"/>
                <a:cs typeface="Calibri" pitchFamily="34" charset="-120"/>
              </a:rPr>
              <a:t>UDP</a:t>
            </a:r>
            <a:endParaRPr lang="en-US" sz="2000" dirty="0"/>
          </a:p>
        </p:txBody>
      </p:sp>
      <p:sp>
        <p:nvSpPr>
          <p:cNvPr id="26" name="Shape 23"/>
          <p:cNvSpPr/>
          <p:nvPr/>
        </p:nvSpPr>
        <p:spPr>
          <a:xfrm>
            <a:off x="548640" y="4846320"/>
            <a:ext cx="11091672" cy="1371600"/>
          </a:xfrm>
          <a:prstGeom prst="roundRect">
            <a:avLst>
              <a:gd name="adj" fmla="val 8000"/>
            </a:avLst>
          </a:prstGeom>
          <a:solidFill>
            <a:srgbClr val="0B1F3A"/>
          </a:solidFill>
          <a:ln w="12700">
            <a:solidFill>
              <a:srgbClr val="0B1F3A"/>
            </a:solidFill>
            <a:prstDash val="solid"/>
          </a:ln>
        </p:spPr>
      </p:sp>
      <p:sp>
        <p:nvSpPr>
          <p:cNvPr id="27" name="Text 24"/>
          <p:cNvSpPr txBox="1"/>
          <p:nvPr/>
        </p:nvSpPr>
        <p:spPr>
          <a:xfrm>
            <a:off x="822960" y="4846320"/>
            <a:ext cx="10515600" cy="137160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ICMP sits </a:t>
            </a:r>
            <a:pPr indent="0" marL="0">
              <a:buNone/>
            </a:pPr>
            <a:r>
              <a:rPr lang="en-US" sz="1700" b="1" dirty="0">
                <a:solidFill>
                  <a:srgbClr val="FFFFFF"/>
                </a:solidFill>
                <a:latin typeface="Calibri" pitchFamily="34" charset="0"/>
                <a:ea typeface="Calibri" pitchFamily="34" charset="-122"/>
                <a:cs typeface="Calibri" pitchFamily="34" charset="-120"/>
              </a:rPr>
              <a:t>just above IP</a:t>
            </a:r>
            <a:pPr indent="0" marL="0">
              <a:buNone/>
            </a:pPr>
            <a:r>
              <a:rPr lang="en-US" sz="1700" dirty="0">
                <a:solidFill>
                  <a:srgbClr val="FFFFFF"/>
                </a:solidFill>
                <a:latin typeface="Calibri" pitchFamily="34" charset="0"/>
                <a:ea typeface="Calibri" pitchFamily="34" charset="-122"/>
                <a:cs typeface="Calibri" pitchFamily="34" charset="-120"/>
              </a:rPr>
              <a:t>: messages travel as the IP payload.</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0972800" cy="274320"/>
          </a:xfrm>
          <a:prstGeom prst="rect">
            <a:avLst/>
          </a:prstGeom>
          <a:noFill/>
          <a:ln/>
        </p:spPr>
        <p:txBody>
          <a:bodyPr wrap="square" lIns="0" tIns="0" rIns="0" bIns="0" rtlCol="0" anchor="t"/>
          <a:lstStyle/>
          <a:p>
            <a:pPr indent="0" marL="0">
              <a:buNone/>
            </a:pPr>
            <a:r>
              <a:rPr lang="en-US" sz="1200" b="1" spc="200" kern="0" dirty="0">
                <a:solidFill>
                  <a:srgbClr val="0FA3B1"/>
                </a:solidFill>
                <a:latin typeface="Calibri" pitchFamily="34" charset="0"/>
                <a:ea typeface="Calibri" pitchFamily="34" charset="-122"/>
                <a:cs typeface="Calibri" pitchFamily="34" charset="-120"/>
              </a:rPr>
              <a:t>ICMP · PART 01</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ICMP Message Format &amp; Error Payload</a:t>
            </a:r>
            <a:endParaRPr lang="en-US" sz="3000" dirty="0"/>
          </a:p>
        </p:txBody>
      </p:sp>
      <p:sp>
        <p:nvSpPr>
          <p:cNvPr id="5" name="Text 2"/>
          <p:cNvSpPr txBox="1"/>
          <p:nvPr/>
        </p:nvSpPr>
        <p:spPr>
          <a:xfrm>
            <a:off x="548640" y="1371600"/>
            <a:ext cx="5486400" cy="365760"/>
          </a:xfrm>
          <a:prstGeom prst="rect">
            <a:avLst/>
          </a:prstGeom>
          <a:noFill/>
          <a:ln/>
        </p:spPr>
        <p:txBody>
          <a:bodyPr wrap="square" lIns="0" tIns="0" rIns="0" bIns="0" rtlCol="0" anchor="t"/>
          <a:lstStyle/>
          <a:p>
            <a:pPr indent="0" marL="0">
              <a:buNone/>
            </a:pPr>
            <a:r>
              <a:rPr lang="en-US" sz="1800" b="1" dirty="0">
                <a:solidFill>
                  <a:srgbClr val="0B1F3A"/>
                </a:solidFill>
                <a:latin typeface="Cambria" pitchFamily="34" charset="0"/>
                <a:ea typeface="Cambria" pitchFamily="34" charset="-122"/>
                <a:cs typeface="Cambria" pitchFamily="34" charset="-120"/>
              </a:rPr>
              <a:t>8-byte ICMP header</a:t>
            </a:r>
            <a:endParaRPr lang="en-US" sz="1800" dirty="0"/>
          </a:p>
        </p:txBody>
      </p:sp>
      <p:sp>
        <p:nvSpPr>
          <p:cNvPr id="6" name="Shape 3"/>
          <p:cNvSpPr/>
          <p:nvPr/>
        </p:nvSpPr>
        <p:spPr>
          <a:xfrm>
            <a:off x="548640" y="1828800"/>
            <a:ext cx="2011680" cy="1005840"/>
          </a:xfrm>
          <a:prstGeom prst="rect">
            <a:avLst/>
          </a:prstGeom>
          <a:solidFill>
            <a:srgbClr val="0B1F3A"/>
          </a:solidFill>
          <a:ln w="25400">
            <a:solidFill>
              <a:srgbClr val="FFFFFF"/>
            </a:solidFill>
            <a:prstDash val="solid"/>
          </a:ln>
        </p:spPr>
      </p:sp>
      <p:sp>
        <p:nvSpPr>
          <p:cNvPr id="7" name="Text 4"/>
          <p:cNvSpPr txBox="1"/>
          <p:nvPr/>
        </p:nvSpPr>
        <p:spPr>
          <a:xfrm>
            <a:off x="548640" y="1920240"/>
            <a:ext cx="201168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Type</a:t>
            </a:r>
            <a:endParaRPr lang="en-US" sz="1800" dirty="0"/>
          </a:p>
        </p:txBody>
      </p:sp>
      <p:sp>
        <p:nvSpPr>
          <p:cNvPr id="8" name="Text 5"/>
          <p:cNvSpPr txBox="1"/>
          <p:nvPr/>
        </p:nvSpPr>
        <p:spPr>
          <a:xfrm>
            <a:off x="548640" y="2377440"/>
            <a:ext cx="2011680" cy="365760"/>
          </a:xfrm>
          <a:prstGeom prst="rect">
            <a:avLst/>
          </a:prstGeom>
          <a:noFill/>
          <a:ln/>
        </p:spPr>
        <p:txBody>
          <a:bodyPr wrap="square" lIns="0" tIns="0" rIns="0" bIns="0" rtlCol="0" anchor="t"/>
          <a:lstStyle/>
          <a:p>
            <a:pPr algn="ctr" indent="0" marL="0">
              <a:buNone/>
            </a:pPr>
            <a:r>
              <a:rPr lang="en-US" sz="1400" dirty="0">
                <a:solidFill>
                  <a:srgbClr val="CADCFC"/>
                </a:solidFill>
                <a:latin typeface="Calibri" pitchFamily="34" charset="0"/>
                <a:ea typeface="Calibri" pitchFamily="34" charset="-122"/>
                <a:cs typeface="Calibri" pitchFamily="34" charset="-120"/>
              </a:rPr>
              <a:t>8 bits</a:t>
            </a:r>
            <a:endParaRPr lang="en-US" sz="1400" dirty="0"/>
          </a:p>
        </p:txBody>
      </p:sp>
      <p:sp>
        <p:nvSpPr>
          <p:cNvPr id="9" name="Shape 6"/>
          <p:cNvSpPr/>
          <p:nvPr/>
        </p:nvSpPr>
        <p:spPr>
          <a:xfrm>
            <a:off x="2560320" y="1828800"/>
            <a:ext cx="2011680" cy="1005840"/>
          </a:xfrm>
          <a:prstGeom prst="rect">
            <a:avLst/>
          </a:prstGeom>
          <a:solidFill>
            <a:srgbClr val="0B1F3A"/>
          </a:solidFill>
          <a:ln w="25400">
            <a:solidFill>
              <a:srgbClr val="FFFFFF"/>
            </a:solidFill>
            <a:prstDash val="solid"/>
          </a:ln>
        </p:spPr>
      </p:sp>
      <p:sp>
        <p:nvSpPr>
          <p:cNvPr id="10" name="Text 7"/>
          <p:cNvSpPr txBox="1"/>
          <p:nvPr/>
        </p:nvSpPr>
        <p:spPr>
          <a:xfrm>
            <a:off x="2560320" y="1920240"/>
            <a:ext cx="201168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Code</a:t>
            </a:r>
            <a:endParaRPr lang="en-US" sz="1800" dirty="0"/>
          </a:p>
        </p:txBody>
      </p:sp>
      <p:sp>
        <p:nvSpPr>
          <p:cNvPr id="11" name="Text 8"/>
          <p:cNvSpPr txBox="1"/>
          <p:nvPr/>
        </p:nvSpPr>
        <p:spPr>
          <a:xfrm>
            <a:off x="2560320" y="2377440"/>
            <a:ext cx="2011680" cy="365760"/>
          </a:xfrm>
          <a:prstGeom prst="rect">
            <a:avLst/>
          </a:prstGeom>
          <a:noFill/>
          <a:ln/>
        </p:spPr>
        <p:txBody>
          <a:bodyPr wrap="square" lIns="0" tIns="0" rIns="0" bIns="0" rtlCol="0" anchor="t"/>
          <a:lstStyle/>
          <a:p>
            <a:pPr algn="ctr" indent="0" marL="0">
              <a:buNone/>
            </a:pPr>
            <a:r>
              <a:rPr lang="en-US" sz="1400" dirty="0">
                <a:solidFill>
                  <a:srgbClr val="CADCFC"/>
                </a:solidFill>
                <a:latin typeface="Calibri" pitchFamily="34" charset="0"/>
                <a:ea typeface="Calibri" pitchFamily="34" charset="-122"/>
                <a:cs typeface="Calibri" pitchFamily="34" charset="-120"/>
              </a:rPr>
              <a:t>8 bits</a:t>
            </a:r>
            <a:endParaRPr lang="en-US" sz="1400" dirty="0"/>
          </a:p>
        </p:txBody>
      </p:sp>
      <p:sp>
        <p:nvSpPr>
          <p:cNvPr id="12" name="Shape 9"/>
          <p:cNvSpPr/>
          <p:nvPr/>
        </p:nvSpPr>
        <p:spPr>
          <a:xfrm>
            <a:off x="4572000" y="1828800"/>
            <a:ext cx="3108960" cy="1005840"/>
          </a:xfrm>
          <a:prstGeom prst="rect">
            <a:avLst/>
          </a:prstGeom>
          <a:solidFill>
            <a:srgbClr val="0B1F3A"/>
          </a:solidFill>
          <a:ln w="25400">
            <a:solidFill>
              <a:srgbClr val="FFFFFF"/>
            </a:solidFill>
            <a:prstDash val="solid"/>
          </a:ln>
        </p:spPr>
      </p:sp>
      <p:sp>
        <p:nvSpPr>
          <p:cNvPr id="13" name="Text 10"/>
          <p:cNvSpPr txBox="1"/>
          <p:nvPr/>
        </p:nvSpPr>
        <p:spPr>
          <a:xfrm>
            <a:off x="4572000" y="1920240"/>
            <a:ext cx="310896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Checksum</a:t>
            </a:r>
            <a:endParaRPr lang="en-US" sz="1800" dirty="0"/>
          </a:p>
        </p:txBody>
      </p:sp>
      <p:sp>
        <p:nvSpPr>
          <p:cNvPr id="14" name="Text 11"/>
          <p:cNvSpPr txBox="1"/>
          <p:nvPr/>
        </p:nvSpPr>
        <p:spPr>
          <a:xfrm>
            <a:off x="4572000" y="2377440"/>
            <a:ext cx="3108960" cy="365760"/>
          </a:xfrm>
          <a:prstGeom prst="rect">
            <a:avLst/>
          </a:prstGeom>
          <a:noFill/>
          <a:ln/>
        </p:spPr>
        <p:txBody>
          <a:bodyPr wrap="square" lIns="0" tIns="0" rIns="0" bIns="0" rtlCol="0" anchor="t"/>
          <a:lstStyle/>
          <a:p>
            <a:pPr algn="ctr" indent="0" marL="0">
              <a:buNone/>
            </a:pPr>
            <a:r>
              <a:rPr lang="en-US" sz="1400" dirty="0">
                <a:solidFill>
                  <a:srgbClr val="CADCFC"/>
                </a:solidFill>
                <a:latin typeface="Calibri" pitchFamily="34" charset="0"/>
                <a:ea typeface="Calibri" pitchFamily="34" charset="-122"/>
                <a:cs typeface="Calibri" pitchFamily="34" charset="-120"/>
              </a:rPr>
              <a:t>16 bits</a:t>
            </a:r>
            <a:endParaRPr lang="en-US" sz="1400" dirty="0"/>
          </a:p>
        </p:txBody>
      </p:sp>
      <p:sp>
        <p:nvSpPr>
          <p:cNvPr id="15" name="Shape 12"/>
          <p:cNvSpPr/>
          <p:nvPr/>
        </p:nvSpPr>
        <p:spPr>
          <a:xfrm>
            <a:off x="7680960" y="1828800"/>
            <a:ext cx="3959352" cy="1005840"/>
          </a:xfrm>
          <a:prstGeom prst="rect">
            <a:avLst/>
          </a:prstGeom>
          <a:solidFill>
            <a:srgbClr val="0FA3B1"/>
          </a:solidFill>
          <a:ln w="25400">
            <a:solidFill>
              <a:srgbClr val="FFFFFF"/>
            </a:solidFill>
            <a:prstDash val="solid"/>
          </a:ln>
        </p:spPr>
      </p:sp>
      <p:sp>
        <p:nvSpPr>
          <p:cNvPr id="16" name="Text 13"/>
          <p:cNvSpPr txBox="1"/>
          <p:nvPr/>
        </p:nvSpPr>
        <p:spPr>
          <a:xfrm>
            <a:off x="7680960" y="1920240"/>
            <a:ext cx="3959352"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Rest of header</a:t>
            </a:r>
            <a:endParaRPr lang="en-US" sz="1800" dirty="0"/>
          </a:p>
        </p:txBody>
      </p:sp>
      <p:sp>
        <p:nvSpPr>
          <p:cNvPr id="17" name="Text 14"/>
          <p:cNvSpPr txBox="1"/>
          <p:nvPr/>
        </p:nvSpPr>
        <p:spPr>
          <a:xfrm>
            <a:off x="7680960" y="2377440"/>
            <a:ext cx="3959352" cy="365760"/>
          </a:xfrm>
          <a:prstGeom prst="rect">
            <a:avLst/>
          </a:prstGeom>
          <a:noFill/>
          <a:ln/>
        </p:spPr>
        <p:txBody>
          <a:bodyPr wrap="square" lIns="0" tIns="0" rIns="0" bIns="0" rtlCol="0" anchor="t"/>
          <a:lstStyle/>
          <a:p>
            <a:pPr algn="ctr" indent="0" marL="0">
              <a:buNone/>
            </a:pPr>
            <a:r>
              <a:rPr lang="en-US" sz="1400" dirty="0">
                <a:solidFill>
                  <a:srgbClr val="CADCFC"/>
                </a:solidFill>
                <a:latin typeface="Calibri" pitchFamily="34" charset="0"/>
                <a:ea typeface="Calibri" pitchFamily="34" charset="-122"/>
                <a:cs typeface="Calibri" pitchFamily="34" charset="-120"/>
              </a:rPr>
              <a:t>32 bits</a:t>
            </a:r>
            <a:endParaRPr lang="en-US" sz="1400" dirty="0"/>
          </a:p>
        </p:txBody>
      </p:sp>
      <p:sp>
        <p:nvSpPr>
          <p:cNvPr id="18" name="Text 15"/>
          <p:cNvSpPr txBox="1"/>
          <p:nvPr/>
        </p:nvSpPr>
        <p:spPr>
          <a:xfrm>
            <a:off x="548640" y="2971800"/>
            <a:ext cx="10972800" cy="548640"/>
          </a:xfrm>
          <a:prstGeom prst="rect">
            <a:avLst/>
          </a:prstGeom>
          <a:noFill/>
          <a:ln/>
        </p:spPr>
        <p:txBody>
          <a:bodyPr wrap="square" lIns="0" tIns="0" rIns="0" bIns="0" rtlCol="0" anchor="t"/>
          <a:lstStyle/>
          <a:p>
            <a:pPr indent="0" marL="0">
              <a:buNone/>
            </a:pPr>
            <a:r>
              <a:rPr lang="en-US" sz="1400" dirty="0">
                <a:solidFill>
                  <a:srgbClr val="5B6B7A"/>
                </a:solidFill>
                <a:latin typeface="Calibri" pitchFamily="34" charset="0"/>
                <a:ea typeface="Calibri" pitchFamily="34" charset="-122"/>
                <a:cs typeface="Calibri" pitchFamily="34" charset="-120"/>
              </a:rPr>
              <a:t>Checksum covers the whole ICMP message (1's complement). Rest of header is type-specific (e.g. Ping ID + sequence number).</a:t>
            </a:r>
            <a:endParaRPr lang="en-US" sz="1400" dirty="0"/>
          </a:p>
        </p:txBody>
      </p:sp>
      <p:sp>
        <p:nvSpPr>
          <p:cNvPr id="19" name="Shape 16"/>
          <p:cNvSpPr/>
          <p:nvPr/>
        </p:nvSpPr>
        <p:spPr>
          <a:xfrm>
            <a:off x="548640" y="3657600"/>
            <a:ext cx="11091672" cy="685800"/>
          </a:xfrm>
          <a:prstGeom prst="roundRect">
            <a:avLst>
              <a:gd name="adj" fmla="val 16000"/>
            </a:avLst>
          </a:prstGeom>
          <a:solidFill>
            <a:srgbClr val="F5A623"/>
          </a:solidFill>
          <a:ln w="12700">
            <a:solidFill>
              <a:srgbClr val="F5A623"/>
            </a:solidFill>
            <a:prstDash val="solid"/>
          </a:ln>
        </p:spPr>
      </p:sp>
      <p:sp>
        <p:nvSpPr>
          <p:cNvPr id="20" name="Text 17"/>
          <p:cNvSpPr txBox="1"/>
          <p:nvPr/>
        </p:nvSpPr>
        <p:spPr>
          <a:xfrm>
            <a:off x="822960" y="3657600"/>
            <a:ext cx="10515600" cy="68580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Error payload  =  full IP header (20 B)  +  first 8 bytes of the original IP payload</a:t>
            </a:r>
            <a:endParaRPr lang="en-US" sz="1400" dirty="0"/>
          </a:p>
        </p:txBody>
      </p:sp>
      <p:sp>
        <p:nvSpPr>
          <p:cNvPr id="21" name="Shape 18"/>
          <p:cNvSpPr/>
          <p:nvPr/>
        </p:nvSpPr>
        <p:spPr>
          <a:xfrm>
            <a:off x="548640" y="4572000"/>
            <a:ext cx="11091672" cy="1691640"/>
          </a:xfrm>
          <a:prstGeom prst="roundRect">
            <a:avLst>
              <a:gd name="adj" fmla="val 6486"/>
            </a:avLst>
          </a:prstGeom>
          <a:solidFill>
            <a:srgbClr val="EAF4F6"/>
          </a:solidFill>
          <a:ln w="12700">
            <a:solidFill>
              <a:srgbClr val="EAF4F6"/>
            </a:solidFill>
            <a:prstDash val="solid"/>
          </a:ln>
        </p:spPr>
      </p:sp>
      <p:sp>
        <p:nvSpPr>
          <p:cNvPr id="22" name="Text 19"/>
          <p:cNvSpPr txBox="1"/>
          <p:nvPr/>
        </p:nvSpPr>
        <p:spPr>
          <a:xfrm>
            <a:off x="777240" y="4754880"/>
            <a:ext cx="10634472" cy="411480"/>
          </a:xfrm>
          <a:prstGeom prst="rect">
            <a:avLst/>
          </a:prstGeom>
          <a:noFill/>
          <a:ln/>
        </p:spPr>
        <p:txBody>
          <a:bodyPr wrap="square" lIns="0" tIns="0" rIns="0" bIns="0" rtlCol="0" anchor="ctr"/>
          <a:lstStyle/>
          <a:p>
            <a:pPr indent="0" marL="0">
              <a:buNone/>
            </a:pPr>
            <a:r>
              <a:rPr lang="en-US" sz="1700" b="1" dirty="0">
                <a:solidFill>
                  <a:srgbClr val="0B1F3A"/>
                </a:solidFill>
                <a:latin typeface="Cambria" pitchFamily="34" charset="0"/>
                <a:ea typeface="Cambria" pitchFamily="34" charset="-122"/>
                <a:cs typeface="Cambria" pitchFamily="34" charset="-120"/>
              </a:rPr>
              <a:t>Why 8 bytes?</a:t>
            </a:r>
            <a:endParaRPr lang="en-US" sz="1700" dirty="0"/>
          </a:p>
        </p:txBody>
      </p:sp>
      <p:sp>
        <p:nvSpPr>
          <p:cNvPr id="23" name="Text 20"/>
          <p:cNvSpPr txBox="1"/>
          <p:nvPr/>
        </p:nvSpPr>
        <p:spPr>
          <a:xfrm>
            <a:off x="777240" y="5257800"/>
            <a:ext cx="10634472" cy="868680"/>
          </a:xfrm>
          <a:prstGeom prst="rect">
            <a:avLst/>
          </a:prstGeom>
          <a:noFill/>
          <a:ln/>
        </p:spPr>
        <p:txBody>
          <a:bodyPr wrap="square" lIns="0" tIns="0" rIns="0" bIns="0" rtlCol="0" anchor="t"/>
          <a:lstStyle/>
          <a:p>
            <a:pPr indent="0" marL="0">
              <a:spcAft>
                <a:spcPts val="600"/>
              </a:spcAft>
              <a:buNone/>
            </a:pPr>
            <a:r>
              <a:rPr lang="en-US" sz="1500" dirty="0">
                <a:solidFill>
                  <a:srgbClr val="1B2B3A"/>
                </a:solidFill>
                <a:latin typeface="Calibri" pitchFamily="34" charset="0"/>
                <a:ea typeface="Calibri" pitchFamily="34" charset="-122"/>
                <a:cs typeface="Calibri" pitchFamily="34" charset="-120"/>
              </a:rPr>
              <a:t>The first 8 bytes of a TCP/UDP segment hold the </a:t>
            </a:r>
            <a:pPr indent="0" marL="0">
              <a:spcAft>
                <a:spcPts val="600"/>
              </a:spcAft>
              <a:buNone/>
            </a:pPr>
            <a:r>
              <a:rPr lang="en-US" sz="1500" b="1" dirty="0">
                <a:solidFill>
                  <a:srgbClr val="1B2B3A"/>
                </a:solidFill>
                <a:latin typeface="Calibri" pitchFamily="34" charset="0"/>
                <a:ea typeface="Calibri" pitchFamily="34" charset="-122"/>
                <a:cs typeface="Calibri" pitchFamily="34" charset="-120"/>
              </a:rPr>
              <a:t>source port</a:t>
            </a:r>
            <a:pPr indent="0" marL="0">
              <a:spcAft>
                <a:spcPts val="600"/>
              </a:spcAft>
              <a:buNone/>
            </a:pPr>
            <a:r>
              <a:rPr lang="en-US" sz="1500" dirty="0">
                <a:solidFill>
                  <a:srgbClr val="1B2B3A"/>
                </a:solidFill>
                <a:latin typeface="Calibri" pitchFamily="34" charset="0"/>
                <a:ea typeface="Calibri" pitchFamily="34" charset="-122"/>
                <a:cs typeface="Calibri" pitchFamily="34" charset="-120"/>
              </a:rPr>
              <a:t>, </a:t>
            </a:r>
            <a:pPr indent="0" marL="0">
              <a:spcAft>
                <a:spcPts val="600"/>
              </a:spcAft>
              <a:buNone/>
            </a:pPr>
            <a:r>
              <a:rPr lang="en-US" sz="1500" b="1" dirty="0">
                <a:solidFill>
                  <a:srgbClr val="1B2B3A"/>
                </a:solidFill>
                <a:latin typeface="Calibri" pitchFamily="34" charset="0"/>
                <a:ea typeface="Calibri" pitchFamily="34" charset="-122"/>
                <a:cs typeface="Calibri" pitchFamily="34" charset="-120"/>
              </a:rPr>
              <a:t>destination port</a:t>
            </a:r>
            <a:pPr indent="0" marL="0">
              <a:spcAft>
                <a:spcPts val="600"/>
              </a:spcAft>
              <a:buNone/>
            </a:pPr>
            <a:r>
              <a:rPr lang="en-US" sz="1500" dirty="0">
                <a:solidFill>
                  <a:srgbClr val="1B2B3A"/>
                </a:solidFill>
                <a:latin typeface="Calibri" pitchFamily="34" charset="0"/>
                <a:ea typeface="Calibri" pitchFamily="34" charset="-122"/>
                <a:cs typeface="Calibri" pitchFamily="34" charset="-120"/>
              </a:rPr>
              <a:t> and the sequence number / UDP length, so the source OS can notify the exact </a:t>
            </a:r>
            <a:pPr indent="0" marL="0">
              <a:spcAft>
                <a:spcPts val="600"/>
              </a:spcAft>
              <a:buNone/>
            </a:pPr>
            <a:r>
              <a:rPr lang="en-US" sz="1500" b="1" dirty="0">
                <a:solidFill>
                  <a:srgbClr val="1B2B3A"/>
                </a:solidFill>
                <a:latin typeface="Calibri" pitchFamily="34" charset="0"/>
                <a:ea typeface="Calibri" pitchFamily="34" charset="-122"/>
                <a:cs typeface="Calibri" pitchFamily="34" charset="-120"/>
              </a:rPr>
              <a:t>application socket</a:t>
            </a:r>
            <a:pPr indent="0" marL="0">
              <a:spcAft>
                <a:spcPts val="600"/>
              </a:spcAft>
              <a:buNone/>
            </a:pPr>
            <a:r>
              <a:rPr lang="en-US" sz="1500" dirty="0">
                <a:solidFill>
                  <a:srgbClr val="1B2B3A"/>
                </a:solidFill>
                <a:latin typeface="Calibri" pitchFamily="34" charset="0"/>
                <a:ea typeface="Calibri" pitchFamily="34" charset="-122"/>
                <a:cs typeface="Calibri" pitchFamily="34" charset="-120"/>
              </a:rPr>
              <a:t> that sent the failed packet.</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0972800" cy="274320"/>
          </a:xfrm>
          <a:prstGeom prst="rect">
            <a:avLst/>
          </a:prstGeom>
          <a:noFill/>
          <a:ln/>
        </p:spPr>
        <p:txBody>
          <a:bodyPr wrap="square" lIns="0" tIns="0" rIns="0" bIns="0" rtlCol="0" anchor="t"/>
          <a:lstStyle/>
          <a:p>
            <a:pPr indent="0" marL="0">
              <a:buNone/>
            </a:pPr>
            <a:r>
              <a:rPr lang="en-US" sz="1200" b="1" spc="200" kern="0" dirty="0">
                <a:solidFill>
                  <a:srgbClr val="0FA3B1"/>
                </a:solidFill>
                <a:latin typeface="Calibri" pitchFamily="34" charset="0"/>
                <a:ea typeface="Calibri" pitchFamily="34" charset="-122"/>
                <a:cs typeface="Calibri" pitchFamily="34" charset="-120"/>
              </a:rPr>
              <a:t>ICMP · PART 01</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Important ICMP Message Types &amp; Codes</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914400"/>
                <a:gridCol w="914400"/>
                <a:gridCol w="3657600"/>
                <a:gridCol w="5605272"/>
              </a:tblGrid>
              <a:tr h="40233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Type</a:t>
                      </a:r>
                      <a:endParaRPr lang="en-US" sz="1300" dirty="0">
                        <a:latin typeface="Calibri" charset="0"/>
                        <a:ea typeface="Calibri" charset="0"/>
                        <a:cs typeface="Calibri" charset="0"/>
                      </a:endParaRPr>
                    </a:p>
                  </a:txBody>
                  <a:tcPr marL="91440" marR="91440" marT="36576" marB="36576">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0B1F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Code</a:t>
                      </a:r>
                      <a:endParaRPr lang="en-US" sz="1300" dirty="0">
                        <a:latin typeface="Calibri" charset="0"/>
                        <a:ea typeface="Calibri" charset="0"/>
                        <a:cs typeface="Calibri" charset="0"/>
                      </a:endParaRPr>
                    </a:p>
                  </a:txBody>
                  <a:tcPr marL="91440" marR="91440" marT="36576" marB="36576">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0B1F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Message</a:t>
                      </a:r>
                      <a:endParaRPr lang="en-US" sz="1300" dirty="0">
                        <a:latin typeface="Calibri" charset="0"/>
                        <a:ea typeface="Calibri" charset="0"/>
                        <a:cs typeface="Calibri" charset="0"/>
                      </a:endParaRPr>
                    </a:p>
                  </a:txBody>
                  <a:tcPr marL="91440" marR="91440" marT="36576" marB="36576">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0B1F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When used</a:t>
                      </a:r>
                      <a:endParaRPr lang="en-US" sz="1300" dirty="0">
                        <a:latin typeface="Calibri" charset="0"/>
                        <a:ea typeface="Calibri" charset="0"/>
                        <a:cs typeface="Calibri" charset="0"/>
                      </a:endParaRPr>
                    </a:p>
                  </a:txBody>
                  <a:tcPr marL="91440" marR="91440" marT="36576" marB="36576">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0B1F3A"/>
                    </a:solidFill>
                  </a:tcPr>
                </a:tc>
              </a:tr>
              <a:tr h="402336">
                <a:tc>
                  <a:txBody>
                    <a:bodyPr/>
                    <a:lstStyle/>
                    <a:p>
                      <a:pPr indent="0" marL="0">
                        <a:buNone/>
                      </a:pPr>
                      <a:r>
                        <a:rPr lang="en-US" sz="1300" b="1" dirty="0">
                          <a:solidFill>
                            <a:srgbClr val="1B2B3A"/>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EAF4F6"/>
                    </a:solidFill>
                  </a:tcPr>
                </a:tc>
                <a:tc>
                  <a:txBody>
                    <a:bodyPr/>
                    <a:lstStyle/>
                    <a:p>
                      <a:pPr indent="0" marL="0">
                        <a:buNone/>
                      </a:pPr>
                      <a:r>
                        <a:rPr lang="en-US" sz="1300" dirty="0">
                          <a:solidFill>
                            <a:srgbClr val="1B2B3A"/>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EAF4F6"/>
                    </a:solidFill>
                  </a:tcPr>
                </a:tc>
                <a:tc>
                  <a:txBody>
                    <a:bodyPr/>
                    <a:lstStyle/>
                    <a:p>
                      <a:pPr indent="0" marL="0">
                        <a:buNone/>
                      </a:pPr>
                      <a:r>
                        <a:rPr lang="en-US" sz="1300" dirty="0">
                          <a:solidFill>
                            <a:srgbClr val="1B2B3A"/>
                          </a:solidFill>
                          <a:latin typeface="Calibri" pitchFamily="34" charset="0"/>
                          <a:ea typeface="Calibri" pitchFamily="34" charset="-122"/>
                          <a:cs typeface="Calibri" pitchFamily="34" charset="-120"/>
                        </a:rPr>
                        <a:t>Echo Reply</a:t>
                      </a:r>
                      <a:endParaRPr lang="en-US" sz="13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EAF4F6"/>
                    </a:solidFill>
                  </a:tcPr>
                </a:tc>
                <a:tc>
                  <a:txBody>
                    <a:bodyPr/>
                    <a:lstStyle/>
                    <a:p>
                      <a:pPr indent="0" marL="0">
                        <a:buNone/>
                      </a:pPr>
                      <a:r>
                        <a:rPr lang="en-US" sz="1300" dirty="0">
                          <a:solidFill>
                            <a:srgbClr val="1B2B3A"/>
                          </a:solidFill>
                          <a:latin typeface="Calibri" pitchFamily="34" charset="0"/>
                          <a:ea typeface="Calibri" pitchFamily="34" charset="-122"/>
                          <a:cs typeface="Calibri" pitchFamily="34" charset="-120"/>
                        </a:rPr>
                        <a:t>Reply to ping</a:t>
                      </a:r>
                      <a:endParaRPr lang="en-US" sz="13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EAF4F6"/>
                    </a:solidFill>
                  </a:tcPr>
                </a:tc>
              </a:tr>
              <a:tr h="402336">
                <a:tc>
                  <a:txBody>
                    <a:bodyPr/>
                    <a:lstStyle/>
                    <a:p>
                      <a:pPr indent="0" marL="0">
                        <a:buNone/>
                      </a:pPr>
                      <a:r>
                        <a:rPr lang="en-US" sz="1300" b="1" dirty="0">
                          <a:solidFill>
                            <a:srgbClr val="1B2B3A"/>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300" dirty="0">
                          <a:solidFill>
                            <a:srgbClr val="1B2B3A"/>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300" dirty="0">
                          <a:solidFill>
                            <a:srgbClr val="1B2B3A"/>
                          </a:solidFill>
                          <a:latin typeface="Calibri" pitchFamily="34" charset="0"/>
                          <a:ea typeface="Calibri" pitchFamily="34" charset="-122"/>
                          <a:cs typeface="Calibri" pitchFamily="34" charset="-120"/>
                        </a:rPr>
                        <a:t>Dest. Network Unreachable</a:t>
                      </a:r>
                      <a:endParaRPr lang="en-US" sz="13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300" dirty="0">
                          <a:solidFill>
                            <a:srgbClr val="1B2B3A"/>
                          </a:solidFill>
                          <a:latin typeface="Calibri" pitchFamily="34" charset="0"/>
                          <a:ea typeface="Calibri" pitchFamily="34" charset="-122"/>
                          <a:cs typeface="Calibri" pitchFamily="34" charset="-120"/>
                        </a:rPr>
                        <a:t>No forwarding entry for the network</a:t>
                      </a:r>
                      <a:endParaRPr lang="en-US" sz="13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1B2B3A"/>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EAF4F6"/>
                    </a:solidFill>
                  </a:tcPr>
                </a:tc>
                <a:tc>
                  <a:txBody>
                    <a:bodyPr/>
                    <a:lstStyle/>
                    <a:p>
                      <a:pPr indent="0" marL="0">
                        <a:buNone/>
                      </a:pPr>
                      <a:r>
                        <a:rPr lang="en-US" sz="1300" dirty="0">
                          <a:solidFill>
                            <a:srgbClr val="1B2B3A"/>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EAF4F6"/>
                    </a:solidFill>
                  </a:tcPr>
                </a:tc>
                <a:tc>
                  <a:txBody>
                    <a:bodyPr/>
                    <a:lstStyle/>
                    <a:p>
                      <a:pPr indent="0" marL="0">
                        <a:buNone/>
                      </a:pPr>
                      <a:r>
                        <a:rPr lang="en-US" sz="1300" dirty="0">
                          <a:solidFill>
                            <a:srgbClr val="1B2B3A"/>
                          </a:solidFill>
                          <a:latin typeface="Calibri" pitchFamily="34" charset="0"/>
                          <a:ea typeface="Calibri" pitchFamily="34" charset="-122"/>
                          <a:cs typeface="Calibri" pitchFamily="34" charset="-120"/>
                        </a:rPr>
                        <a:t>Dest. Host Unreachable</a:t>
                      </a:r>
                      <a:endParaRPr lang="en-US" sz="13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EAF4F6"/>
                    </a:solidFill>
                  </a:tcPr>
                </a:tc>
                <a:tc>
                  <a:txBody>
                    <a:bodyPr/>
                    <a:lstStyle/>
                    <a:p>
                      <a:pPr indent="0" marL="0">
                        <a:buNone/>
                      </a:pPr>
                      <a:r>
                        <a:rPr lang="en-US" sz="1300" dirty="0">
                          <a:solidFill>
                            <a:srgbClr val="1B2B3A"/>
                          </a:solidFill>
                          <a:latin typeface="Calibri" pitchFamily="34" charset="0"/>
                          <a:ea typeface="Calibri" pitchFamily="34" charset="-122"/>
                          <a:cs typeface="Calibri" pitchFamily="34" charset="-120"/>
                        </a:rPr>
                        <a:t>Final router cannot reach the host</a:t>
                      </a:r>
                      <a:endParaRPr lang="en-US" sz="13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EAF4F6"/>
                    </a:solidFill>
                  </a:tcPr>
                </a:tc>
              </a:tr>
              <a:tr h="402336">
                <a:tc>
                  <a:txBody>
                    <a:bodyPr/>
                    <a:lstStyle/>
                    <a:p>
                      <a:pPr indent="0" marL="0">
                        <a:buNone/>
                      </a:pPr>
                      <a:r>
                        <a:rPr lang="en-US" sz="1300" b="1" dirty="0">
                          <a:solidFill>
                            <a:srgbClr val="1B2B3A"/>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300" dirty="0">
                          <a:solidFill>
                            <a:srgbClr val="1B2B3A"/>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300" dirty="0">
                          <a:solidFill>
                            <a:srgbClr val="1B2B3A"/>
                          </a:solidFill>
                          <a:latin typeface="Calibri" pitchFamily="34" charset="0"/>
                          <a:ea typeface="Calibri" pitchFamily="34" charset="-122"/>
                          <a:cs typeface="Calibri" pitchFamily="34" charset="-120"/>
                        </a:rPr>
                        <a:t>Dest. Protocol Unreachable</a:t>
                      </a:r>
                      <a:endParaRPr lang="en-US" sz="13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300" dirty="0">
                          <a:solidFill>
                            <a:srgbClr val="1B2B3A"/>
                          </a:solidFill>
                          <a:latin typeface="Calibri" pitchFamily="34" charset="0"/>
                          <a:ea typeface="Calibri" pitchFamily="34" charset="-122"/>
                          <a:cs typeface="Calibri" pitchFamily="34" charset="-120"/>
                        </a:rPr>
                        <a:t>Host lacks the upper-layer protocol</a:t>
                      </a:r>
                      <a:endParaRPr lang="en-US" sz="13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1B2B3A"/>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EAF4F6"/>
                    </a:solidFill>
                  </a:tcPr>
                </a:tc>
                <a:tc>
                  <a:txBody>
                    <a:bodyPr/>
                    <a:lstStyle/>
                    <a:p>
                      <a:pPr indent="0" marL="0">
                        <a:buNone/>
                      </a:pPr>
                      <a:r>
                        <a:rPr lang="en-US" sz="1300" dirty="0">
                          <a:solidFill>
                            <a:srgbClr val="1B2B3A"/>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EAF4F6"/>
                    </a:solidFill>
                  </a:tcPr>
                </a:tc>
                <a:tc>
                  <a:txBody>
                    <a:bodyPr/>
                    <a:lstStyle/>
                    <a:p>
                      <a:pPr indent="0" marL="0">
                        <a:buNone/>
                      </a:pPr>
                      <a:r>
                        <a:rPr lang="en-US" sz="1300" dirty="0">
                          <a:solidFill>
                            <a:srgbClr val="1B2B3A"/>
                          </a:solidFill>
                          <a:latin typeface="Calibri" pitchFamily="34" charset="0"/>
                          <a:ea typeface="Calibri" pitchFamily="34" charset="-122"/>
                          <a:cs typeface="Calibri" pitchFamily="34" charset="-120"/>
                        </a:rPr>
                        <a:t>Dest. Port Unreachable</a:t>
                      </a:r>
                      <a:endParaRPr lang="en-US" sz="13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EAF4F6"/>
                    </a:solidFill>
                  </a:tcPr>
                </a:tc>
                <a:tc>
                  <a:txBody>
                    <a:bodyPr/>
                    <a:lstStyle/>
                    <a:p>
                      <a:pPr indent="0" marL="0">
                        <a:buNone/>
                      </a:pPr>
                      <a:r>
                        <a:rPr lang="en-US" sz="1300" dirty="0">
                          <a:solidFill>
                            <a:srgbClr val="1B2B3A"/>
                          </a:solidFill>
                          <a:latin typeface="Calibri" pitchFamily="34" charset="0"/>
                          <a:ea typeface="Calibri" pitchFamily="34" charset="-122"/>
                          <a:cs typeface="Calibri" pitchFamily="34" charset="-120"/>
                        </a:rPr>
                        <a:t>No app on UDP port (ends Traceroute)</a:t>
                      </a:r>
                      <a:endParaRPr lang="en-US" sz="13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EAF4F6"/>
                    </a:solidFill>
                  </a:tcPr>
                </a:tc>
              </a:tr>
              <a:tr h="402336">
                <a:tc>
                  <a:txBody>
                    <a:bodyPr/>
                    <a:lstStyle/>
                    <a:p>
                      <a:pPr indent="0" marL="0">
                        <a:buNone/>
                      </a:pPr>
                      <a:r>
                        <a:rPr lang="en-US" sz="1300" b="1" dirty="0">
                          <a:solidFill>
                            <a:srgbClr val="1B2B3A"/>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300" dirty="0">
                          <a:solidFill>
                            <a:srgbClr val="1B2B3A"/>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300" dirty="0">
                          <a:solidFill>
                            <a:srgbClr val="1B2B3A"/>
                          </a:solidFill>
                          <a:latin typeface="Calibri" pitchFamily="34" charset="0"/>
                          <a:ea typeface="Calibri" pitchFamily="34" charset="-122"/>
                          <a:cs typeface="Calibri" pitchFamily="34" charset="-120"/>
                        </a:rPr>
                        <a:t>Fragmentation Required, DF set</a:t>
                      </a:r>
                      <a:endParaRPr lang="en-US" sz="13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300" dirty="0">
                          <a:solidFill>
                            <a:srgbClr val="1B2B3A"/>
                          </a:solidFill>
                          <a:latin typeface="Calibri" pitchFamily="34" charset="0"/>
                          <a:ea typeface="Calibri" pitchFamily="34" charset="-122"/>
                          <a:cs typeface="Calibri" pitchFamily="34" charset="-120"/>
                        </a:rPr>
                        <a:t>Exceeds MTU with DF=1 (Path MTU Discovery)</a:t>
                      </a:r>
                      <a:endParaRPr lang="en-US" sz="13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1B2B3A"/>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EAF4F6"/>
                    </a:solidFill>
                  </a:tcPr>
                </a:tc>
                <a:tc>
                  <a:txBody>
                    <a:bodyPr/>
                    <a:lstStyle/>
                    <a:p>
                      <a:pPr indent="0" marL="0">
                        <a:buNone/>
                      </a:pPr>
                      <a:r>
                        <a:rPr lang="en-US" sz="1300" dirty="0">
                          <a:solidFill>
                            <a:srgbClr val="1B2B3A"/>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EAF4F6"/>
                    </a:solidFill>
                  </a:tcPr>
                </a:tc>
                <a:tc>
                  <a:txBody>
                    <a:bodyPr/>
                    <a:lstStyle/>
                    <a:p>
                      <a:pPr indent="0" marL="0">
                        <a:buNone/>
                      </a:pPr>
                      <a:r>
                        <a:rPr lang="en-US" sz="1300" dirty="0">
                          <a:solidFill>
                            <a:srgbClr val="1B2B3A"/>
                          </a:solidFill>
                          <a:latin typeface="Calibri" pitchFamily="34" charset="0"/>
                          <a:ea typeface="Calibri" pitchFamily="34" charset="-122"/>
                          <a:cs typeface="Calibri" pitchFamily="34" charset="-120"/>
                        </a:rPr>
                        <a:t>Source Quench</a:t>
                      </a:r>
                      <a:endParaRPr lang="en-US" sz="13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EAF4F6"/>
                    </a:solidFill>
                  </a:tcPr>
                </a:tc>
                <a:tc>
                  <a:txBody>
                    <a:bodyPr/>
                    <a:lstStyle/>
                    <a:p>
                      <a:pPr indent="0" marL="0">
                        <a:buNone/>
                      </a:pPr>
                      <a:r>
                        <a:rPr lang="en-US" sz="1300" dirty="0">
                          <a:solidFill>
                            <a:srgbClr val="1B2B3A"/>
                          </a:solidFill>
                          <a:latin typeface="Calibri" pitchFamily="34" charset="0"/>
                          <a:ea typeface="Calibri" pitchFamily="34" charset="-122"/>
                          <a:cs typeface="Calibri" pitchFamily="34" charset="-120"/>
                        </a:rPr>
                        <a:t>Legacy congestion notice (deprecated)</a:t>
                      </a:r>
                      <a:endParaRPr lang="en-US" sz="13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EAF4F6"/>
                    </a:solidFill>
                  </a:tcPr>
                </a:tc>
              </a:tr>
              <a:tr h="402336">
                <a:tc>
                  <a:txBody>
                    <a:bodyPr/>
                    <a:lstStyle/>
                    <a:p>
                      <a:pPr indent="0" marL="0">
                        <a:buNone/>
                      </a:pPr>
                      <a:r>
                        <a:rPr lang="en-US" sz="1300" b="1" dirty="0">
                          <a:solidFill>
                            <a:srgbClr val="1B2B3A"/>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300" dirty="0">
                          <a:solidFill>
                            <a:srgbClr val="1B2B3A"/>
                          </a:solidFill>
                          <a:latin typeface="Calibri" pitchFamily="34" charset="0"/>
                          <a:ea typeface="Calibri" pitchFamily="34" charset="-122"/>
                          <a:cs typeface="Calibri" pitchFamily="34" charset="-120"/>
                        </a:rPr>
                        <a:t>0–3</a:t>
                      </a:r>
                      <a:endParaRPr lang="en-US" sz="13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300" dirty="0">
                          <a:solidFill>
                            <a:srgbClr val="1B2B3A"/>
                          </a:solidFill>
                          <a:latin typeface="Calibri" pitchFamily="34" charset="0"/>
                          <a:ea typeface="Calibri" pitchFamily="34" charset="-122"/>
                          <a:cs typeface="Calibri" pitchFamily="34" charset="-120"/>
                        </a:rPr>
                        <a:t>Redirect</a:t>
                      </a:r>
                      <a:endParaRPr lang="en-US" sz="13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300" dirty="0">
                          <a:solidFill>
                            <a:srgbClr val="1B2B3A"/>
                          </a:solidFill>
                          <a:latin typeface="Calibri" pitchFamily="34" charset="0"/>
                          <a:ea typeface="Calibri" pitchFamily="34" charset="-122"/>
                          <a:cs typeface="Calibri" pitchFamily="34" charset="-120"/>
                        </a:rPr>
                        <a:t>Use a better router on the same LAN</a:t>
                      </a:r>
                      <a:endParaRPr lang="en-US" sz="13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1B2B3A"/>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EAF4F6"/>
                    </a:solidFill>
                  </a:tcPr>
                </a:tc>
                <a:tc>
                  <a:txBody>
                    <a:bodyPr/>
                    <a:lstStyle/>
                    <a:p>
                      <a:pPr indent="0" marL="0">
                        <a:buNone/>
                      </a:pPr>
                      <a:r>
                        <a:rPr lang="en-US" sz="1300" dirty="0">
                          <a:solidFill>
                            <a:srgbClr val="1B2B3A"/>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EAF4F6"/>
                    </a:solidFill>
                  </a:tcPr>
                </a:tc>
                <a:tc>
                  <a:txBody>
                    <a:bodyPr/>
                    <a:lstStyle/>
                    <a:p>
                      <a:pPr indent="0" marL="0">
                        <a:buNone/>
                      </a:pPr>
                      <a:r>
                        <a:rPr lang="en-US" sz="1300" dirty="0">
                          <a:solidFill>
                            <a:srgbClr val="1B2B3A"/>
                          </a:solidFill>
                          <a:latin typeface="Calibri" pitchFamily="34" charset="0"/>
                          <a:ea typeface="Calibri" pitchFamily="34" charset="-122"/>
                          <a:cs typeface="Calibri" pitchFamily="34" charset="-120"/>
                        </a:rPr>
                        <a:t>Echo Request</a:t>
                      </a:r>
                      <a:endParaRPr lang="en-US" sz="13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EAF4F6"/>
                    </a:solidFill>
                  </a:tcPr>
                </a:tc>
                <a:tc>
                  <a:txBody>
                    <a:bodyPr/>
                    <a:lstStyle/>
                    <a:p>
                      <a:pPr indent="0" marL="0">
                        <a:buNone/>
                      </a:pPr>
                      <a:r>
                        <a:rPr lang="en-US" sz="1300" dirty="0">
                          <a:solidFill>
                            <a:srgbClr val="1B2B3A"/>
                          </a:solidFill>
                          <a:latin typeface="Calibri" pitchFamily="34" charset="0"/>
                          <a:ea typeface="Calibri" pitchFamily="34" charset="-122"/>
                          <a:cs typeface="Calibri" pitchFamily="34" charset="-120"/>
                        </a:rPr>
                        <a:t>Sent by ping</a:t>
                      </a:r>
                      <a:endParaRPr lang="en-US" sz="13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EAF4F6"/>
                    </a:solidFill>
                  </a:tcPr>
                </a:tc>
              </a:tr>
              <a:tr h="402336">
                <a:tc>
                  <a:txBody>
                    <a:bodyPr/>
                    <a:lstStyle/>
                    <a:p>
                      <a:pPr indent="0" marL="0">
                        <a:buNone/>
                      </a:pPr>
                      <a:r>
                        <a:rPr lang="en-US" sz="1300" b="1" dirty="0">
                          <a:solidFill>
                            <a:srgbClr val="1B2B3A"/>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300" dirty="0">
                          <a:solidFill>
                            <a:srgbClr val="1B2B3A"/>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300" dirty="0">
                          <a:solidFill>
                            <a:srgbClr val="1B2B3A"/>
                          </a:solidFill>
                          <a:latin typeface="Calibri" pitchFamily="34" charset="0"/>
                          <a:ea typeface="Calibri" pitchFamily="34" charset="-122"/>
                          <a:cs typeface="Calibri" pitchFamily="34" charset="-120"/>
                        </a:rPr>
                        <a:t>TTL Expired</a:t>
                      </a:r>
                      <a:endParaRPr lang="en-US" sz="13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300" dirty="0">
                          <a:solidFill>
                            <a:srgbClr val="1B2B3A"/>
                          </a:solidFill>
                          <a:latin typeface="Calibri" pitchFamily="34" charset="0"/>
                          <a:ea typeface="Calibri" pitchFamily="34" charset="-122"/>
                          <a:cs typeface="Calibri" pitchFamily="34" charset="-120"/>
                        </a:rPr>
                        <a:t>TTL hits 0 (Traceroute hops)</a:t>
                      </a:r>
                      <a:endParaRPr lang="en-US" sz="13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1B2B3A"/>
                          </a:solidFill>
                          <a:latin typeface="Calibri" pitchFamily="34" charset="0"/>
                          <a:ea typeface="Calibri" pitchFamily="34" charset="-122"/>
                          <a:cs typeface="Calibri" pitchFamily="34" charset="-120"/>
                        </a:rPr>
                        <a:t>12</a:t>
                      </a:r>
                      <a:endParaRPr lang="en-US" sz="13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EAF4F6"/>
                    </a:solidFill>
                  </a:tcPr>
                </a:tc>
                <a:tc>
                  <a:txBody>
                    <a:bodyPr/>
                    <a:lstStyle/>
                    <a:p>
                      <a:pPr indent="0" marL="0">
                        <a:buNone/>
                      </a:pPr>
                      <a:r>
                        <a:rPr lang="en-US" sz="1300" dirty="0">
                          <a:solidFill>
                            <a:srgbClr val="1B2B3A"/>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EAF4F6"/>
                    </a:solidFill>
                  </a:tcPr>
                </a:tc>
                <a:tc>
                  <a:txBody>
                    <a:bodyPr/>
                    <a:lstStyle/>
                    <a:p>
                      <a:pPr indent="0" marL="0">
                        <a:buNone/>
                      </a:pPr>
                      <a:r>
                        <a:rPr lang="en-US" sz="1300" dirty="0">
                          <a:solidFill>
                            <a:srgbClr val="1B2B3A"/>
                          </a:solidFill>
                          <a:latin typeface="Calibri" pitchFamily="34" charset="0"/>
                          <a:ea typeface="Calibri" pitchFamily="34" charset="-122"/>
                          <a:cs typeface="Calibri" pitchFamily="34" charset="-120"/>
                        </a:rPr>
                        <a:t>Parameter Problem</a:t>
                      </a:r>
                      <a:endParaRPr lang="en-US" sz="13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EAF4F6"/>
                    </a:solidFill>
                  </a:tcPr>
                </a:tc>
                <a:tc>
                  <a:txBody>
                    <a:bodyPr/>
                    <a:lstStyle/>
                    <a:p>
                      <a:pPr indent="0" marL="0">
                        <a:buNone/>
                      </a:pPr>
                      <a:r>
                        <a:rPr lang="en-US" sz="1300" dirty="0">
                          <a:solidFill>
                            <a:srgbClr val="1B2B3A"/>
                          </a:solidFill>
                          <a:latin typeface="Calibri" pitchFamily="34" charset="0"/>
                          <a:ea typeface="Calibri" pitchFamily="34" charset="-122"/>
                          <a:cs typeface="Calibri" pitchFamily="34" charset="-120"/>
                        </a:rPr>
                        <a:t>Bad IP header field/option</a:t>
                      </a:r>
                      <a:endParaRPr lang="en-US" sz="1300" dirty="0">
                        <a:latin typeface="Calibri" charset="0"/>
                        <a:ea typeface="Calibri" charset="0"/>
                        <a:cs typeface="Calibri" charset="0"/>
                      </a:endParaRPr>
                    </a:p>
                  </a:txBody>
                  <a:tcPr marL="91440" marR="91440" marT="36576" marB="36576" anchor="ctr">
                    <a:lnL w="9525" cap="flat" cmpd="sng" algn="ctr">
                      <a:solidFill>
                        <a:srgbClr val="D5E3E8"/>
                      </a:solidFill>
                      <a:prstDash val="solid"/>
                      <a:round/>
                      <a:headEnd type="none" w="med" len="med"/>
                      <a:tailEnd type="none" w="med" len="med"/>
                    </a:lnL>
                    <a:lnR w="9525" cap="flat" cmpd="sng" algn="ctr">
                      <a:solidFill>
                        <a:srgbClr val="D5E3E8"/>
                      </a:solidFill>
                      <a:prstDash val="solid"/>
                      <a:round/>
                      <a:headEnd type="none" w="med" len="med"/>
                      <a:tailEnd type="none" w="med" len="med"/>
                    </a:lnR>
                    <a:lnT w="9525" cap="flat" cmpd="sng" algn="ctr">
                      <a:solidFill>
                        <a:srgbClr val="D5E3E8"/>
                      </a:solidFill>
                      <a:prstDash val="solid"/>
                      <a:round/>
                      <a:headEnd type="none" w="med" len="med"/>
                      <a:tailEnd type="none" w="med" len="med"/>
                    </a:lnT>
                    <a:lnB w="9525" cap="flat" cmpd="sng" algn="ctr">
                      <a:solidFill>
                        <a:srgbClr val="D5E3E8"/>
                      </a:solidFill>
                      <a:prstDash val="solid"/>
                      <a:round/>
                      <a:headEnd type="none" w="med" len="med"/>
                      <a:tailEnd type="none" w="med" len="med"/>
                    </a:lnB>
                    <a:solidFill>
                      <a:srgbClr val="EAF4F6"/>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0972800" cy="274320"/>
          </a:xfrm>
          <a:prstGeom prst="rect">
            <a:avLst/>
          </a:prstGeom>
          <a:noFill/>
          <a:ln/>
        </p:spPr>
        <p:txBody>
          <a:bodyPr wrap="square" lIns="0" tIns="0" rIns="0" bIns="0" rtlCol="0" anchor="t"/>
          <a:lstStyle/>
          <a:p>
            <a:pPr indent="0" marL="0">
              <a:buNone/>
            </a:pPr>
            <a:r>
              <a:rPr lang="en-US" sz="1200" b="1" spc="200" kern="0" dirty="0">
                <a:solidFill>
                  <a:srgbClr val="0FA3B1"/>
                </a:solidFill>
                <a:latin typeface="Calibri" pitchFamily="34" charset="0"/>
                <a:ea typeface="Calibri" pitchFamily="34" charset="-122"/>
                <a:cs typeface="Calibri" pitchFamily="34" charset="-120"/>
              </a:rPr>
              <a:t>ICMP · PART 02</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When Are ICMP Errors NEVER Generated?</a:t>
            </a:r>
            <a:endParaRPr lang="en-US" sz="3000" dirty="0"/>
          </a:p>
        </p:txBody>
      </p:sp>
      <p:sp>
        <p:nvSpPr>
          <p:cNvPr id="5" name="Text 2"/>
          <p:cNvSpPr txBox="1"/>
          <p:nvPr/>
        </p:nvSpPr>
        <p:spPr>
          <a:xfrm>
            <a:off x="548640" y="1371600"/>
            <a:ext cx="10972800" cy="365760"/>
          </a:xfrm>
          <a:prstGeom prst="rect">
            <a:avLst/>
          </a:prstGeom>
          <a:noFill/>
          <a:ln/>
        </p:spPr>
        <p:txBody>
          <a:bodyPr wrap="square" lIns="0" tIns="0" rIns="0" bIns="0" rtlCol="0" anchor="t"/>
          <a:lstStyle/>
          <a:p>
            <a:pPr indent="0" marL="0">
              <a:buNone/>
            </a:pPr>
            <a:r>
              <a:rPr lang="en-US" sz="1600" i="1" dirty="0">
                <a:solidFill>
                  <a:srgbClr val="5B6B7A"/>
                </a:solidFill>
                <a:latin typeface="Calibri" pitchFamily="34" charset="0"/>
                <a:ea typeface="Calibri" pitchFamily="34" charset="-122"/>
                <a:cs typeface="Calibri" pitchFamily="34" charset="-120"/>
              </a:rPr>
              <a:t>Four rules prevent broadcast storms and feedback loops:</a:t>
            </a:r>
            <a:endParaRPr lang="en-US" sz="1600" dirty="0"/>
          </a:p>
        </p:txBody>
      </p:sp>
      <p:sp>
        <p:nvSpPr>
          <p:cNvPr id="6" name="Shape 3"/>
          <p:cNvSpPr/>
          <p:nvPr/>
        </p:nvSpPr>
        <p:spPr>
          <a:xfrm>
            <a:off x="548640" y="1920240"/>
            <a:ext cx="5422392" cy="2103120"/>
          </a:xfrm>
          <a:prstGeom prst="roundRect">
            <a:avLst>
              <a:gd name="adj" fmla="val 5217"/>
            </a:avLst>
          </a:prstGeom>
          <a:solidFill>
            <a:srgbClr val="EAF4F6"/>
          </a:solidFill>
          <a:ln w="12700">
            <a:solidFill>
              <a:srgbClr val="EAF4F6"/>
            </a:solidFill>
            <a:prstDash val="solid"/>
          </a:ln>
        </p:spPr>
      </p:sp>
      <p:sp>
        <p:nvSpPr>
          <p:cNvPr id="7" name="Shape 4"/>
          <p:cNvSpPr/>
          <p:nvPr/>
        </p:nvSpPr>
        <p:spPr>
          <a:xfrm>
            <a:off x="777240" y="2121408"/>
            <a:ext cx="457200" cy="457200"/>
          </a:xfrm>
          <a:prstGeom prst="ellipse">
            <a:avLst/>
          </a:prstGeom>
          <a:solidFill>
            <a:srgbClr val="0FA3B1"/>
          </a:solidFill>
          <a:ln w="12700">
            <a:solidFill>
              <a:srgbClr val="0FA3B1"/>
            </a:solidFill>
            <a:prstDash val="solid"/>
          </a:ln>
        </p:spPr>
      </p:sp>
      <p:sp>
        <p:nvSpPr>
          <p:cNvPr id="8" name="Text 5"/>
          <p:cNvSpPr txBox="1"/>
          <p:nvPr/>
        </p:nvSpPr>
        <p:spPr>
          <a:xfrm>
            <a:off x="777240" y="21214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6"/>
          <p:cNvSpPr txBox="1"/>
          <p:nvPr/>
        </p:nvSpPr>
        <p:spPr>
          <a:xfrm>
            <a:off x="1371600" y="2121408"/>
            <a:ext cx="4370832" cy="45720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Never for an ICMP error</a:t>
            </a:r>
            <a:endParaRPr lang="en-US" sz="1600" dirty="0"/>
          </a:p>
        </p:txBody>
      </p:sp>
      <p:sp>
        <p:nvSpPr>
          <p:cNvPr id="10" name="Text 7"/>
          <p:cNvSpPr txBox="1"/>
          <p:nvPr/>
        </p:nvSpPr>
        <p:spPr>
          <a:xfrm>
            <a:off x="777240" y="2697480"/>
            <a:ext cx="4965192" cy="1188720"/>
          </a:xfrm>
          <a:prstGeom prst="rect">
            <a:avLst/>
          </a:prstGeom>
          <a:noFill/>
          <a:ln/>
        </p:spPr>
        <p:txBody>
          <a:bodyPr wrap="square" lIns="0" tIns="0" rIns="0" bIns="0" rtlCol="0" anchor="t"/>
          <a:lstStyle/>
          <a:p>
            <a:pPr indent="0" marL="0">
              <a:buNone/>
            </a:pPr>
            <a:r>
              <a:rPr lang="en-US" sz="1500" dirty="0">
                <a:solidFill>
                  <a:srgbClr val="1B2B3A"/>
                </a:solidFill>
                <a:latin typeface="Calibri" pitchFamily="34" charset="0"/>
                <a:ea typeface="Calibri" pitchFamily="34" charset="-122"/>
                <a:cs typeface="Calibri" pitchFamily="34" charset="-120"/>
              </a:rPr>
              <a:t>No error about a datagram carrying an ICMP error (queries like Echo Request can trigger one).</a:t>
            </a:r>
            <a:endParaRPr lang="en-US" sz="1400" dirty="0"/>
          </a:p>
        </p:txBody>
      </p:sp>
      <p:sp>
        <p:nvSpPr>
          <p:cNvPr id="11" name="Shape 8"/>
          <p:cNvSpPr/>
          <p:nvPr/>
        </p:nvSpPr>
        <p:spPr>
          <a:xfrm>
            <a:off x="6217920" y="1920240"/>
            <a:ext cx="5422392" cy="2103120"/>
          </a:xfrm>
          <a:prstGeom prst="roundRect">
            <a:avLst>
              <a:gd name="adj" fmla="val 5217"/>
            </a:avLst>
          </a:prstGeom>
          <a:solidFill>
            <a:srgbClr val="EAF4F6"/>
          </a:solidFill>
          <a:ln w="12700">
            <a:solidFill>
              <a:srgbClr val="EAF4F6"/>
            </a:solidFill>
            <a:prstDash val="solid"/>
          </a:ln>
        </p:spPr>
      </p:sp>
      <p:sp>
        <p:nvSpPr>
          <p:cNvPr id="12" name="Shape 9"/>
          <p:cNvSpPr/>
          <p:nvPr/>
        </p:nvSpPr>
        <p:spPr>
          <a:xfrm>
            <a:off x="6446520" y="2121408"/>
            <a:ext cx="457200" cy="457200"/>
          </a:xfrm>
          <a:prstGeom prst="ellipse">
            <a:avLst/>
          </a:prstGeom>
          <a:solidFill>
            <a:srgbClr val="F5A623"/>
          </a:solidFill>
          <a:ln w="12700">
            <a:solidFill>
              <a:srgbClr val="F5A623"/>
            </a:solidFill>
            <a:prstDash val="solid"/>
          </a:ln>
        </p:spPr>
      </p:sp>
      <p:sp>
        <p:nvSpPr>
          <p:cNvPr id="13" name="Text 10"/>
          <p:cNvSpPr txBox="1"/>
          <p:nvPr/>
        </p:nvSpPr>
        <p:spPr>
          <a:xfrm>
            <a:off x="6446520" y="21214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1"/>
          <p:cNvSpPr txBox="1"/>
          <p:nvPr/>
        </p:nvSpPr>
        <p:spPr>
          <a:xfrm>
            <a:off x="7040880" y="2121408"/>
            <a:ext cx="4370832" cy="45720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Never for non-first fragments</a:t>
            </a:r>
            <a:endParaRPr lang="en-US" sz="1600" dirty="0"/>
          </a:p>
        </p:txBody>
      </p:sp>
      <p:sp>
        <p:nvSpPr>
          <p:cNvPr id="15" name="Text 12"/>
          <p:cNvSpPr txBox="1"/>
          <p:nvPr/>
        </p:nvSpPr>
        <p:spPr>
          <a:xfrm>
            <a:off x="6446520" y="2697480"/>
            <a:ext cx="4965192" cy="1188720"/>
          </a:xfrm>
          <a:prstGeom prst="rect">
            <a:avLst/>
          </a:prstGeom>
          <a:noFill/>
          <a:ln/>
        </p:spPr>
        <p:txBody>
          <a:bodyPr wrap="square" lIns="0" tIns="0" rIns="0" bIns="0" rtlCol="0" anchor="t"/>
          <a:lstStyle/>
          <a:p>
            <a:pPr indent="0" marL="0">
              <a:buNone/>
            </a:pPr>
            <a:r>
              <a:rPr lang="en-US" sz="1500" dirty="0">
                <a:solidFill>
                  <a:srgbClr val="1B2B3A"/>
                </a:solidFill>
                <a:latin typeface="Calibri" pitchFamily="34" charset="0"/>
                <a:ea typeface="Calibri" pitchFamily="34" charset="-122"/>
                <a:cs typeface="Calibri" pitchFamily="34" charset="-120"/>
              </a:rPr>
              <a:t>Only fragment offset = 0 can trigger an error; later fragments never do.</a:t>
            </a:r>
            <a:endParaRPr lang="en-US" sz="1400" dirty="0"/>
          </a:p>
        </p:txBody>
      </p:sp>
      <p:sp>
        <p:nvSpPr>
          <p:cNvPr id="16" name="Shape 13"/>
          <p:cNvSpPr/>
          <p:nvPr/>
        </p:nvSpPr>
        <p:spPr>
          <a:xfrm>
            <a:off x="548640" y="4206240"/>
            <a:ext cx="5422392" cy="2103120"/>
          </a:xfrm>
          <a:prstGeom prst="roundRect">
            <a:avLst>
              <a:gd name="adj" fmla="val 5217"/>
            </a:avLst>
          </a:prstGeom>
          <a:solidFill>
            <a:srgbClr val="EAF4F6"/>
          </a:solidFill>
          <a:ln w="12700">
            <a:solidFill>
              <a:srgbClr val="EAF4F6"/>
            </a:solidFill>
            <a:prstDash val="solid"/>
          </a:ln>
        </p:spPr>
      </p:sp>
      <p:sp>
        <p:nvSpPr>
          <p:cNvPr id="17" name="Shape 14"/>
          <p:cNvSpPr/>
          <p:nvPr/>
        </p:nvSpPr>
        <p:spPr>
          <a:xfrm>
            <a:off x="777240" y="4407408"/>
            <a:ext cx="457200" cy="457200"/>
          </a:xfrm>
          <a:prstGeom prst="ellipse">
            <a:avLst/>
          </a:prstGeom>
          <a:solidFill>
            <a:srgbClr val="0FA3B1"/>
          </a:solidFill>
          <a:ln w="12700">
            <a:solidFill>
              <a:srgbClr val="0FA3B1"/>
            </a:solidFill>
            <a:prstDash val="solid"/>
          </a:ln>
        </p:spPr>
      </p:sp>
      <p:sp>
        <p:nvSpPr>
          <p:cNvPr id="18" name="Text 15"/>
          <p:cNvSpPr txBox="1"/>
          <p:nvPr/>
        </p:nvSpPr>
        <p:spPr>
          <a:xfrm>
            <a:off x="777240" y="44074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6"/>
          <p:cNvSpPr txBox="1"/>
          <p:nvPr/>
        </p:nvSpPr>
        <p:spPr>
          <a:xfrm>
            <a:off x="1371600" y="4407408"/>
            <a:ext cx="4370832" cy="45720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Never for multicast / broadcast</a:t>
            </a:r>
            <a:endParaRPr lang="en-US" sz="1600" dirty="0"/>
          </a:p>
        </p:txBody>
      </p:sp>
      <p:sp>
        <p:nvSpPr>
          <p:cNvPr id="20" name="Text 17"/>
          <p:cNvSpPr txBox="1"/>
          <p:nvPr/>
        </p:nvSpPr>
        <p:spPr>
          <a:xfrm>
            <a:off x="777240" y="4983480"/>
            <a:ext cx="4965192" cy="1188720"/>
          </a:xfrm>
          <a:prstGeom prst="rect">
            <a:avLst/>
          </a:prstGeom>
          <a:noFill/>
          <a:ln/>
        </p:spPr>
        <p:txBody>
          <a:bodyPr wrap="square" lIns="0" tIns="0" rIns="0" bIns="0" rtlCol="0" anchor="t"/>
          <a:lstStyle/>
          <a:p>
            <a:pPr indent="0" marL="0">
              <a:buNone/>
            </a:pPr>
            <a:r>
              <a:rPr lang="en-US" sz="1500" dirty="0">
                <a:solidFill>
                  <a:srgbClr val="1B2B3A"/>
                </a:solidFill>
                <a:latin typeface="Calibri" pitchFamily="34" charset="0"/>
                <a:ea typeface="Calibri" pitchFamily="34" charset="-122"/>
                <a:cs typeface="Calibri" pitchFamily="34" charset="-120"/>
              </a:rPr>
              <a:t>No error for datagrams sent to link-layer or IP broadcast/multicast addresses.</a:t>
            </a:r>
            <a:endParaRPr lang="en-US" sz="1400" dirty="0"/>
          </a:p>
        </p:txBody>
      </p:sp>
      <p:sp>
        <p:nvSpPr>
          <p:cNvPr id="21" name="Shape 18"/>
          <p:cNvSpPr/>
          <p:nvPr/>
        </p:nvSpPr>
        <p:spPr>
          <a:xfrm>
            <a:off x="6217920" y="4206240"/>
            <a:ext cx="5422392" cy="2103120"/>
          </a:xfrm>
          <a:prstGeom prst="roundRect">
            <a:avLst>
              <a:gd name="adj" fmla="val 5217"/>
            </a:avLst>
          </a:prstGeom>
          <a:solidFill>
            <a:srgbClr val="EAF4F6"/>
          </a:solidFill>
          <a:ln w="12700">
            <a:solidFill>
              <a:srgbClr val="EAF4F6"/>
            </a:solidFill>
            <a:prstDash val="solid"/>
          </a:ln>
        </p:spPr>
      </p:sp>
      <p:sp>
        <p:nvSpPr>
          <p:cNvPr id="22" name="Shape 19"/>
          <p:cNvSpPr/>
          <p:nvPr/>
        </p:nvSpPr>
        <p:spPr>
          <a:xfrm>
            <a:off x="6446520" y="4407408"/>
            <a:ext cx="457200" cy="457200"/>
          </a:xfrm>
          <a:prstGeom prst="ellipse">
            <a:avLst/>
          </a:prstGeom>
          <a:solidFill>
            <a:srgbClr val="F5A623"/>
          </a:solidFill>
          <a:ln w="12700">
            <a:solidFill>
              <a:srgbClr val="F5A623"/>
            </a:solidFill>
            <a:prstDash val="solid"/>
          </a:ln>
        </p:spPr>
      </p:sp>
      <p:sp>
        <p:nvSpPr>
          <p:cNvPr id="23" name="Text 20"/>
          <p:cNvSpPr txBox="1"/>
          <p:nvPr/>
        </p:nvSpPr>
        <p:spPr>
          <a:xfrm>
            <a:off x="6446520" y="44074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4" name="Text 21"/>
          <p:cNvSpPr txBox="1"/>
          <p:nvPr/>
        </p:nvSpPr>
        <p:spPr>
          <a:xfrm>
            <a:off x="7040880" y="4407408"/>
            <a:ext cx="4370832" cy="45720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Never for invalid sources</a:t>
            </a:r>
            <a:endParaRPr lang="en-US" sz="1600" dirty="0"/>
          </a:p>
        </p:txBody>
      </p:sp>
      <p:sp>
        <p:nvSpPr>
          <p:cNvPr id="25" name="Text 22"/>
          <p:cNvSpPr txBox="1"/>
          <p:nvPr/>
        </p:nvSpPr>
        <p:spPr>
          <a:xfrm>
            <a:off x="6446520" y="4983480"/>
            <a:ext cx="4965192" cy="1188720"/>
          </a:xfrm>
          <a:prstGeom prst="rect">
            <a:avLst/>
          </a:prstGeom>
          <a:noFill/>
          <a:ln/>
        </p:spPr>
        <p:txBody>
          <a:bodyPr wrap="square" lIns="0" tIns="0" rIns="0" bIns="0" rtlCol="0" anchor="t"/>
          <a:lstStyle/>
          <a:p>
            <a:pPr indent="0" marL="0">
              <a:buNone/>
            </a:pPr>
            <a:r>
              <a:rPr lang="en-US" sz="1500" dirty="0">
                <a:solidFill>
                  <a:srgbClr val="1B2B3A"/>
                </a:solidFill>
                <a:latin typeface="Calibri" pitchFamily="34" charset="0"/>
                <a:ea typeface="Calibri" pitchFamily="34" charset="-122"/>
                <a:cs typeface="Calibri" pitchFamily="34" charset="-120"/>
              </a:rPr>
              <a:t>Source must identify one host: not 0.0.0.0, loopback 127.0.0.1 or multicast.</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0972800" cy="274320"/>
          </a:xfrm>
          <a:prstGeom prst="rect">
            <a:avLst/>
          </a:prstGeom>
          <a:noFill/>
          <a:ln/>
        </p:spPr>
        <p:txBody>
          <a:bodyPr wrap="square" lIns="0" tIns="0" rIns="0" bIns="0" rtlCol="0" anchor="t"/>
          <a:lstStyle/>
          <a:p>
            <a:pPr indent="0" marL="0">
              <a:buNone/>
            </a:pPr>
            <a:r>
              <a:rPr lang="en-US" sz="1200" b="1" spc="200" kern="0" dirty="0">
                <a:solidFill>
                  <a:srgbClr val="0FA3B1"/>
                </a:solidFill>
                <a:latin typeface="Calibri" pitchFamily="34" charset="0"/>
                <a:ea typeface="Calibri" pitchFamily="34" charset="-122"/>
                <a:cs typeface="Calibri" pitchFamily="34" charset="-120"/>
              </a:rPr>
              <a:t>ICMP · PART 02</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ICMP in Action: Ping, Traceroute &amp; ICMPv6</a:t>
            </a:r>
            <a:endParaRPr lang="en-US" sz="3000" dirty="0"/>
          </a:p>
        </p:txBody>
      </p:sp>
      <p:sp>
        <p:nvSpPr>
          <p:cNvPr id="5" name="Shape 2"/>
          <p:cNvSpPr/>
          <p:nvPr/>
        </p:nvSpPr>
        <p:spPr>
          <a:xfrm>
            <a:off x="548640" y="1463040"/>
            <a:ext cx="3200400" cy="4754880"/>
          </a:xfrm>
          <a:prstGeom prst="roundRect">
            <a:avLst>
              <a:gd name="adj" fmla="val 3429"/>
            </a:avLst>
          </a:prstGeom>
          <a:solidFill>
            <a:srgbClr val="EAF4F6"/>
          </a:solidFill>
          <a:ln w="12700">
            <a:solidFill>
              <a:srgbClr val="EAF4F6"/>
            </a:solidFill>
            <a:prstDash val="solid"/>
          </a:ln>
        </p:spPr>
      </p:sp>
      <p:sp>
        <p:nvSpPr>
          <p:cNvPr id="6" name="Text 3"/>
          <p:cNvSpPr txBox="1"/>
          <p:nvPr/>
        </p:nvSpPr>
        <p:spPr>
          <a:xfrm>
            <a:off x="777240" y="1645920"/>
            <a:ext cx="2743200" cy="411480"/>
          </a:xfrm>
          <a:prstGeom prst="rect">
            <a:avLst/>
          </a:prstGeom>
          <a:noFill/>
          <a:ln/>
        </p:spPr>
        <p:txBody>
          <a:bodyPr wrap="square" lIns="0" tIns="0" rIns="0" bIns="0" rtlCol="0" anchor="ctr"/>
          <a:lstStyle/>
          <a:p>
            <a:pPr indent="0" marL="0">
              <a:buNone/>
            </a:pPr>
            <a:r>
              <a:rPr lang="en-US" sz="1700" b="1" dirty="0">
                <a:solidFill>
                  <a:srgbClr val="0B1F3A"/>
                </a:solidFill>
                <a:latin typeface="Cambria" pitchFamily="34" charset="0"/>
                <a:ea typeface="Cambria" pitchFamily="34" charset="-122"/>
                <a:cs typeface="Cambria" pitchFamily="34" charset="-120"/>
              </a:rPr>
              <a:t>1. Ping</a:t>
            </a:r>
            <a:endParaRPr lang="en-US" sz="1700" dirty="0"/>
          </a:p>
        </p:txBody>
      </p:sp>
      <p:sp>
        <p:nvSpPr>
          <p:cNvPr id="7" name="Text 4"/>
          <p:cNvSpPr txBox="1"/>
          <p:nvPr/>
        </p:nvSpPr>
        <p:spPr>
          <a:xfrm>
            <a:off x="777240" y="2148840"/>
            <a:ext cx="2743200" cy="3931920"/>
          </a:xfrm>
          <a:prstGeom prst="rect">
            <a:avLst/>
          </a:prstGeom>
          <a:noFill/>
          <a:ln/>
        </p:spPr>
        <p:txBody>
          <a:bodyPr wrap="square" lIns="0" tIns="0" rIns="0" bIns="0" rtlCol="0" anchor="t"/>
          <a:lstStyle/>
          <a:p>
            <a:pPr indent="0" marL="0">
              <a:spcAft>
                <a:spcPts val="600"/>
              </a:spcAft>
              <a:buNone/>
            </a:pPr>
            <a:r>
              <a:rPr lang="en-US" sz="1500" dirty="0">
                <a:solidFill>
                  <a:srgbClr val="1B2B3A"/>
                </a:solidFill>
                <a:latin typeface="Calibri" pitchFamily="34" charset="0"/>
                <a:ea typeface="Calibri" pitchFamily="34" charset="-122"/>
                <a:cs typeface="Calibri" pitchFamily="34" charset="-120"/>
              </a:rPr>
              <a:t>Tests reachability, RTT and loss.</a:t>
            </a:r>
            <a:endParaRPr lang="en-US" sz="1400" dirty="0"/>
          </a:p>
          <a:p>
            <a:pPr indent="0" marL="0">
              <a:spcAft>
                <a:spcPts val="600"/>
              </a:spcAft>
              <a:buNone/>
            </a:pPr>
            <a:endParaRPr lang="en-US" sz="1400" dirty="0"/>
          </a:p>
          <a:p>
            <a:pPr indent="0" marL="0">
              <a:spcAft>
                <a:spcPts val="600"/>
              </a:spcAft>
              <a:buNone/>
            </a:pPr>
            <a:r>
              <a:rPr lang="en-US" sz="1500" dirty="0">
                <a:solidFill>
                  <a:srgbClr val="1B2B3A"/>
                </a:solidFill>
                <a:latin typeface="Calibri" pitchFamily="34" charset="0"/>
                <a:ea typeface="Calibri" pitchFamily="34" charset="-122"/>
                <a:cs typeface="Calibri" pitchFamily="34" charset="-120"/>
              </a:rPr>
              <a:t>Source sends </a:t>
            </a:r>
            <a:endParaRPr lang="en-US" sz="1400" dirty="0"/>
          </a:p>
          <a:p>
            <a:pPr indent="0" marL="0">
              <a:spcAft>
                <a:spcPts val="600"/>
              </a:spcAft>
              <a:buNone/>
            </a:pPr>
            <a:r>
              <a:rPr lang="en-US" sz="1500" b="1" dirty="0">
                <a:solidFill>
                  <a:srgbClr val="1B2B3A"/>
                </a:solidFill>
                <a:latin typeface="Calibri" pitchFamily="34" charset="0"/>
                <a:ea typeface="Calibri" pitchFamily="34" charset="-122"/>
                <a:cs typeface="Calibri" pitchFamily="34" charset="-120"/>
              </a:rPr>
              <a:t>Type 8, Code 0</a:t>
            </a:r>
            <a:pPr indent="0" marL="0">
              <a:spcAft>
                <a:spcPts val="600"/>
              </a:spcAft>
              <a:buNone/>
            </a:pPr>
            <a:r>
              <a:rPr lang="en-US" sz="1500" dirty="0">
                <a:solidFill>
                  <a:srgbClr val="1B2B3A"/>
                </a:solidFill>
                <a:latin typeface="Calibri" pitchFamily="34" charset="0"/>
                <a:ea typeface="Calibri" pitchFamily="34" charset="-122"/>
                <a:cs typeface="Calibri" pitchFamily="34" charset="-120"/>
              </a:rPr>
              <a:t> (Echo Request); destination replies </a:t>
            </a:r>
            <a:pPr indent="0" marL="0">
              <a:spcAft>
                <a:spcPts val="600"/>
              </a:spcAft>
              <a:buNone/>
            </a:pPr>
            <a:r>
              <a:rPr lang="en-US" sz="1500" b="1" dirty="0">
                <a:solidFill>
                  <a:srgbClr val="1B2B3A"/>
                </a:solidFill>
                <a:latin typeface="Calibri" pitchFamily="34" charset="0"/>
                <a:ea typeface="Calibri" pitchFamily="34" charset="-122"/>
                <a:cs typeface="Calibri" pitchFamily="34" charset="-120"/>
              </a:rPr>
              <a:t>Type 0, Code 0</a:t>
            </a:r>
            <a:pPr indent="0" marL="0">
              <a:spcAft>
                <a:spcPts val="600"/>
              </a:spcAft>
              <a:buNone/>
            </a:pPr>
            <a:r>
              <a:rPr lang="en-US" sz="1500" dirty="0">
                <a:solidFill>
                  <a:srgbClr val="1B2B3A"/>
                </a:solidFill>
                <a:latin typeface="Calibri" pitchFamily="34" charset="0"/>
                <a:ea typeface="Calibri" pitchFamily="34" charset="-122"/>
                <a:cs typeface="Calibri" pitchFamily="34" charset="-120"/>
              </a:rPr>
              <a:t> (Echo Reply).</a:t>
            </a:r>
            <a:endParaRPr lang="en-US" sz="1400" dirty="0"/>
          </a:p>
        </p:txBody>
      </p:sp>
      <p:sp>
        <p:nvSpPr>
          <p:cNvPr id="8" name="Shape 5"/>
          <p:cNvSpPr/>
          <p:nvPr/>
        </p:nvSpPr>
        <p:spPr>
          <a:xfrm>
            <a:off x="3931920" y="1463040"/>
            <a:ext cx="4297680" cy="4754880"/>
          </a:xfrm>
          <a:prstGeom prst="roundRect">
            <a:avLst>
              <a:gd name="adj" fmla="val 2553"/>
            </a:avLst>
          </a:prstGeom>
          <a:solidFill>
            <a:srgbClr val="0B1F3A"/>
          </a:solidFill>
          <a:ln w="12700">
            <a:solidFill>
              <a:srgbClr val="0B1F3A"/>
            </a:solidFill>
            <a:prstDash val="solid"/>
          </a:ln>
        </p:spPr>
      </p:sp>
      <p:sp>
        <p:nvSpPr>
          <p:cNvPr id="9" name="Text 6"/>
          <p:cNvSpPr txBox="1"/>
          <p:nvPr/>
        </p:nvSpPr>
        <p:spPr>
          <a:xfrm>
            <a:off x="4160520" y="1645920"/>
            <a:ext cx="3840480" cy="41148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2. Traceroute</a:t>
            </a:r>
            <a:endParaRPr lang="en-US" sz="1700" dirty="0"/>
          </a:p>
        </p:txBody>
      </p:sp>
      <p:sp>
        <p:nvSpPr>
          <p:cNvPr id="10" name="Text 7"/>
          <p:cNvSpPr txBox="1"/>
          <p:nvPr/>
        </p:nvSpPr>
        <p:spPr>
          <a:xfrm>
            <a:off x="4160520" y="2148840"/>
            <a:ext cx="3840480" cy="3931920"/>
          </a:xfrm>
          <a:prstGeom prst="rect">
            <a:avLst/>
          </a:prstGeom>
          <a:noFill/>
          <a:ln/>
        </p:spPr>
        <p:txBody>
          <a:bodyPr wrap="square" lIns="0" tIns="0" rIns="0" bIns="0" rtlCol="0" anchor="t"/>
          <a:lstStyle/>
          <a:p>
            <a:pPr indent="0" marL="0">
              <a:spcAft>
                <a:spcPts val="600"/>
              </a:spcAft>
              <a:buNone/>
            </a:pPr>
            <a:r>
              <a:rPr lang="en-US" sz="1400" dirty="0">
                <a:solidFill>
                  <a:srgbClr val="E6EEF5"/>
                </a:solidFill>
                <a:latin typeface="Calibri" pitchFamily="34" charset="0"/>
                <a:ea typeface="Calibri" pitchFamily="34" charset="-122"/>
                <a:cs typeface="Calibri" pitchFamily="34" charset="-120"/>
              </a:rPr>
              <a:t>Sends UDP probes to an unlikely port (33434+) with </a:t>
            </a:r>
            <a:pPr indent="0" marL="0">
              <a:spcAft>
                <a:spcPts val="600"/>
              </a:spcAft>
              <a:buNone/>
            </a:pPr>
            <a:r>
              <a:rPr lang="en-US" sz="1400" b="1" dirty="0">
                <a:solidFill>
                  <a:srgbClr val="E6EEF5"/>
                </a:solidFill>
                <a:latin typeface="Calibri" pitchFamily="34" charset="0"/>
                <a:ea typeface="Calibri" pitchFamily="34" charset="-122"/>
                <a:cs typeface="Calibri" pitchFamily="34" charset="-120"/>
              </a:rPr>
              <a:t>TTL = 1, 2, 3…</a:t>
            </a:r>
            <a:pPr indent="0" marL="0">
              <a:spcAft>
                <a:spcPts val="600"/>
              </a:spcAft>
              <a:buNone/>
            </a:pPr>
            <a:r>
              <a:rPr lang="en-US" sz="1400" dirty="0">
                <a:solidFill>
                  <a:srgbClr val="E6EEF5"/>
                </a:solidFill>
                <a:latin typeface="Calibri" pitchFamily="34" charset="0"/>
                <a:ea typeface="Calibri" pitchFamily="34" charset="-122"/>
                <a:cs typeface="Calibri" pitchFamily="34" charset="-120"/>
              </a:rPr>
              <a:t> (3 probes each).
</a:t>
            </a:r>
            <a:pPr indent="0" marL="0">
              <a:spcAft>
                <a:spcPts val="600"/>
              </a:spcAft>
              <a:buNone/>
            </a:pPr>
            <a:r>
              <a:rPr lang="en-US" sz="1400" b="1" dirty="0">
                <a:solidFill>
                  <a:srgbClr val="E6EEF5"/>
                </a:solidFill>
                <a:latin typeface="Calibri" pitchFamily="34" charset="0"/>
                <a:ea typeface="Calibri" pitchFamily="34" charset="-122"/>
                <a:cs typeface="Calibri" pitchFamily="34" charset="-120"/>
              </a:rPr>
              <a:t>Hop n:</a:t>
            </a:r>
            <a:pPr indent="0" marL="0">
              <a:spcAft>
                <a:spcPts val="600"/>
              </a:spcAft>
              <a:buNone/>
            </a:pPr>
            <a:r>
              <a:rPr lang="en-US" sz="1400" dirty="0">
                <a:solidFill>
                  <a:srgbClr val="E6EEF5"/>
                </a:solidFill>
                <a:latin typeface="Calibri" pitchFamily="34" charset="0"/>
                <a:ea typeface="Calibri" pitchFamily="34" charset="-122"/>
                <a:cs typeface="Calibri" pitchFamily="34" charset="-120"/>
              </a:rPr>
              <a:t> router drops it and returns </a:t>
            </a:r>
            <a:pPr indent="0" marL="0">
              <a:spcAft>
                <a:spcPts val="600"/>
              </a:spcAft>
              <a:buNone/>
            </a:pPr>
            <a:r>
              <a:rPr lang="en-US" sz="1400" b="1" dirty="0">
                <a:solidFill>
                  <a:srgbClr val="E6EEF5"/>
                </a:solidFill>
                <a:latin typeface="Calibri" pitchFamily="34" charset="0"/>
                <a:ea typeface="Calibri" pitchFamily="34" charset="-122"/>
                <a:cs typeface="Calibri" pitchFamily="34" charset="-120"/>
              </a:rPr>
              <a:t>Type 11, Code 0</a:t>
            </a:r>
            <a:pPr indent="0" marL="0">
              <a:spcAft>
                <a:spcPts val="600"/>
              </a:spcAft>
              <a:buNone/>
            </a:pPr>
            <a:r>
              <a:rPr lang="en-US" sz="1400" dirty="0">
                <a:solidFill>
                  <a:srgbClr val="E6EEF5"/>
                </a:solidFill>
                <a:latin typeface="Calibri" pitchFamily="34" charset="0"/>
                <a:ea typeface="Calibri" pitchFamily="34" charset="-122"/>
                <a:cs typeface="Calibri" pitchFamily="34" charset="-120"/>
              </a:rPr>
              <a:t> (TTL Expired) with its IP and RTT.
</a:t>
            </a:r>
            <a:pPr indent="0" marL="0">
              <a:spcAft>
                <a:spcPts val="600"/>
              </a:spcAft>
              <a:buNone/>
            </a:pPr>
            <a:r>
              <a:rPr lang="en-US" sz="1400" b="1" dirty="0">
                <a:solidFill>
                  <a:srgbClr val="E6EEF5"/>
                </a:solidFill>
                <a:latin typeface="Calibri" pitchFamily="34" charset="0"/>
                <a:ea typeface="Calibri" pitchFamily="34" charset="-122"/>
                <a:cs typeface="Calibri" pitchFamily="34" charset="-120"/>
              </a:rPr>
              <a:t>At destination:</a:t>
            </a:r>
            <a:pPr indent="0" marL="0">
              <a:spcAft>
                <a:spcPts val="600"/>
              </a:spcAft>
              <a:buNone/>
            </a:pPr>
            <a:r>
              <a:rPr lang="en-US" sz="1400" dirty="0">
                <a:solidFill>
                  <a:srgbClr val="E6EEF5"/>
                </a:solidFill>
                <a:latin typeface="Calibri" pitchFamily="34" charset="0"/>
                <a:ea typeface="Calibri" pitchFamily="34" charset="-122"/>
                <a:cs typeface="Calibri" pitchFamily="34" charset="-120"/>
              </a:rPr>
              <a:t> unused port → </a:t>
            </a:r>
            <a:pPr indent="0" marL="0">
              <a:spcAft>
                <a:spcPts val="600"/>
              </a:spcAft>
              <a:buNone/>
            </a:pPr>
            <a:r>
              <a:rPr lang="en-US" sz="1400" b="1" dirty="0">
                <a:solidFill>
                  <a:srgbClr val="E6EEF5"/>
                </a:solidFill>
                <a:latin typeface="Calibri" pitchFamily="34" charset="0"/>
                <a:ea typeface="Calibri" pitchFamily="34" charset="-122"/>
                <a:cs typeface="Calibri" pitchFamily="34" charset="-120"/>
              </a:rPr>
              <a:t>Type 3, Code 3</a:t>
            </a:r>
            <a:pPr indent="0" marL="0">
              <a:spcAft>
                <a:spcPts val="600"/>
              </a:spcAft>
              <a:buNone/>
            </a:pPr>
            <a:r>
              <a:rPr lang="en-US" sz="1400" dirty="0">
                <a:solidFill>
                  <a:srgbClr val="E6EEF5"/>
                </a:solidFill>
                <a:latin typeface="Calibri" pitchFamily="34" charset="0"/>
                <a:ea typeface="Calibri" pitchFamily="34" charset="-122"/>
                <a:cs typeface="Calibri" pitchFamily="34" charset="-120"/>
              </a:rPr>
              <a:t> (Port Unreachable) → stop.</a:t>
            </a:r>
            <a:endParaRPr lang="en-US" sz="1400" dirty="0"/>
          </a:p>
        </p:txBody>
      </p:sp>
      <p:sp>
        <p:nvSpPr>
          <p:cNvPr id="11" name="Shape 8"/>
          <p:cNvSpPr/>
          <p:nvPr/>
        </p:nvSpPr>
        <p:spPr>
          <a:xfrm>
            <a:off x="8412480" y="1463040"/>
            <a:ext cx="3227832" cy="4754880"/>
          </a:xfrm>
          <a:prstGeom prst="roundRect">
            <a:avLst>
              <a:gd name="adj" fmla="val 3399"/>
            </a:avLst>
          </a:prstGeom>
          <a:solidFill>
            <a:srgbClr val="EAF4F6"/>
          </a:solidFill>
          <a:ln w="12700">
            <a:solidFill>
              <a:srgbClr val="EAF4F6"/>
            </a:solidFill>
            <a:prstDash val="solid"/>
          </a:ln>
        </p:spPr>
      </p:sp>
      <p:sp>
        <p:nvSpPr>
          <p:cNvPr id="12" name="Text 9"/>
          <p:cNvSpPr txBox="1"/>
          <p:nvPr/>
        </p:nvSpPr>
        <p:spPr>
          <a:xfrm>
            <a:off x="8641080" y="1645920"/>
            <a:ext cx="2770632" cy="411480"/>
          </a:xfrm>
          <a:prstGeom prst="rect">
            <a:avLst/>
          </a:prstGeom>
          <a:noFill/>
          <a:ln/>
        </p:spPr>
        <p:txBody>
          <a:bodyPr wrap="square" lIns="0" tIns="0" rIns="0" bIns="0" rtlCol="0" anchor="ctr"/>
          <a:lstStyle/>
          <a:p>
            <a:pPr indent="0" marL="0">
              <a:buNone/>
            </a:pPr>
            <a:r>
              <a:rPr lang="en-US" sz="1700" b="1" dirty="0">
                <a:solidFill>
                  <a:srgbClr val="0B1F3A"/>
                </a:solidFill>
                <a:latin typeface="Cambria" pitchFamily="34" charset="0"/>
                <a:ea typeface="Cambria" pitchFamily="34" charset="-122"/>
                <a:cs typeface="Cambria" pitchFamily="34" charset="-120"/>
              </a:rPr>
              <a:t>3. ICMPv6</a:t>
            </a:r>
            <a:endParaRPr lang="en-US" sz="1700" dirty="0"/>
          </a:p>
        </p:txBody>
      </p:sp>
      <p:sp>
        <p:nvSpPr>
          <p:cNvPr id="13" name="Text 10"/>
          <p:cNvSpPr txBox="1"/>
          <p:nvPr/>
        </p:nvSpPr>
        <p:spPr>
          <a:xfrm>
            <a:off x="8641080" y="2148840"/>
            <a:ext cx="2770632" cy="3931920"/>
          </a:xfrm>
          <a:prstGeom prst="rect">
            <a:avLst/>
          </a:prstGeom>
          <a:noFill/>
          <a:ln/>
        </p:spPr>
        <p:txBody>
          <a:bodyPr wrap="square" lIns="0" tIns="0" rIns="0" bIns="0" rtlCol="0" anchor="t"/>
          <a:lstStyle/>
          <a:p>
            <a:pPr indent="0" marL="0">
              <a:spcAft>
                <a:spcPts val="600"/>
              </a:spcAft>
              <a:buNone/>
            </a:pPr>
            <a:r>
              <a:rPr lang="en-US" sz="1400" dirty="0">
                <a:solidFill>
                  <a:srgbClr val="1B2B3A"/>
                </a:solidFill>
                <a:latin typeface="Calibri" pitchFamily="34" charset="0"/>
                <a:ea typeface="Calibri" pitchFamily="34" charset="-122"/>
                <a:cs typeface="Calibri" pitchFamily="34" charset="-120"/>
              </a:rPr>
              <a:t>Merges </a:t>
            </a:r>
            <a:pPr indent="0" marL="0">
              <a:spcAft>
                <a:spcPts val="600"/>
              </a:spcAft>
              <a:buNone/>
            </a:pPr>
            <a:r>
              <a:rPr lang="en-US" sz="1400" b="1" dirty="0">
                <a:solidFill>
                  <a:srgbClr val="1B2B3A"/>
                </a:solidFill>
                <a:latin typeface="Calibri" pitchFamily="34" charset="0"/>
                <a:ea typeface="Calibri" pitchFamily="34" charset="-122"/>
                <a:cs typeface="Calibri" pitchFamily="34" charset="-120"/>
              </a:rPr>
              <a:t>ICMP</a:t>
            </a:r>
            <a:pPr indent="0" marL="0">
              <a:spcAft>
                <a:spcPts val="600"/>
              </a:spcAft>
              <a:buNone/>
            </a:pPr>
            <a:r>
              <a:rPr lang="en-US" sz="1400" dirty="0">
                <a:solidFill>
                  <a:srgbClr val="1B2B3A"/>
                </a:solidFill>
                <a:latin typeface="Calibri" pitchFamily="34" charset="0"/>
                <a:ea typeface="Calibri" pitchFamily="34" charset="-122"/>
                <a:cs typeface="Calibri" pitchFamily="34" charset="-120"/>
              </a:rPr>
              <a:t>, </a:t>
            </a:r>
            <a:pPr indent="0" marL="0">
              <a:spcAft>
                <a:spcPts val="600"/>
              </a:spcAft>
              <a:buNone/>
            </a:pPr>
            <a:r>
              <a:rPr lang="en-US" sz="1400" b="1" dirty="0">
                <a:solidFill>
                  <a:srgbClr val="1B2B3A"/>
                </a:solidFill>
                <a:latin typeface="Calibri" pitchFamily="34" charset="0"/>
                <a:ea typeface="Calibri" pitchFamily="34" charset="-122"/>
                <a:cs typeface="Calibri" pitchFamily="34" charset="-120"/>
              </a:rPr>
              <a:t>ARP</a:t>
            </a:r>
            <a:pPr indent="0" marL="0">
              <a:spcAft>
                <a:spcPts val="600"/>
              </a:spcAft>
              <a:buNone/>
            </a:pPr>
            <a:r>
              <a:rPr lang="en-US" sz="1400" dirty="0">
                <a:solidFill>
                  <a:srgbClr val="1B2B3A"/>
                </a:solidFill>
                <a:latin typeface="Calibri" pitchFamily="34" charset="0"/>
                <a:ea typeface="Calibri" pitchFamily="34" charset="-122"/>
                <a:cs typeface="Calibri" pitchFamily="34" charset="-120"/>
              </a:rPr>
              <a:t> (Neighbor Discovery) and </a:t>
            </a:r>
            <a:pPr indent="0" marL="0">
              <a:spcAft>
                <a:spcPts val="600"/>
              </a:spcAft>
              <a:buNone/>
            </a:pPr>
            <a:r>
              <a:rPr lang="en-US" sz="1400" b="1" dirty="0">
                <a:solidFill>
                  <a:srgbClr val="1B2B3A"/>
                </a:solidFill>
                <a:latin typeface="Calibri" pitchFamily="34" charset="0"/>
                <a:ea typeface="Calibri" pitchFamily="34" charset="-122"/>
                <a:cs typeface="Calibri" pitchFamily="34" charset="-120"/>
              </a:rPr>
              <a:t>IGMP</a:t>
            </a:r>
            <a:pPr indent="0" marL="0">
              <a:spcAft>
                <a:spcPts val="600"/>
              </a:spcAft>
              <a:buNone/>
            </a:pPr>
            <a:r>
              <a:rPr lang="en-US" sz="1400" dirty="0">
                <a:solidFill>
                  <a:srgbClr val="1B2B3A"/>
                </a:solidFill>
                <a:latin typeface="Calibri" pitchFamily="34" charset="0"/>
                <a:ea typeface="Calibri" pitchFamily="34" charset="-122"/>
                <a:cs typeface="Calibri" pitchFamily="34" charset="-120"/>
              </a:rPr>
              <a:t> (Multicast Listener Discovery).</a:t>
            </a:r>
            <a:endParaRPr lang="en-US" sz="1400" dirty="0"/>
          </a:p>
          <a:p>
            <a:pPr indent="0" marL="0">
              <a:spcAft>
                <a:spcPts val="600"/>
              </a:spcAft>
              <a:buNone/>
            </a:pPr>
            <a:endParaRPr lang="en-US" sz="1400" dirty="0"/>
          </a:p>
          <a:p>
            <a:pPr indent="0" marL="0">
              <a:spcAft>
                <a:spcPts val="600"/>
              </a:spcAft>
              <a:buNone/>
            </a:pPr>
            <a:r>
              <a:rPr lang="en-US" sz="1400" dirty="0">
                <a:solidFill>
                  <a:srgbClr val="1B2B3A"/>
                </a:solidFill>
                <a:latin typeface="Calibri" pitchFamily="34" charset="0"/>
                <a:ea typeface="Calibri" pitchFamily="34" charset="-122"/>
                <a:cs typeface="Calibri" pitchFamily="34" charset="-120"/>
              </a:rPr>
              <a:t>Adds </a:t>
            </a:r>
            <a:endParaRPr lang="en-US" sz="1400" dirty="0"/>
          </a:p>
          <a:p>
            <a:pPr indent="0" marL="0">
              <a:spcAft>
                <a:spcPts val="600"/>
              </a:spcAft>
              <a:buNone/>
            </a:pPr>
            <a:r>
              <a:rPr lang="en-US" sz="1400" b="1" dirty="0">
                <a:solidFill>
                  <a:srgbClr val="1B2B3A"/>
                </a:solidFill>
                <a:latin typeface="Calibri" pitchFamily="34" charset="0"/>
                <a:ea typeface="Calibri" pitchFamily="34" charset="-122"/>
                <a:cs typeface="Calibri" pitchFamily="34" charset="-120"/>
              </a:rPr>
              <a:t>Type 2: Packet Too Big</a:t>
            </a:r>
            <a:pPr indent="0" marL="0">
              <a:spcAft>
                <a:spcPts val="600"/>
              </a:spcAft>
              <a:buNone/>
            </a:pPr>
            <a:r>
              <a:rPr lang="en-US" sz="1400" dirty="0">
                <a:solidFill>
                  <a:srgbClr val="1B2B3A"/>
                </a:solidFill>
                <a:latin typeface="Calibri" pitchFamily="34" charset="0"/>
                <a:ea typeface="Calibri" pitchFamily="34" charset="-122"/>
                <a:cs typeface="Calibri" pitchFamily="34" charset="-120"/>
              </a:rPr>
              <a:t>, since IPv6 routers never fragment.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2026-10-23T05:20:00Z</dcterms:created>
  <dcterms:modified xsi:type="dcterms:W3CDTF">2026-10-23T05:20:00Z</dcterms:modified>
</cp:coreProperties>
</file>