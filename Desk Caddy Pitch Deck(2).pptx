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slides/slide6.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s/slide5.xml" ContentType="application/vnd.openxmlformats-officedocument.presentationml.slide+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notesMaster" Target="notesMasters/notesMaster1.xml"/><Relationship Id="rId16" Type="http://schemas.openxmlformats.org/officeDocument/2006/relationships/presProps" Target="presProps.xml" /><Relationship Id="rId17" Type="http://schemas.openxmlformats.org/officeDocument/2006/relationships/tableStyles" Target="tableStyles.xml" /><Relationship Id="rId18"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24231843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39872325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222422427"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2771157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7019429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49904016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9969444" name="Slide Image Placeholder 1"/>
          <p:cNvSpPr>
            <a:spLocks noChangeAspect="1" noGrp="1" noRot="1"/>
          </p:cNvSpPr>
          <p:nvPr>
            <p:ph type="sldImg"/>
          </p:nvPr>
        </p:nvSpPr>
        <p:spPr bwMode="auto"/>
      </p:sp>
      <p:sp>
        <p:nvSpPr>
          <p:cNvPr id="1534431485" name="Notes Placeholder 2"/>
          <p:cNvSpPr>
            <a:spLocks noGrp="1"/>
          </p:cNvSpPr>
          <p:nvPr>
            <p:ph type="body" idx="1"/>
          </p:nvPr>
        </p:nvSpPr>
        <p:spPr bwMode="auto"/>
        <p:txBody>
          <a:bodyPr/>
          <a:lstStyle/>
          <a:p>
            <a:pPr>
              <a:defRPr/>
            </a:pPr>
            <a:r>
              <a:rPr lang="en-US"/>
              <a:t>Open with the problem: student desks are small and cluttered. Say we will design and print one clamp-on caddy that holds everything. Mention you will cover design, material, print settings, plan and risks in 12 slides. Fill in team names and date.</a:t>
            </a:r>
            <a:endParaRPr lang="en-US"/>
          </a:p>
        </p:txBody>
      </p:sp>
      <p:sp>
        <p:nvSpPr>
          <p:cNvPr id="1009034806"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909408" name="Slide Image Placeholder 1"/>
          <p:cNvSpPr>
            <a:spLocks noChangeAspect="1" noGrp="1" noRot="1"/>
          </p:cNvSpPr>
          <p:nvPr>
            <p:ph type="sldImg"/>
          </p:nvPr>
        </p:nvSpPr>
        <p:spPr bwMode="auto"/>
      </p:sp>
      <p:sp>
        <p:nvSpPr>
          <p:cNvPr id="45702948" name="Notes Placeholder 2"/>
          <p:cNvSpPr>
            <a:spLocks noGrp="1"/>
          </p:cNvSpPr>
          <p:nvPr>
            <p:ph type="body" idx="1"/>
          </p:nvPr>
        </p:nvSpPr>
        <p:spPr bwMode="auto"/>
        <p:txBody>
          <a:bodyPr/>
          <a:lstStyle/>
          <a:p>
            <a:pPr>
              <a:defRPr/>
            </a:pPr>
            <a:r>
              <a:rPr lang="en-US"/>
              <a:t>Keep this short. Three everyday problems everyone in the room recognises. Lead into: what if the desk edge itself became storage?</a:t>
            </a:r>
            <a:endParaRPr lang="en-US"/>
          </a:p>
        </p:txBody>
      </p:sp>
      <p:sp>
        <p:nvSpPr>
          <p:cNvPr id="167524632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9270616" name="Slide Image Placeholder 1"/>
          <p:cNvSpPr>
            <a:spLocks noChangeAspect="1" noGrp="1" noRot="1"/>
          </p:cNvSpPr>
          <p:nvPr>
            <p:ph type="sldImg"/>
          </p:nvPr>
        </p:nvSpPr>
        <p:spPr bwMode="auto"/>
      </p:sp>
      <p:sp>
        <p:nvSpPr>
          <p:cNvPr id="2036519115" name="Notes Placeholder 2"/>
          <p:cNvSpPr>
            <a:spLocks noGrp="1"/>
          </p:cNvSpPr>
          <p:nvPr>
            <p:ph type="body" idx="1"/>
          </p:nvPr>
        </p:nvSpPr>
        <p:spPr bwMode="auto"/>
        <p:txBody>
          <a:bodyPr/>
          <a:lstStyle/>
          <a:p>
            <a:pPr>
              <a:defRPr/>
            </a:pPr>
            <a:r>
              <a:rPr lang="en-US"/>
              <a:t>Explain the product in one breath using the sketch: pens, a mug and a phone sit in the box, and the headphones hang from the hook below. It is inspired by commercial clamp-on organizers, but we will design our own parts so we can fit our desks and print it ourselves.</a:t>
            </a:r>
            <a:endParaRPr lang="en-US"/>
          </a:p>
        </p:txBody>
      </p:sp>
      <p:sp>
        <p:nvSpPr>
          <p:cNvPr id="2089017263"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9579040" name="Slide Image Placeholder 1"/>
          <p:cNvSpPr>
            <a:spLocks noChangeAspect="1" noGrp="1" noRot="1"/>
          </p:cNvSpPr>
          <p:nvPr>
            <p:ph type="sldImg"/>
          </p:nvPr>
        </p:nvSpPr>
        <p:spPr bwMode="auto"/>
      </p:sp>
      <p:sp>
        <p:nvSpPr>
          <p:cNvPr id="446868908" name="Notes Placeholder 2"/>
          <p:cNvSpPr>
            <a:spLocks noGrp="1"/>
          </p:cNvSpPr>
          <p:nvPr>
            <p:ph type="body" idx="1"/>
          </p:nvPr>
        </p:nvSpPr>
        <p:spPr bwMode="auto"/>
        <p:txBody>
          <a:bodyPr/>
          <a:lstStyle/>
          <a:p>
            <a:pPr>
              <a:defRPr/>
            </a:pPr>
            <a:r>
              <a:rPr lang="en-US"/>
              <a:t>This is the feasibility slide. Everything is plastic, the shapes are simple, and a failed print costs little. Confirm the bed size with sir before the final print. The 195 mm figure is our target, not a measured result yet.</a:t>
            </a:r>
            <a:endParaRPr lang="en-US"/>
          </a:p>
        </p:txBody>
      </p:sp>
      <p:sp>
        <p:nvSpPr>
          <p:cNvPr id="1048542528"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5461715" name="Slide Image Placeholder 1"/>
          <p:cNvSpPr>
            <a:spLocks noChangeAspect="1" noGrp="1" noRot="1"/>
          </p:cNvSpPr>
          <p:nvPr>
            <p:ph type="sldImg"/>
          </p:nvPr>
        </p:nvSpPr>
        <p:spPr bwMode="auto"/>
      </p:sp>
      <p:sp>
        <p:nvSpPr>
          <p:cNvPr id="457852546" name="Notes Placeholder 2"/>
          <p:cNvSpPr>
            <a:spLocks noGrp="1"/>
          </p:cNvSpPr>
          <p:nvPr>
            <p:ph type="body" idx="1"/>
          </p:nvPr>
        </p:nvSpPr>
        <p:spPr bwMode="auto"/>
        <p:txBody>
          <a:bodyPr/>
          <a:lstStyle/>
          <a:p>
            <a:pPr>
              <a:defRPr/>
            </a:pPr>
            <a:r>
              <a:rPr lang="en-US"/>
              <a:t>Walk the sketch from the desk outward: the orange clamp grips the desk edge, the blue box hangs from it, and the cream hook sits underneath. A one-piece print would be weakest exactly where the load is highest, so splitting it lets us choose the print direction per part. The sketch is a concept, not the final model.</a:t>
            </a:r>
            <a:endParaRPr lang="en-US"/>
          </a:p>
        </p:txBody>
      </p:sp>
      <p:sp>
        <p:nvSpPr>
          <p:cNvPr id="254026921"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1477778" name="Slide Image Placeholder 1"/>
          <p:cNvSpPr>
            <a:spLocks noChangeAspect="1" noGrp="1" noRot="1"/>
          </p:cNvSpPr>
          <p:nvPr>
            <p:ph type="sldImg"/>
          </p:nvPr>
        </p:nvSpPr>
        <p:spPr bwMode="auto"/>
      </p:sp>
      <p:sp>
        <p:nvSpPr>
          <p:cNvPr id="1870228046" name="Notes Placeholder 2"/>
          <p:cNvSpPr>
            <a:spLocks noGrp="1"/>
          </p:cNvSpPr>
          <p:nvPr>
            <p:ph type="body" idx="1"/>
          </p:nvPr>
        </p:nvSpPr>
        <p:spPr bwMode="auto"/>
        <p:txBody>
          <a:bodyPr/>
          <a:lstStyle/>
          <a:p>
            <a:pPr>
              <a:defRPr/>
            </a:pPr>
            <a:r>
              <a:rPr lang="en-US"/>
              <a:t>Show the working. 2.8 kg times 9.81 is about 27.5 newtons. The lever arm is about 80 mm, so the torque is 2.2 newton-metres. The sketch shows the load hanging out from the desk edge. The safety allowance of 1.5 kg covers someone bumping the caddy. These are our assumptions, so we will prove them with a real weight test before putting a hot drink on it.</a:t>
            </a:r>
            <a:endParaRPr lang="en-US"/>
          </a:p>
        </p:txBody>
      </p:sp>
      <p:sp>
        <p:nvSpPr>
          <p:cNvPr id="1841051835"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5473738" name="Slide Image Placeholder 1"/>
          <p:cNvSpPr>
            <a:spLocks noChangeAspect="1" noGrp="1" noRot="1"/>
          </p:cNvSpPr>
          <p:nvPr>
            <p:ph type="sldImg"/>
          </p:nvPr>
        </p:nvSpPr>
        <p:spPr bwMode="auto"/>
      </p:sp>
      <p:sp>
        <p:nvSpPr>
          <p:cNvPr id="1216892984" name="Notes Placeholder 2"/>
          <p:cNvSpPr>
            <a:spLocks noGrp="1"/>
          </p:cNvSpPr>
          <p:nvPr>
            <p:ph type="body" idx="1"/>
          </p:nvPr>
        </p:nvSpPr>
        <p:spPr bwMode="auto"/>
        <p:txBody>
          <a:bodyPr/>
          <a:lstStyle/>
          <a:p>
            <a:pPr>
              <a:defRPr/>
            </a:pPr>
            <a:r>
              <a:rPr lang="en-US"/>
              <a:t>Material choice matters because the clamp is under constant stress and a mug may be hot. PETG is our first choice. Dry the filament before printing, because wet PETG strings and bonds worse between layers.</a:t>
            </a:r>
            <a:endParaRPr lang="en-US"/>
          </a:p>
        </p:txBody>
      </p:sp>
      <p:sp>
        <p:nvSpPr>
          <p:cNvPr id="1332518329"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1299047" name="Slide Image Placeholder 1"/>
          <p:cNvSpPr>
            <a:spLocks noChangeAspect="1" noGrp="1" noRot="1"/>
          </p:cNvSpPr>
          <p:nvPr>
            <p:ph type="sldImg"/>
          </p:nvPr>
        </p:nvSpPr>
        <p:spPr bwMode="auto"/>
      </p:sp>
      <p:sp>
        <p:nvSpPr>
          <p:cNvPr id="868528734" name="Notes Placeholder 2"/>
          <p:cNvSpPr>
            <a:spLocks noGrp="1"/>
          </p:cNvSpPr>
          <p:nvPr>
            <p:ph type="body" idx="1"/>
          </p:nvPr>
        </p:nvSpPr>
        <p:spPr bwMode="auto"/>
        <p:txBody>
          <a:bodyPr/>
          <a:lstStyle/>
          <a:p>
            <a:pPr>
              <a:defRPr/>
            </a:pPr>
            <a:r>
              <a:rPr lang="en-US"/>
              <a:t>Do not read the whole table. Pick three: the box fits the bed, the mug pocket fits normal mugs, and the clamp opening covers common desk thicknesses. Say these are starting values that we will adjust after the first test print. Measure our own desk edge before finalising the clamp.</a:t>
            </a:r>
            <a:endParaRPr lang="en-US"/>
          </a:p>
        </p:txBody>
      </p:sp>
      <p:sp>
        <p:nvSpPr>
          <p:cNvPr id="1792587085"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8454406" name="Slide Image Placeholder 1"/>
          <p:cNvSpPr>
            <a:spLocks noChangeAspect="1" noGrp="1" noRot="1"/>
          </p:cNvSpPr>
          <p:nvPr>
            <p:ph type="sldImg"/>
          </p:nvPr>
        </p:nvSpPr>
        <p:spPr bwMode="auto"/>
      </p:sp>
      <p:sp>
        <p:nvSpPr>
          <p:cNvPr id="733963215" name="Notes Placeholder 2"/>
          <p:cNvSpPr>
            <a:spLocks noGrp="1"/>
          </p:cNvSpPr>
          <p:nvPr>
            <p:ph type="body" idx="1"/>
          </p:nvPr>
        </p:nvSpPr>
        <p:spPr bwMode="auto"/>
        <p:txBody>
          <a:bodyPr/>
          <a:lstStyle/>
          <a:p>
            <a:pPr>
              <a:defRPr/>
            </a:pPr>
            <a:r>
              <a:rPr lang="en-US"/>
              <a:t>The clamp and hook carry the load, so they get thick walls and more infill. The box is mainly a container, so we save time and filament there. Cooling fan at 20 to 40 percent on the clamp helps the layers fuse. A brim helps the tall screw stay on the bed.</a:t>
            </a:r>
            <a:endParaRPr lang="en-US"/>
          </a:p>
        </p:txBody>
      </p:sp>
      <p:sp>
        <p:nvSpPr>
          <p:cNvPr id="697917192"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3414254" name="Slide Image Placeholder 1"/>
          <p:cNvSpPr>
            <a:spLocks noChangeAspect="1" noGrp="1" noRot="1"/>
          </p:cNvSpPr>
          <p:nvPr>
            <p:ph type="sldImg"/>
          </p:nvPr>
        </p:nvSpPr>
        <p:spPr bwMode="auto"/>
      </p:sp>
      <p:sp>
        <p:nvSpPr>
          <p:cNvPr id="708212087" name="Notes Placeholder 2"/>
          <p:cNvSpPr>
            <a:spLocks noGrp="1"/>
          </p:cNvSpPr>
          <p:nvPr>
            <p:ph type="body" idx="1"/>
          </p:nvPr>
        </p:nvSpPr>
        <p:spPr bwMode="auto"/>
        <p:txBody>
          <a:bodyPr/>
          <a:lstStyle/>
          <a:p>
            <a:pPr>
              <a:defRPr/>
            </a:pPr>
            <a:r>
              <a:rPr lang="en-US"/>
              <a:t>Walk through the five steps. Emphasise the small test print before the big one, so a mistake costs a few grams of filament. Fill in the real dates after agreeing them with sir. The anti-slip pads on the clamp stop it sliding on a smooth desk.</a:t>
            </a:r>
            <a:endParaRPr lang="en-US"/>
          </a:p>
        </p:txBody>
      </p:sp>
      <p:sp>
        <p:nvSpPr>
          <p:cNvPr id="882369420"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3144944" name="Slide Image Placeholder 1"/>
          <p:cNvSpPr>
            <a:spLocks noChangeAspect="1" noGrp="1" noRot="1"/>
          </p:cNvSpPr>
          <p:nvPr>
            <p:ph type="sldImg"/>
          </p:nvPr>
        </p:nvSpPr>
        <p:spPr bwMode="auto"/>
      </p:sp>
      <p:sp>
        <p:nvSpPr>
          <p:cNvPr id="53133978" name="Notes Placeholder 2"/>
          <p:cNvSpPr>
            <a:spLocks noGrp="1"/>
          </p:cNvSpPr>
          <p:nvPr>
            <p:ph type="body" idx="1"/>
          </p:nvPr>
        </p:nvSpPr>
        <p:spPr bwMode="auto"/>
        <p:txBody>
          <a:bodyPr/>
          <a:lstStyle/>
          <a:p>
            <a:pPr>
              <a:defRPr/>
            </a:pPr>
            <a:r>
              <a:rPr lang="en-US"/>
              <a:t>Showing the risks makes the pitch stronger. Every risk has a specific fix we already know. The key safety step is the 2 kg weight test before any hot drink is placed in it.</a:t>
            </a:r>
            <a:endParaRPr lang="en-US"/>
          </a:p>
        </p:txBody>
      </p:sp>
      <p:sp>
        <p:nvSpPr>
          <p:cNvPr id="172358488"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6995913" name="Slide Image Placeholder 1"/>
          <p:cNvSpPr>
            <a:spLocks noChangeAspect="1" noGrp="1" noRot="1"/>
          </p:cNvSpPr>
          <p:nvPr>
            <p:ph type="sldImg"/>
          </p:nvPr>
        </p:nvSpPr>
        <p:spPr bwMode="auto"/>
      </p:sp>
      <p:sp>
        <p:nvSpPr>
          <p:cNvPr id="1733071309" name="Notes Placeholder 2"/>
          <p:cNvSpPr>
            <a:spLocks noGrp="1"/>
          </p:cNvSpPr>
          <p:nvPr>
            <p:ph type="body" idx="1"/>
          </p:nvPr>
        </p:nvSpPr>
        <p:spPr bwMode="auto"/>
        <p:txBody>
          <a:bodyPr/>
          <a:lstStyle/>
          <a:p>
            <a:pPr>
              <a:defRPr/>
            </a:pPr>
            <a:r>
              <a:rPr lang="en-US"/>
              <a:t>Close with a clear request: printer time, filament, and feedback on the design. Then invite questions. Be ready to answer: why three parts, why PETG, and how we will test the strength.</a:t>
            </a:r>
            <a:endParaRPr lang="en-US"/>
          </a:p>
        </p:txBody>
      </p:sp>
      <p:sp>
        <p:nvSpPr>
          <p:cNvPr id="1515579606"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body">
    <p:bg>
      <p:bgPr shadeToTitle="0">
        <a:solidFill>
          <a:srgbClr val="16181D"/>
        </a:solidFill>
      </p:bgPr>
    </p:bg>
    <p:spTree>
      <p:nvGrpSpPr>
        <p:cNvPr id="1" name=""/>
        <p:cNvGrpSpPr/>
        <p:nvPr/>
      </p:nvGrpSpPr>
      <p:grpSpPr bwMode="auto">
        <a:xfrm>
          <a:off x="0" y="0"/>
          <a:ext cx="0" cy="0"/>
          <a:chOff x="0" y="0"/>
          <a:chExt cx="0" cy="0"/>
        </a:xfrm>
      </p:grpSpPr>
      <p:sp>
        <p:nvSpPr>
          <p:cNvPr id="318403313" name="Title Placeholder 1"/>
          <p:cNvSpPr/>
          <p:nvPr>
            <p:ph type="title"/>
          </p:nvPr>
        </p:nvSpPr>
        <p:spPr bwMode="auto">
          <a:xfrm>
            <a:off x="812800" y="1163241"/>
            <a:ext cx="10566400" cy="640060"/>
          </a:xfrm>
          <a:prstGeom prst="rect">
            <a:avLst/>
          </a:prstGeom>
          <a:noFill/>
          <a:ln/>
        </p:spPr>
        <p:txBody>
          <a:bodyPr wrap="square" lIns="0" tIns="0" rIns="0" bIns="0" rtlCol="0" anchor="t"/>
          <a:lstStyle>
            <a:lvl1pPr marL="0" indent="0" algn="l">
              <a:lnSpc>
                <a:spcPct val="114999"/>
              </a:lnSpc>
              <a:buNone/>
              <a:defRPr lang="en-US" sz="4800">
                <a:solidFill>
                  <a:srgbClr val="F4F1EA"/>
                </a:solidFill>
                <a:latin typeface="Oswald"/>
                <a:ea typeface="Oswald"/>
                <a:cs typeface="Oswald"/>
              </a:defRPr>
            </a:lvl1pPr>
          </a:lstStyle>
          <a:p>
            <a:pPr marL="0" indent="0" algn="l">
              <a:lnSpc>
                <a:spcPct val="114999"/>
              </a:lnSpc>
              <a:buNone/>
              <a:defRPr/>
            </a:pPr>
            <a:endParaRPr lang="en-US" sz="4800"/>
          </a:p>
        </p:txBody>
      </p:sp>
      <p:sp>
        <p:nvSpPr>
          <p:cNvPr id="218527123" name="Text Placeholder 2"/>
          <p:cNvSpPr/>
          <p:nvPr>
            <p:ph type="body" idx="101"/>
          </p:nvPr>
        </p:nvSpPr>
        <p:spPr bwMode="auto">
          <a:xfrm>
            <a:off x="812800" y="2108101"/>
            <a:ext cx="10566400" cy="3937099"/>
          </a:xfrm>
          <a:prstGeom prst="rect">
            <a:avLst/>
          </a:prstGeom>
          <a:noFill/>
          <a:ln/>
        </p:spPr>
        <p:txBody>
          <a:bodyPr wrap="square" lIns="0" tIns="0" rIns="0" bIns="0" rtlCol="0" anchor="t"/>
          <a:lstStyle>
            <a:lvl1pPr marL="0" indent="0" algn="l">
              <a:lnSpc>
                <a:spcPct val="140000"/>
              </a:lnSpc>
              <a:buNone/>
              <a:defRPr lang="en-US" sz="1600">
                <a:solidFill>
                  <a:srgbClr val="F4F1EA"/>
                </a:solidFill>
                <a:latin typeface="DM Sans"/>
                <a:ea typeface="DM Sans"/>
                <a:cs typeface="DM Sans"/>
              </a:defRPr>
            </a:lvl1pPr>
          </a:lstStyle>
          <a:p>
            <a:pPr marL="0" indent="0" algn="l">
              <a:lnSpc>
                <a:spcPct val="140000"/>
              </a:lnSpc>
              <a:buNone/>
              <a:defRPr/>
            </a:pPr>
            <a:endParaRPr lang="en-US" sz="1600"/>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16181D"/>
        </a:solidFill>
      </p:bgPr>
    </p:bg>
    <p:spTree>
      <p:nvGrpSpPr>
        <p:cNvPr id="1" name=""/>
        <p:cNvGrpSpPr/>
        <p:nvPr/>
      </p:nvGrpSpPr>
      <p:grpSpPr bwMode="auto">
        <a:xfrm>
          <a:off x="0" y="0"/>
          <a:ext cx="0" cy="0"/>
          <a:chOff x="0" y="0"/>
          <a:chExt cx="0" cy="0"/>
        </a:xfrm>
      </p:grpSpPr>
      <p:sp>
        <p:nvSpPr>
          <p:cNvPr id="1908604827" name="Title Placeholder 1"/>
          <p:cNvSpPr/>
          <p:nvPr>
            <p:ph type="title"/>
          </p:nvPr>
        </p:nvSpPr>
        <p:spPr bwMode="auto">
          <a:xfrm>
            <a:off x="812800" y="1163241"/>
            <a:ext cx="10566400" cy="640060"/>
          </a:xfrm>
          <a:prstGeom prst="rect">
            <a:avLst/>
          </a:prstGeom>
          <a:noFill/>
          <a:ln/>
        </p:spPr>
        <p:txBody>
          <a:bodyPr wrap="square" lIns="0" tIns="0" rIns="0" bIns="0" rtlCol="0" anchor="t"/>
          <a:lstStyle>
            <a:lvl1pPr marL="0" indent="0" algn="l">
              <a:lnSpc>
                <a:spcPct val="114999"/>
              </a:lnSpc>
              <a:buNone/>
              <a:defRPr lang="en-US" sz="4800">
                <a:solidFill>
                  <a:srgbClr val="F4F1EA"/>
                </a:solidFill>
                <a:latin typeface="Oswald"/>
                <a:ea typeface="Oswald"/>
                <a:cs typeface="Oswald"/>
              </a:defRPr>
            </a:lvl1pPr>
          </a:lstStyle>
          <a:p>
            <a:pPr marL="0" indent="0" algn="l">
              <a:lnSpc>
                <a:spcPct val="114999"/>
              </a:lnSpc>
              <a:buNone/>
              <a:defRPr/>
            </a:pPr>
            <a:endParaRPr lang="en-US" sz="4800"/>
          </a:p>
        </p:txBody>
      </p:sp>
      <p:sp>
        <p:nvSpPr>
          <p:cNvPr id="1421010230" name="Text Placeholder 2"/>
          <p:cNvSpPr/>
          <p:nvPr>
            <p:ph type="body" idx="101"/>
          </p:nvPr>
        </p:nvSpPr>
        <p:spPr bwMode="auto">
          <a:xfrm>
            <a:off x="812800" y="2108101"/>
            <a:ext cx="10566400" cy="3937099"/>
          </a:xfrm>
          <a:prstGeom prst="rect">
            <a:avLst/>
          </a:prstGeom>
          <a:noFill/>
          <a:ln/>
        </p:spPr>
        <p:txBody>
          <a:bodyPr wrap="square" lIns="0" tIns="0" rIns="0" bIns="0" rtlCol="0" anchor="t"/>
          <a:lstStyle>
            <a:lvl1pPr marL="0" indent="0" algn="l">
              <a:lnSpc>
                <a:spcPct val="140000"/>
              </a:lnSpc>
              <a:buNone/>
              <a:defRPr lang="en-US" sz="1600">
                <a:solidFill>
                  <a:srgbClr val="F4F1EA"/>
                </a:solidFill>
                <a:latin typeface="DM Sans"/>
                <a:ea typeface="DM Sans"/>
                <a:cs typeface="DM Sans"/>
              </a:defRPr>
            </a:lvl1pPr>
          </a:lstStyle>
          <a:p>
            <a:pPr marL="0" indent="0" algn="l">
              <a:lnSpc>
                <a:spcPct val="140000"/>
              </a:lnSpc>
              <a:buNone/>
              <a:defRPr/>
            </a:pPr>
            <a:endParaRPr lang="en-US" sz="160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6181D"/>
        </a:solidFill>
      </p:bgPr>
    </p:bg>
    <p:spTree>
      <p:nvGrpSpPr>
        <p:cNvPr id="1" name=""/>
        <p:cNvGrpSpPr/>
        <p:nvPr/>
      </p:nvGrpSpPr>
      <p:grpSpPr bwMode="auto">
        <a:xfrm>
          <a:off x="0" y="0"/>
          <a:ext cx="0" cy="0"/>
          <a:chOff x="0" y="0"/>
          <a:chExt cx="0" cy="0"/>
        </a:xfrm>
      </p:grpSpPr>
      <p:sp>
        <p:nvSpPr>
          <p:cNvPr id="2023266665" name="Text 0"/>
          <p:cNvSpPr/>
          <p:nvPr/>
        </p:nvSpPr>
        <p:spPr bwMode="auto">
          <a:xfrm>
            <a:off x="812800" y="1519039"/>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b="1" spc="200">
                <a:solidFill>
                  <a:srgbClr val="FF7A1A"/>
                </a:solidFill>
                <a:latin typeface="DM Sans"/>
                <a:ea typeface="DM Sans"/>
                <a:cs typeface="DM Sans"/>
              </a:rPr>
              <a:t>PDR CLASS · 3D PRINTING PITCH</a:t>
            </a:r>
            <a:endParaRPr lang="en-US" sz="1400"/>
          </a:p>
        </p:txBody>
      </p:sp>
      <p:sp>
        <p:nvSpPr>
          <p:cNvPr id="2122997169" name="Text 1"/>
          <p:cNvSpPr/>
          <p:nvPr>
            <p:ph type="title"/>
          </p:nvPr>
        </p:nvSpPr>
        <p:spPr bwMode="auto">
          <a:xfrm>
            <a:off x="812800" y="1971080"/>
            <a:ext cx="10883392" cy="2260600"/>
          </a:xfrm>
          <a:prstGeom prst="rect">
            <a:avLst/>
          </a:prstGeom>
          <a:noFill/>
          <a:ln/>
        </p:spPr>
        <p:txBody>
          <a:bodyPr wrap="square" lIns="0" tIns="0" rIns="0" bIns="0" rtlCol="0" anchor="t">
            <a:normAutofit/>
          </a:bodyPr>
          <a:lstStyle/>
          <a:p>
            <a:pPr marL="0" indent="0" algn="l">
              <a:lnSpc>
                <a:spcPts val="8800"/>
              </a:lnSpc>
              <a:buNone/>
              <a:defRPr/>
            </a:pPr>
            <a:r>
              <a:rPr lang="en-US" sz="8800" b="1" i="0">
                <a:solidFill>
                  <a:srgbClr val="F4F1EA"/>
                </a:solidFill>
                <a:latin typeface="Oswald"/>
                <a:ea typeface="Oswald"/>
                <a:cs typeface="Oswald"/>
              </a:rPr>
              <a:t>CLAMP-ON</a:t>
            </a:r>
            <a:endParaRPr lang="en-US" sz="8800"/>
          </a:p>
          <a:p>
            <a:pPr marL="0" indent="0" algn="l">
              <a:lnSpc>
                <a:spcPts val="8800"/>
              </a:lnSpc>
              <a:buNone/>
              <a:defRPr/>
            </a:pPr>
            <a:r>
              <a:rPr lang="en-US" sz="8800" b="1" i="0">
                <a:solidFill>
                  <a:srgbClr val="F4F1EA"/>
                </a:solidFill>
                <a:latin typeface="Oswald"/>
                <a:ea typeface="Oswald"/>
                <a:cs typeface="Oswald"/>
              </a:rPr>
              <a:t>DESK CADDY</a:t>
            </a:r>
            <a:endParaRPr lang="en-US" sz="8800"/>
          </a:p>
        </p:txBody>
      </p:sp>
      <p:sp>
        <p:nvSpPr>
          <p:cNvPr id="743439375" name="Text 2"/>
          <p:cNvSpPr/>
          <p:nvPr/>
        </p:nvSpPr>
        <p:spPr bwMode="auto">
          <a:xfrm>
            <a:off x="812800" y="4409480"/>
            <a:ext cx="10883392" cy="751681"/>
          </a:xfrm>
          <a:prstGeom prst="rect">
            <a:avLst/>
          </a:prstGeom>
          <a:noFill/>
          <a:ln/>
        </p:spPr>
        <p:txBody>
          <a:bodyPr wrap="square" lIns="0" tIns="0" rIns="0" bIns="0" rtlCol="0" anchor="t">
            <a:normAutofit/>
          </a:bodyPr>
          <a:lstStyle/>
          <a:p>
            <a:pPr marL="0" indent="0" algn="l">
              <a:lnSpc>
                <a:spcPts val="2860"/>
              </a:lnSpc>
              <a:buNone/>
              <a:defRPr/>
            </a:pPr>
            <a:r>
              <a:rPr lang="en-US" sz="2200">
                <a:solidFill>
                  <a:srgbClr val="C9CCD3"/>
                </a:solidFill>
                <a:latin typeface="DM Sans"/>
                <a:ea typeface="DM Sans"/>
                <a:cs typeface="DM Sans"/>
              </a:rPr>
              <a:t>A 4-in-1 organizer for pens, a mug, a phone and headphones, designed and printed by us.</a:t>
            </a:r>
            <a:endParaRPr lang="en-US" sz="2200"/>
          </a:p>
        </p:txBody>
      </p:sp>
      <p:sp>
        <p:nvSpPr>
          <p:cNvPr id="962665479" name="Text 3"/>
          <p:cNvSpPr/>
          <p:nvPr/>
        </p:nvSpPr>
        <p:spPr bwMode="auto">
          <a:xfrm>
            <a:off x="812800" y="6238280"/>
            <a:ext cx="7848600" cy="238720"/>
          </a:xfrm>
          <a:prstGeom prst="rect">
            <a:avLst/>
          </a:prstGeom>
          <a:noFill/>
          <a:ln/>
        </p:spPr>
        <p:txBody>
          <a:bodyPr wrap="square" lIns="0" tIns="0" rIns="0" bIns="0" rtlCol="0" anchor="t">
            <a:normAutofit/>
          </a:bodyPr>
          <a:lstStyle/>
          <a:p>
            <a:pPr marL="0" indent="0" algn="l">
              <a:lnSpc>
                <a:spcPts val="1680"/>
              </a:lnSpc>
              <a:buNone/>
              <a:defRPr/>
            </a:pP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4F1EA"/>
        </a:solidFill>
      </p:bgPr>
    </p:bg>
    <p:spTree>
      <p:nvGrpSpPr>
        <p:cNvPr id="1" name=""/>
        <p:cNvGrpSpPr/>
        <p:nvPr/>
      </p:nvGrpSpPr>
      <p:grpSpPr bwMode="auto">
        <a:xfrm>
          <a:off x="0" y="0"/>
          <a:ext cx="0" cy="0"/>
          <a:chOff x="0" y="0"/>
          <a:chExt cx="0" cy="0"/>
        </a:xfrm>
      </p:grpSpPr>
      <p:sp>
        <p:nvSpPr>
          <p:cNvPr id="1360494952" name="Text 0"/>
          <p:cNvSpPr/>
          <p:nvPr/>
        </p:nvSpPr>
        <p:spPr bwMode="auto">
          <a:xfrm>
            <a:off x="812800" y="812800"/>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b="1" spc="200">
                <a:solidFill>
                  <a:srgbClr val="C2410C"/>
                </a:solidFill>
                <a:latin typeface="DM Sans"/>
                <a:ea typeface="DM Sans"/>
                <a:cs typeface="DM Sans"/>
              </a:rPr>
              <a:t>01 · THE PROBLEM</a:t>
            </a:r>
            <a:endParaRPr lang="en-US" sz="1400"/>
          </a:p>
        </p:txBody>
      </p:sp>
      <p:sp>
        <p:nvSpPr>
          <p:cNvPr id="1747870968" name="Text 1"/>
          <p:cNvSpPr/>
          <p:nvPr>
            <p:ph type="title"/>
          </p:nvPr>
        </p:nvSpPr>
        <p:spPr bwMode="auto">
          <a:xfrm flipH="0" flipV="0">
            <a:off x="812799" y="1163241"/>
            <a:ext cx="11367333" cy="775776"/>
          </a:xfrm>
          <a:prstGeom prst="rect">
            <a:avLst/>
          </a:prstGeom>
          <a:noFill/>
          <a:ln/>
        </p:spPr>
        <p:txBody>
          <a:bodyPr wrap="square" lIns="0" tIns="0" rIns="0" bIns="0" rtlCol="0" anchor="t">
            <a:normAutofit/>
          </a:bodyPr>
          <a:lstStyle/>
          <a:p>
            <a:pPr marL="0" indent="0" algn="l">
              <a:lnSpc>
                <a:spcPts val="5040"/>
              </a:lnSpc>
              <a:buNone/>
              <a:defRPr/>
            </a:pPr>
            <a:r>
              <a:rPr lang="en-US" sz="4800" b="1" i="0">
                <a:solidFill>
                  <a:srgbClr val="1B1D22"/>
                </a:solidFill>
                <a:latin typeface="Oswald"/>
                <a:ea typeface="Oswald"/>
                <a:cs typeface="Oswald"/>
              </a:rPr>
              <a:t>STUDENT DESKS RUN OUT OF ROOM</a:t>
            </a:r>
            <a:endParaRPr lang="en-US" sz="4800"/>
          </a:p>
        </p:txBody>
      </p:sp>
      <p:sp>
        <p:nvSpPr>
          <p:cNvPr id="543208591" name="Shape 2"/>
          <p:cNvSpPr/>
          <p:nvPr/>
        </p:nvSpPr>
        <p:spPr bwMode="auto">
          <a:xfrm>
            <a:off x="774509" y="3115171"/>
            <a:ext cx="3380283" cy="1906191"/>
          </a:xfrm>
          <a:prstGeom prst="roundRect">
            <a:avLst>
              <a:gd name="adj" fmla="val 5163"/>
            </a:avLst>
          </a:prstGeom>
          <a:solidFill>
            <a:srgbClr val="FFFFFF"/>
          </a:solidFill>
          <a:ln w="6350">
            <a:solidFill>
              <a:srgbClr val="DAD5C8"/>
            </a:solidFill>
            <a:prstDash val="solid"/>
          </a:ln>
        </p:spPr>
        <p:txBody>
          <a:bodyPr anchor="ctr"/>
          <a:p>
            <a:pPr algn="ctr">
              <a:defRPr/>
            </a:pPr>
            <a:endParaRPr/>
          </a:p>
        </p:txBody>
      </p:sp>
      <p:sp>
        <p:nvSpPr>
          <p:cNvPr id="2109983049" name="Text 3"/>
          <p:cNvSpPr/>
          <p:nvPr/>
        </p:nvSpPr>
        <p:spPr bwMode="auto">
          <a:xfrm>
            <a:off x="1082484" y="3423146"/>
            <a:ext cx="2847264" cy="360660"/>
          </a:xfrm>
          <a:prstGeom prst="rect">
            <a:avLst/>
          </a:prstGeom>
          <a:noFill/>
          <a:ln/>
        </p:spPr>
        <p:txBody>
          <a:bodyPr wrap="square" lIns="0" tIns="0" rIns="0" bIns="0" rtlCol="0" anchor="t">
            <a:normAutofit/>
          </a:bodyPr>
          <a:lstStyle/>
          <a:p>
            <a:pPr marL="0" indent="0" algn="l">
              <a:lnSpc>
                <a:spcPts val="2640"/>
              </a:lnSpc>
              <a:buNone/>
              <a:defRPr/>
            </a:pPr>
            <a:r>
              <a:rPr lang="en-US" sz="2200" b="1">
                <a:solidFill>
                  <a:srgbClr val="1B1D22"/>
                </a:solidFill>
                <a:latin typeface="DM Sans"/>
                <a:ea typeface="DM Sans"/>
                <a:cs typeface="DM Sans"/>
              </a:rPr>
              <a:t>Clutter</a:t>
            </a:r>
            <a:endParaRPr lang="en-US" sz="2200"/>
          </a:p>
        </p:txBody>
      </p:sp>
      <p:sp>
        <p:nvSpPr>
          <p:cNvPr id="2124671802" name="Text 4"/>
          <p:cNvSpPr/>
          <p:nvPr/>
        </p:nvSpPr>
        <p:spPr bwMode="auto">
          <a:xfrm>
            <a:off x="1082484" y="3860006"/>
            <a:ext cx="2847264" cy="87878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4A4F59"/>
                </a:solidFill>
                <a:latin typeface="DM Sans"/>
                <a:ea typeface="DM Sans"/>
                <a:cs typeface="DM Sans"/>
              </a:rPr>
              <a:t>Pens, a phone and a mug all compete for the same desk surface.</a:t>
            </a:r>
            <a:endParaRPr lang="en-US" sz="1600"/>
          </a:p>
        </p:txBody>
      </p:sp>
      <p:sp>
        <p:nvSpPr>
          <p:cNvPr id="432772769" name="Shape 5"/>
          <p:cNvSpPr/>
          <p:nvPr/>
        </p:nvSpPr>
        <p:spPr bwMode="auto">
          <a:xfrm>
            <a:off x="4339262" y="3115171"/>
            <a:ext cx="3380383" cy="1906191"/>
          </a:xfrm>
          <a:prstGeom prst="roundRect">
            <a:avLst>
              <a:gd name="adj" fmla="val 5163"/>
            </a:avLst>
          </a:prstGeom>
          <a:solidFill>
            <a:srgbClr val="FFFFFF"/>
          </a:solidFill>
          <a:ln w="6350">
            <a:solidFill>
              <a:srgbClr val="DAD5C8"/>
            </a:solidFill>
            <a:prstDash val="solid"/>
          </a:ln>
        </p:spPr>
      </p:sp>
      <p:sp>
        <p:nvSpPr>
          <p:cNvPr id="1302050320" name="Text 6"/>
          <p:cNvSpPr/>
          <p:nvPr/>
        </p:nvSpPr>
        <p:spPr bwMode="auto">
          <a:xfrm>
            <a:off x="4872279" y="3423146"/>
            <a:ext cx="2847366" cy="360660"/>
          </a:xfrm>
          <a:prstGeom prst="rect">
            <a:avLst/>
          </a:prstGeom>
          <a:noFill/>
          <a:ln/>
        </p:spPr>
        <p:txBody>
          <a:bodyPr wrap="square" lIns="0" tIns="0" rIns="0" bIns="0" rtlCol="0" anchor="t">
            <a:normAutofit/>
          </a:bodyPr>
          <a:lstStyle/>
          <a:p>
            <a:pPr marL="0" indent="0" algn="l">
              <a:lnSpc>
                <a:spcPts val="2640"/>
              </a:lnSpc>
              <a:buNone/>
              <a:defRPr/>
            </a:pPr>
            <a:r>
              <a:rPr lang="en-US" sz="2200" b="1">
                <a:solidFill>
                  <a:srgbClr val="1B1D22"/>
                </a:solidFill>
                <a:latin typeface="DM Sans"/>
                <a:ea typeface="DM Sans"/>
                <a:cs typeface="DM Sans"/>
              </a:rPr>
              <a:t>Spills</a:t>
            </a:r>
            <a:endParaRPr lang="en-US" sz="2200"/>
          </a:p>
        </p:txBody>
      </p:sp>
      <p:sp>
        <p:nvSpPr>
          <p:cNvPr id="1784219451" name="Text 7"/>
          <p:cNvSpPr/>
          <p:nvPr/>
        </p:nvSpPr>
        <p:spPr bwMode="auto">
          <a:xfrm>
            <a:off x="4872279" y="3860006"/>
            <a:ext cx="2847366" cy="87878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4A4F59"/>
                </a:solidFill>
                <a:latin typeface="DM Sans"/>
                <a:ea typeface="DM Sans"/>
                <a:cs typeface="DM Sans"/>
              </a:rPr>
              <a:t>A drink next to a laptop or notebooks is one bump away from damage.</a:t>
            </a:r>
            <a:endParaRPr lang="en-US" sz="1600"/>
          </a:p>
        </p:txBody>
      </p:sp>
      <p:sp>
        <p:nvSpPr>
          <p:cNvPr id="1071265504" name="Shape 8"/>
          <p:cNvSpPr/>
          <p:nvPr/>
        </p:nvSpPr>
        <p:spPr bwMode="auto">
          <a:xfrm>
            <a:off x="7910696" y="3115171"/>
            <a:ext cx="3380283" cy="1906191"/>
          </a:xfrm>
          <a:prstGeom prst="roundRect">
            <a:avLst>
              <a:gd name="adj" fmla="val 5163"/>
            </a:avLst>
          </a:prstGeom>
          <a:solidFill>
            <a:srgbClr val="FFFFFF"/>
          </a:solidFill>
          <a:ln w="6350">
            <a:solidFill>
              <a:srgbClr val="DAD5C8"/>
            </a:solidFill>
            <a:prstDash val="solid"/>
          </a:ln>
        </p:spPr>
      </p:sp>
      <p:sp>
        <p:nvSpPr>
          <p:cNvPr id="279803995" name="Text 9"/>
          <p:cNvSpPr/>
          <p:nvPr/>
        </p:nvSpPr>
        <p:spPr bwMode="auto">
          <a:xfrm>
            <a:off x="8177206" y="3346300"/>
            <a:ext cx="2847264" cy="360660"/>
          </a:xfrm>
          <a:prstGeom prst="rect">
            <a:avLst/>
          </a:prstGeom>
          <a:noFill/>
          <a:ln/>
        </p:spPr>
        <p:txBody>
          <a:bodyPr wrap="square" lIns="0" tIns="0" rIns="0" bIns="0" rtlCol="0" anchor="t">
            <a:normAutofit/>
          </a:bodyPr>
          <a:lstStyle/>
          <a:p>
            <a:pPr marL="0" indent="0" algn="l">
              <a:lnSpc>
                <a:spcPts val="2640"/>
              </a:lnSpc>
              <a:buNone/>
              <a:defRPr/>
            </a:pPr>
            <a:r>
              <a:rPr lang="en-US" sz="2200" b="1">
                <a:solidFill>
                  <a:srgbClr val="1B1D22"/>
                </a:solidFill>
                <a:latin typeface="DM Sans"/>
                <a:ea typeface="DM Sans"/>
                <a:cs typeface="DM Sans"/>
              </a:rPr>
              <a:t>No fit</a:t>
            </a:r>
            <a:endParaRPr lang="en-US" sz="2200"/>
          </a:p>
        </p:txBody>
      </p:sp>
      <p:sp>
        <p:nvSpPr>
          <p:cNvPr id="1802485386" name="Text 10"/>
          <p:cNvSpPr/>
          <p:nvPr/>
        </p:nvSpPr>
        <p:spPr bwMode="auto">
          <a:xfrm>
            <a:off x="8177206" y="3785690"/>
            <a:ext cx="2847264" cy="878780"/>
          </a:xfrm>
          <a:prstGeom prst="rect">
            <a:avLst/>
          </a:prstGeom>
          <a:noFill/>
          <a:ln/>
        </p:spPr>
        <p:txBody>
          <a:bodyPr wrap="square" lIns="0" tIns="0" rIns="0" bIns="0" rtlCol="0" anchor="t">
            <a:normAutofit/>
          </a:bodyPr>
          <a:lstStyle/>
          <a:p>
            <a:pPr marL="0" indent="0" algn="l">
              <a:lnSpc>
                <a:spcPts val="2240"/>
              </a:lnSpc>
              <a:buNone/>
              <a:defRPr/>
            </a:pPr>
            <a:r>
              <a:rPr lang="en-US" sz="1600">
                <a:solidFill>
                  <a:srgbClr val="4A4F59"/>
                </a:solidFill>
                <a:latin typeface="DM Sans"/>
                <a:ea typeface="DM Sans"/>
                <a:cs typeface="DM Sans"/>
              </a:rPr>
              <a:t>Ready-made holders are one fixed size and can’t be adapted to our desks.</a:t>
            </a:r>
            <a:endParaRPr lang="en-US" sz="1600"/>
          </a:p>
        </p:txBody>
      </p:sp>
      <p:sp>
        <p:nvSpPr>
          <p:cNvPr id="445639321" name="Text 11"/>
          <p:cNvSpPr/>
          <p:nvPr/>
        </p:nvSpPr>
        <p:spPr bwMode="auto">
          <a:xfrm>
            <a:off x="812800" y="6238280"/>
            <a:ext cx="654050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6F78"/>
                </a:solidFill>
                <a:latin typeface="DM Sans"/>
                <a:ea typeface="DM Sans"/>
                <a:cs typeface="DM Sans"/>
              </a:rPr>
              <a:t>Desk Caddy · PDR pitch</a:t>
            </a:r>
            <a:endParaRPr lang="en-US" sz="1200"/>
          </a:p>
        </p:txBody>
      </p:sp>
      <p:sp>
        <p:nvSpPr>
          <p:cNvPr id="1841922076" name="Text 12"/>
          <p:cNvSpPr/>
          <p:nvPr/>
        </p:nvSpPr>
        <p:spPr bwMode="auto">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B6F78"/>
                </a:solidFill>
                <a:latin typeface="DM Sans"/>
                <a:ea typeface="DM Sans"/>
                <a:cs typeface="DM Sans"/>
              </a:rPr>
              <a:t>2 / 12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16181D"/>
        </a:solidFill>
      </p:bgPr>
    </p:bg>
    <p:spTree>
      <p:nvGrpSpPr>
        <p:cNvPr id="1" name=""/>
        <p:cNvGrpSpPr/>
        <p:nvPr/>
      </p:nvGrpSpPr>
      <p:grpSpPr bwMode="auto">
        <a:xfrm>
          <a:off x="0" y="0"/>
          <a:ext cx="0" cy="0"/>
          <a:chOff x="0" y="0"/>
          <a:chExt cx="0" cy="0"/>
        </a:xfrm>
      </p:grpSpPr>
      <p:sp>
        <p:nvSpPr>
          <p:cNvPr id="1257321224" name="Text 0"/>
          <p:cNvSpPr/>
          <p:nvPr/>
        </p:nvSpPr>
        <p:spPr bwMode="auto">
          <a:xfrm>
            <a:off x="812800" y="812800"/>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b="1" spc="200">
                <a:solidFill>
                  <a:srgbClr val="FF7A1A"/>
                </a:solidFill>
                <a:latin typeface="DM Sans"/>
                <a:ea typeface="DM Sans"/>
                <a:cs typeface="DM Sans"/>
              </a:rPr>
              <a:t>02 · OUR IDEA</a:t>
            </a:r>
            <a:endParaRPr lang="en-US" sz="1400"/>
          </a:p>
        </p:txBody>
      </p:sp>
      <p:sp>
        <p:nvSpPr>
          <p:cNvPr id="1197334485" name="Text 1"/>
          <p:cNvSpPr/>
          <p:nvPr>
            <p:ph type="title"/>
          </p:nvPr>
        </p:nvSpPr>
        <p:spPr bwMode="auto">
          <a:xfrm>
            <a:off x="812800" y="1163241"/>
            <a:ext cx="10883392" cy="665460"/>
          </a:xfrm>
          <a:prstGeom prst="rect">
            <a:avLst/>
          </a:prstGeom>
          <a:noFill/>
          <a:ln/>
        </p:spPr>
        <p:txBody>
          <a:bodyPr wrap="square" lIns="0" tIns="0" rIns="0" bIns="0" rtlCol="0" anchor="t">
            <a:normAutofit/>
          </a:bodyPr>
          <a:lstStyle/>
          <a:p>
            <a:pPr marL="0" indent="0" algn="l">
              <a:lnSpc>
                <a:spcPts val="5040"/>
              </a:lnSpc>
              <a:buNone/>
              <a:defRPr/>
            </a:pPr>
            <a:r>
              <a:rPr lang="en-US" sz="4800" b="1" i="0">
                <a:solidFill>
                  <a:srgbClr val="F4F1EA"/>
                </a:solidFill>
                <a:latin typeface="Oswald"/>
                <a:ea typeface="Oswald"/>
                <a:cs typeface="Oswald"/>
              </a:rPr>
              <a:t>ONE CLAMP, FOUR JOBS</a:t>
            </a:r>
            <a:endParaRPr lang="en-US" sz="4800"/>
          </a:p>
        </p:txBody>
      </p:sp>
      <p:sp>
        <p:nvSpPr>
          <p:cNvPr id="1987871233" name="Shape 2"/>
          <p:cNvSpPr/>
          <p:nvPr/>
        </p:nvSpPr>
        <p:spPr bwMode="auto">
          <a:xfrm>
            <a:off x="812800" y="2085280"/>
            <a:ext cx="3175000" cy="1462980"/>
          </a:xfrm>
          <a:prstGeom prst="roundRect">
            <a:avLst>
              <a:gd name="adj" fmla="val 6945"/>
            </a:avLst>
          </a:prstGeom>
          <a:solidFill>
            <a:srgbClr val="23262E"/>
          </a:solidFill>
          <a:ln/>
        </p:spPr>
      </p:sp>
      <p:sp>
        <p:nvSpPr>
          <p:cNvPr id="371682936" name="Shape 3"/>
          <p:cNvSpPr/>
          <p:nvPr/>
        </p:nvSpPr>
        <p:spPr bwMode="auto">
          <a:xfrm>
            <a:off x="812800" y="2085280"/>
            <a:ext cx="3175000" cy="1462980"/>
          </a:xfrm>
          <a:custGeom>
            <a:avLst/>
            <a:gdLst/>
            <a:ahLst/>
            <a:cxnLst/>
            <a:rect l="l" t="t" r="r" b="b"/>
            <a:pathLst>
              <a:path w="3175000" h="1462980" fill="norm" stroke="1" extrusionOk="0">
                <a:moveTo>
                  <a:pt x="0" y="101600"/>
                </a:moveTo>
                <a:lnTo>
                  <a:pt x="0" y="101600"/>
                </a:lnTo>
                <a:arcTo wR="101600" hR="101600" stAng="10800000" swAng="5400000"/>
                <a:lnTo>
                  <a:pt x="3073400" y="0"/>
                </a:lnTo>
                <a:arcTo wR="101600" hR="101600" stAng="16200000" swAng="5400000"/>
                <a:lnTo>
                  <a:pt x="3175000" y="101600"/>
                </a:lnTo>
                <a:arcTo wR="101600" hR="63500" stAng="0" swAng="-5400000"/>
                <a:lnTo>
                  <a:pt x="101600" y="38100"/>
                </a:lnTo>
                <a:arcTo wR="101600" hR="63500" stAng="16200000" swAng="-5400000"/>
                <a:close/>
              </a:path>
            </a:pathLst>
          </a:custGeom>
          <a:solidFill>
            <a:srgbClr val="FF7A1A"/>
          </a:solidFill>
          <a:ln/>
        </p:spPr>
      </p:sp>
      <p:sp>
        <p:nvSpPr>
          <p:cNvPr id="2049118312" name="Text 4"/>
          <p:cNvSpPr/>
          <p:nvPr/>
        </p:nvSpPr>
        <p:spPr bwMode="auto">
          <a:xfrm>
            <a:off x="1016000" y="2326579"/>
            <a:ext cx="2851658" cy="381000"/>
          </a:xfrm>
          <a:prstGeom prst="rect">
            <a:avLst/>
          </a:prstGeom>
          <a:noFill/>
          <a:ln/>
        </p:spPr>
        <p:txBody>
          <a:bodyPr wrap="square" lIns="0" tIns="0" rIns="0" bIns="0" rtlCol="0" anchor="t">
            <a:normAutofit/>
          </a:bodyPr>
          <a:lstStyle/>
          <a:p>
            <a:pPr marL="0" indent="0" algn="l">
              <a:lnSpc>
                <a:spcPts val="2800"/>
              </a:lnSpc>
              <a:buNone/>
              <a:defRPr/>
            </a:pPr>
            <a:r>
              <a:rPr lang="en-US" sz="2800" b="1">
                <a:solidFill>
                  <a:srgbClr val="FF7A1A"/>
                </a:solidFill>
                <a:latin typeface="Oswald"/>
                <a:ea typeface="Oswald"/>
                <a:cs typeface="Oswald"/>
              </a:rPr>
              <a:t>01</a:t>
            </a:r>
            <a:endParaRPr lang="en-US" sz="2800"/>
          </a:p>
        </p:txBody>
      </p:sp>
      <p:sp>
        <p:nvSpPr>
          <p:cNvPr id="211080972" name="Text 5"/>
          <p:cNvSpPr/>
          <p:nvPr/>
        </p:nvSpPr>
        <p:spPr bwMode="auto">
          <a:xfrm>
            <a:off x="1016000" y="2745680"/>
            <a:ext cx="2851658" cy="330200"/>
          </a:xfrm>
          <a:prstGeom prst="rect">
            <a:avLst/>
          </a:prstGeom>
          <a:noFill/>
          <a:ln/>
        </p:spPr>
        <p:txBody>
          <a:bodyPr wrap="square" lIns="0" tIns="0" rIns="0" bIns="0" rtlCol="0" anchor="t">
            <a:normAutofit/>
          </a:bodyPr>
          <a:lstStyle/>
          <a:p>
            <a:pPr marL="0" indent="0" algn="l">
              <a:lnSpc>
                <a:spcPts val="2400"/>
              </a:lnSpc>
              <a:buNone/>
              <a:defRPr/>
            </a:pPr>
            <a:r>
              <a:rPr lang="en-US" sz="2000" b="1">
                <a:solidFill>
                  <a:srgbClr val="F4F1EA"/>
                </a:solidFill>
                <a:latin typeface="DM Sans"/>
                <a:ea typeface="DM Sans"/>
                <a:cs typeface="DM Sans"/>
              </a:rPr>
              <a:t>Pens</a:t>
            </a:r>
            <a:endParaRPr lang="en-US" sz="2000"/>
          </a:p>
        </p:txBody>
      </p:sp>
      <p:sp>
        <p:nvSpPr>
          <p:cNvPr id="1730129600" name="Text 6"/>
          <p:cNvSpPr/>
          <p:nvPr/>
        </p:nvSpPr>
        <p:spPr bwMode="auto">
          <a:xfrm>
            <a:off x="1016000" y="3113980"/>
            <a:ext cx="2851658" cy="256480"/>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C9CCD3"/>
                </a:solidFill>
                <a:latin typeface="DM Sans"/>
                <a:ea typeface="DM Sans"/>
                <a:cs typeface="DM Sans"/>
              </a:rPr>
              <a:t>Curved pen cup in the corner.</a:t>
            </a:r>
            <a:endParaRPr lang="en-US" sz="1300"/>
          </a:p>
        </p:txBody>
      </p:sp>
      <p:sp>
        <p:nvSpPr>
          <p:cNvPr id="1382005950" name="Shape 7"/>
          <p:cNvSpPr/>
          <p:nvPr/>
        </p:nvSpPr>
        <p:spPr bwMode="auto">
          <a:xfrm>
            <a:off x="4140200" y="2085280"/>
            <a:ext cx="3175000" cy="1462980"/>
          </a:xfrm>
          <a:prstGeom prst="roundRect">
            <a:avLst>
              <a:gd name="adj" fmla="val 6945"/>
            </a:avLst>
          </a:prstGeom>
          <a:solidFill>
            <a:srgbClr val="23262E"/>
          </a:solidFill>
          <a:ln/>
        </p:spPr>
      </p:sp>
      <p:sp>
        <p:nvSpPr>
          <p:cNvPr id="471645109" name="Shape 8"/>
          <p:cNvSpPr/>
          <p:nvPr/>
        </p:nvSpPr>
        <p:spPr bwMode="auto">
          <a:xfrm>
            <a:off x="4140200" y="2085280"/>
            <a:ext cx="3175000" cy="1462980"/>
          </a:xfrm>
          <a:custGeom>
            <a:avLst/>
            <a:gdLst/>
            <a:ahLst/>
            <a:cxnLst/>
            <a:rect l="l" t="t" r="r" b="b"/>
            <a:pathLst>
              <a:path w="3175000" h="1462980" fill="norm" stroke="1" extrusionOk="0">
                <a:moveTo>
                  <a:pt x="0" y="101600"/>
                </a:moveTo>
                <a:lnTo>
                  <a:pt x="0" y="101600"/>
                </a:lnTo>
                <a:arcTo wR="101600" hR="101600" stAng="10800000" swAng="5400000"/>
                <a:lnTo>
                  <a:pt x="3073400" y="0"/>
                </a:lnTo>
                <a:arcTo wR="101600" hR="101600" stAng="16200000" swAng="5400000"/>
                <a:lnTo>
                  <a:pt x="3175000" y="101600"/>
                </a:lnTo>
                <a:arcTo wR="101600" hR="63500" stAng="0" swAng="-5400000"/>
                <a:lnTo>
                  <a:pt x="101600" y="38100"/>
                </a:lnTo>
                <a:arcTo wR="101600" hR="63500" stAng="16200000" swAng="-5400000"/>
                <a:close/>
              </a:path>
            </a:pathLst>
          </a:custGeom>
          <a:solidFill>
            <a:srgbClr val="FF7A1A"/>
          </a:solidFill>
          <a:ln/>
        </p:spPr>
      </p:sp>
      <p:sp>
        <p:nvSpPr>
          <p:cNvPr id="1643068121" name="Text 9"/>
          <p:cNvSpPr/>
          <p:nvPr/>
        </p:nvSpPr>
        <p:spPr bwMode="auto">
          <a:xfrm>
            <a:off x="4343400" y="2326579"/>
            <a:ext cx="2851658" cy="381000"/>
          </a:xfrm>
          <a:prstGeom prst="rect">
            <a:avLst/>
          </a:prstGeom>
          <a:noFill/>
          <a:ln/>
        </p:spPr>
        <p:txBody>
          <a:bodyPr wrap="square" lIns="0" tIns="0" rIns="0" bIns="0" rtlCol="0" anchor="t">
            <a:normAutofit/>
          </a:bodyPr>
          <a:lstStyle/>
          <a:p>
            <a:pPr marL="0" indent="0" algn="l">
              <a:lnSpc>
                <a:spcPts val="2800"/>
              </a:lnSpc>
              <a:buNone/>
              <a:defRPr/>
            </a:pPr>
            <a:r>
              <a:rPr lang="en-US" sz="2800" b="1">
                <a:solidFill>
                  <a:srgbClr val="FF7A1A"/>
                </a:solidFill>
                <a:latin typeface="Oswald"/>
                <a:ea typeface="Oswald"/>
                <a:cs typeface="Oswald"/>
              </a:rPr>
              <a:t>02</a:t>
            </a:r>
            <a:endParaRPr lang="en-US" sz="2800"/>
          </a:p>
        </p:txBody>
      </p:sp>
      <p:sp>
        <p:nvSpPr>
          <p:cNvPr id="1914692929" name="Text 10"/>
          <p:cNvSpPr/>
          <p:nvPr/>
        </p:nvSpPr>
        <p:spPr bwMode="auto">
          <a:xfrm>
            <a:off x="4343400" y="2745680"/>
            <a:ext cx="2851658" cy="330200"/>
          </a:xfrm>
          <a:prstGeom prst="rect">
            <a:avLst/>
          </a:prstGeom>
          <a:noFill/>
          <a:ln/>
        </p:spPr>
        <p:txBody>
          <a:bodyPr wrap="square" lIns="0" tIns="0" rIns="0" bIns="0" rtlCol="0" anchor="t">
            <a:normAutofit/>
          </a:bodyPr>
          <a:lstStyle/>
          <a:p>
            <a:pPr marL="0" indent="0" algn="l">
              <a:lnSpc>
                <a:spcPts val="2400"/>
              </a:lnSpc>
              <a:buNone/>
              <a:defRPr/>
            </a:pPr>
            <a:r>
              <a:rPr lang="en-US" sz="2000" b="1">
                <a:solidFill>
                  <a:srgbClr val="F4F1EA"/>
                </a:solidFill>
                <a:latin typeface="DM Sans"/>
                <a:ea typeface="DM Sans"/>
                <a:cs typeface="DM Sans"/>
              </a:rPr>
              <a:t>Mug</a:t>
            </a:r>
            <a:endParaRPr lang="en-US" sz="2000"/>
          </a:p>
        </p:txBody>
      </p:sp>
      <p:sp>
        <p:nvSpPr>
          <p:cNvPr id="999765958" name="Text 11"/>
          <p:cNvSpPr/>
          <p:nvPr/>
        </p:nvSpPr>
        <p:spPr bwMode="auto">
          <a:xfrm>
            <a:off x="4343400" y="3113980"/>
            <a:ext cx="2851658" cy="256480"/>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C9CCD3"/>
                </a:solidFill>
                <a:latin typeface="DM Sans"/>
                <a:ea typeface="DM Sans"/>
                <a:cs typeface="DM Sans"/>
              </a:rPr>
              <a:t>Round pocket with a handle slot.</a:t>
            </a:r>
            <a:endParaRPr lang="en-US" sz="1300"/>
          </a:p>
        </p:txBody>
      </p:sp>
      <p:sp>
        <p:nvSpPr>
          <p:cNvPr id="2057554862" name="Shape 12"/>
          <p:cNvSpPr/>
          <p:nvPr/>
        </p:nvSpPr>
        <p:spPr bwMode="auto">
          <a:xfrm>
            <a:off x="812800" y="3700661"/>
            <a:ext cx="3175000" cy="1694061"/>
          </a:xfrm>
          <a:prstGeom prst="roundRect">
            <a:avLst>
              <a:gd name="adj" fmla="val 5997"/>
            </a:avLst>
          </a:prstGeom>
          <a:solidFill>
            <a:srgbClr val="23262E"/>
          </a:solidFill>
          <a:ln/>
        </p:spPr>
      </p:sp>
      <p:sp>
        <p:nvSpPr>
          <p:cNvPr id="463911913" name="Shape 13"/>
          <p:cNvSpPr/>
          <p:nvPr/>
        </p:nvSpPr>
        <p:spPr bwMode="auto">
          <a:xfrm>
            <a:off x="812800" y="3700661"/>
            <a:ext cx="3175000" cy="1694061"/>
          </a:xfrm>
          <a:custGeom>
            <a:avLst/>
            <a:gdLst/>
            <a:ahLst/>
            <a:cxnLst/>
            <a:rect l="l" t="t" r="r" b="b"/>
            <a:pathLst>
              <a:path w="3175000" h="1694061" fill="norm" stroke="1" extrusionOk="0">
                <a:moveTo>
                  <a:pt x="0" y="101600"/>
                </a:moveTo>
                <a:lnTo>
                  <a:pt x="0" y="101600"/>
                </a:lnTo>
                <a:arcTo wR="101600" hR="101600" stAng="10800000" swAng="5400000"/>
                <a:lnTo>
                  <a:pt x="3073400" y="0"/>
                </a:lnTo>
                <a:arcTo wR="101600" hR="101600" stAng="16200000" swAng="5400000"/>
                <a:lnTo>
                  <a:pt x="3175000" y="101600"/>
                </a:lnTo>
                <a:arcTo wR="101600" hR="63500" stAng="0" swAng="-5400000"/>
                <a:lnTo>
                  <a:pt x="101600" y="38100"/>
                </a:lnTo>
                <a:arcTo wR="101600" hR="63500" stAng="16200000" swAng="-5400000"/>
                <a:close/>
              </a:path>
            </a:pathLst>
          </a:custGeom>
          <a:solidFill>
            <a:srgbClr val="FF7A1A"/>
          </a:solidFill>
          <a:ln/>
        </p:spPr>
      </p:sp>
      <p:sp>
        <p:nvSpPr>
          <p:cNvPr id="1869308143" name="Text 14"/>
          <p:cNvSpPr/>
          <p:nvPr/>
        </p:nvSpPr>
        <p:spPr bwMode="auto">
          <a:xfrm>
            <a:off x="1016000" y="3941961"/>
            <a:ext cx="2851658" cy="381000"/>
          </a:xfrm>
          <a:prstGeom prst="rect">
            <a:avLst/>
          </a:prstGeom>
          <a:noFill/>
          <a:ln/>
        </p:spPr>
        <p:txBody>
          <a:bodyPr wrap="square" lIns="0" tIns="0" rIns="0" bIns="0" rtlCol="0" anchor="t">
            <a:normAutofit/>
          </a:bodyPr>
          <a:lstStyle/>
          <a:p>
            <a:pPr marL="0" indent="0" algn="l">
              <a:lnSpc>
                <a:spcPts val="2800"/>
              </a:lnSpc>
              <a:buNone/>
              <a:defRPr/>
            </a:pPr>
            <a:r>
              <a:rPr lang="en-US" sz="2800" b="1">
                <a:solidFill>
                  <a:srgbClr val="FF7A1A"/>
                </a:solidFill>
                <a:latin typeface="Oswald"/>
                <a:ea typeface="Oswald"/>
                <a:cs typeface="Oswald"/>
              </a:rPr>
              <a:t>03</a:t>
            </a:r>
            <a:endParaRPr lang="en-US" sz="2800"/>
          </a:p>
        </p:txBody>
      </p:sp>
      <p:sp>
        <p:nvSpPr>
          <p:cNvPr id="713939367" name="Text 15"/>
          <p:cNvSpPr/>
          <p:nvPr/>
        </p:nvSpPr>
        <p:spPr bwMode="auto">
          <a:xfrm>
            <a:off x="1016000" y="4361061"/>
            <a:ext cx="2851658" cy="330200"/>
          </a:xfrm>
          <a:prstGeom prst="rect">
            <a:avLst/>
          </a:prstGeom>
          <a:noFill/>
          <a:ln/>
        </p:spPr>
        <p:txBody>
          <a:bodyPr wrap="square" lIns="0" tIns="0" rIns="0" bIns="0" rtlCol="0" anchor="t">
            <a:normAutofit/>
          </a:bodyPr>
          <a:lstStyle/>
          <a:p>
            <a:pPr marL="0" indent="0" algn="l">
              <a:lnSpc>
                <a:spcPts val="2400"/>
              </a:lnSpc>
              <a:buNone/>
              <a:defRPr/>
            </a:pPr>
            <a:r>
              <a:rPr lang="en-US" sz="2000" b="1">
                <a:solidFill>
                  <a:srgbClr val="F4F1EA"/>
                </a:solidFill>
                <a:latin typeface="DM Sans"/>
                <a:ea typeface="DM Sans"/>
                <a:cs typeface="DM Sans"/>
              </a:rPr>
              <a:t>Phone</a:t>
            </a:r>
            <a:endParaRPr lang="en-US" sz="2000"/>
          </a:p>
        </p:txBody>
      </p:sp>
      <p:sp>
        <p:nvSpPr>
          <p:cNvPr id="1003062603" name="Text 16"/>
          <p:cNvSpPr/>
          <p:nvPr/>
        </p:nvSpPr>
        <p:spPr bwMode="auto">
          <a:xfrm>
            <a:off x="1016000" y="4729361"/>
            <a:ext cx="2851658" cy="256480"/>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C9CCD3"/>
                </a:solidFill>
                <a:latin typeface="DM Sans"/>
                <a:ea typeface="DM Sans"/>
                <a:cs typeface="DM Sans"/>
              </a:rPr>
              <a:t>Upright slot you can see.</a:t>
            </a:r>
            <a:endParaRPr lang="en-US" sz="1300"/>
          </a:p>
        </p:txBody>
      </p:sp>
      <p:sp>
        <p:nvSpPr>
          <p:cNvPr id="747678371" name="Shape 17"/>
          <p:cNvSpPr/>
          <p:nvPr/>
        </p:nvSpPr>
        <p:spPr bwMode="auto">
          <a:xfrm>
            <a:off x="4140200" y="3700661"/>
            <a:ext cx="3175000" cy="1694061"/>
          </a:xfrm>
          <a:prstGeom prst="roundRect">
            <a:avLst>
              <a:gd name="adj" fmla="val 5997"/>
            </a:avLst>
          </a:prstGeom>
          <a:solidFill>
            <a:srgbClr val="23262E"/>
          </a:solidFill>
          <a:ln/>
        </p:spPr>
      </p:sp>
      <p:sp>
        <p:nvSpPr>
          <p:cNvPr id="764557529" name="Shape 18"/>
          <p:cNvSpPr/>
          <p:nvPr/>
        </p:nvSpPr>
        <p:spPr bwMode="auto">
          <a:xfrm>
            <a:off x="4140200" y="3700661"/>
            <a:ext cx="3175000" cy="1694061"/>
          </a:xfrm>
          <a:custGeom>
            <a:avLst/>
            <a:gdLst/>
            <a:ahLst/>
            <a:cxnLst/>
            <a:rect l="l" t="t" r="r" b="b"/>
            <a:pathLst>
              <a:path w="3175000" h="1694061" fill="norm" stroke="1" extrusionOk="0">
                <a:moveTo>
                  <a:pt x="0" y="101600"/>
                </a:moveTo>
                <a:lnTo>
                  <a:pt x="0" y="101600"/>
                </a:lnTo>
                <a:arcTo wR="101600" hR="101600" stAng="10800000" swAng="5400000"/>
                <a:lnTo>
                  <a:pt x="3073400" y="0"/>
                </a:lnTo>
                <a:arcTo wR="101600" hR="101600" stAng="16200000" swAng="5400000"/>
                <a:lnTo>
                  <a:pt x="3175000" y="101600"/>
                </a:lnTo>
                <a:arcTo wR="101600" hR="63500" stAng="0" swAng="-5400000"/>
                <a:lnTo>
                  <a:pt x="101600" y="38100"/>
                </a:lnTo>
                <a:arcTo wR="101600" hR="63500" stAng="16200000" swAng="-5400000"/>
                <a:close/>
              </a:path>
            </a:pathLst>
          </a:custGeom>
          <a:solidFill>
            <a:srgbClr val="FF7A1A"/>
          </a:solidFill>
          <a:ln/>
        </p:spPr>
      </p:sp>
      <p:sp>
        <p:nvSpPr>
          <p:cNvPr id="1017725146" name="Text 19"/>
          <p:cNvSpPr/>
          <p:nvPr/>
        </p:nvSpPr>
        <p:spPr bwMode="auto">
          <a:xfrm>
            <a:off x="4343400" y="3941961"/>
            <a:ext cx="2851658" cy="381000"/>
          </a:xfrm>
          <a:prstGeom prst="rect">
            <a:avLst/>
          </a:prstGeom>
          <a:noFill/>
          <a:ln/>
        </p:spPr>
        <p:txBody>
          <a:bodyPr wrap="square" lIns="0" tIns="0" rIns="0" bIns="0" rtlCol="0" anchor="t">
            <a:normAutofit/>
          </a:bodyPr>
          <a:lstStyle/>
          <a:p>
            <a:pPr marL="0" indent="0" algn="l">
              <a:lnSpc>
                <a:spcPts val="2800"/>
              </a:lnSpc>
              <a:buNone/>
              <a:defRPr/>
            </a:pPr>
            <a:r>
              <a:rPr lang="en-US" sz="2800" b="1">
                <a:solidFill>
                  <a:srgbClr val="FF7A1A"/>
                </a:solidFill>
                <a:latin typeface="Oswald"/>
                <a:ea typeface="Oswald"/>
                <a:cs typeface="Oswald"/>
              </a:rPr>
              <a:t>04</a:t>
            </a:r>
            <a:endParaRPr lang="en-US" sz="2800"/>
          </a:p>
        </p:txBody>
      </p:sp>
      <p:sp>
        <p:nvSpPr>
          <p:cNvPr id="1087954697" name="Text 20"/>
          <p:cNvSpPr/>
          <p:nvPr/>
        </p:nvSpPr>
        <p:spPr bwMode="auto">
          <a:xfrm>
            <a:off x="4343400" y="4361061"/>
            <a:ext cx="2851658" cy="330200"/>
          </a:xfrm>
          <a:prstGeom prst="rect">
            <a:avLst/>
          </a:prstGeom>
          <a:noFill/>
          <a:ln/>
        </p:spPr>
        <p:txBody>
          <a:bodyPr wrap="square" lIns="0" tIns="0" rIns="0" bIns="0" rtlCol="0" anchor="t">
            <a:normAutofit/>
          </a:bodyPr>
          <a:lstStyle/>
          <a:p>
            <a:pPr marL="0" indent="0" algn="l">
              <a:lnSpc>
                <a:spcPts val="2400"/>
              </a:lnSpc>
              <a:buNone/>
              <a:defRPr/>
            </a:pPr>
            <a:r>
              <a:rPr lang="en-US" sz="2000" b="1">
                <a:solidFill>
                  <a:srgbClr val="F4F1EA"/>
                </a:solidFill>
                <a:latin typeface="DM Sans"/>
                <a:ea typeface="DM Sans"/>
                <a:cs typeface="DM Sans"/>
              </a:rPr>
              <a:t>Headset</a:t>
            </a:r>
            <a:endParaRPr lang="en-US" sz="2000"/>
          </a:p>
        </p:txBody>
      </p:sp>
      <p:sp>
        <p:nvSpPr>
          <p:cNvPr id="1055884465" name="Text 21"/>
          <p:cNvSpPr/>
          <p:nvPr/>
        </p:nvSpPr>
        <p:spPr bwMode="auto">
          <a:xfrm>
            <a:off x="4343400" y="4729361"/>
            <a:ext cx="2851658" cy="48756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C9CCD3"/>
                </a:solidFill>
                <a:latin typeface="DM Sans"/>
                <a:ea typeface="DM Sans"/>
                <a:cs typeface="DM Sans"/>
              </a:rPr>
              <a:t>Hook under the box, plus cable clips.</a:t>
            </a:r>
            <a:endParaRPr lang="en-US" sz="1300"/>
          </a:p>
        </p:txBody>
      </p:sp>
      <p:pic>
        <p:nvPicPr>
          <p:cNvPr id="880818789" name="Image 0" descr="Front view sketch of the caddy: pencils, a mug and a phone in a blue box, with a headphone hook hanging below holding headphones"/>
          <p:cNvPicPr>
            <a:picLocks noChangeAspect="1"/>
          </p:cNvPicPr>
          <p:nvPr/>
        </p:nvPicPr>
        <p:blipFill rotWithShape="1">
          <a:blip r:embed="rId3"/>
          <a:srcRect l="0" t="0" r="0" b="0"/>
          <a:stretch/>
        </p:blipFill>
        <p:spPr bwMode="auto">
          <a:xfrm>
            <a:off x="7569200" y="2057301"/>
            <a:ext cx="3810000" cy="3365500"/>
          </a:xfrm>
          <a:prstGeom prst="rect">
            <a:avLst/>
          </a:prstGeom>
        </p:spPr>
      </p:pic>
      <p:sp>
        <p:nvSpPr>
          <p:cNvPr id="603594473" name="Text 22"/>
          <p:cNvSpPr/>
          <p:nvPr/>
        </p:nvSpPr>
        <p:spPr bwMode="auto">
          <a:xfrm>
            <a:off x="812800" y="6238280"/>
            <a:ext cx="850265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8F94A0"/>
                </a:solidFill>
                <a:latin typeface="DM Sans"/>
                <a:ea typeface="DM Sans"/>
                <a:cs typeface="DM Sans"/>
              </a:rPr>
              <a:t>Concept sketch · inspired by commercial 4-in-1 desk holders · our own design</a:t>
            </a:r>
            <a:endParaRPr lang="en-US" sz="1200"/>
          </a:p>
        </p:txBody>
      </p:sp>
      <p:sp>
        <p:nvSpPr>
          <p:cNvPr id="1772975997" name="Text 23"/>
          <p:cNvSpPr/>
          <p:nvPr/>
        </p:nvSpPr>
        <p:spPr bwMode="auto">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8F94A0"/>
                </a:solidFill>
                <a:latin typeface="DM Sans"/>
                <a:ea typeface="DM Sans"/>
                <a:cs typeface="DM Sans"/>
              </a:rPr>
              <a:t>3 / 12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4F1EA"/>
        </a:solidFill>
      </p:bgPr>
    </p:bg>
    <p:spTree>
      <p:nvGrpSpPr>
        <p:cNvPr id="1" name=""/>
        <p:cNvGrpSpPr/>
        <p:nvPr/>
      </p:nvGrpSpPr>
      <p:grpSpPr bwMode="auto">
        <a:xfrm>
          <a:off x="0" y="0"/>
          <a:ext cx="0" cy="0"/>
          <a:chOff x="0" y="0"/>
          <a:chExt cx="0" cy="0"/>
        </a:xfrm>
      </p:grpSpPr>
      <p:sp>
        <p:nvSpPr>
          <p:cNvPr id="1668285463" name="Text 0"/>
          <p:cNvSpPr/>
          <p:nvPr/>
        </p:nvSpPr>
        <p:spPr bwMode="auto">
          <a:xfrm>
            <a:off x="812800" y="812800"/>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b="1" spc="200">
                <a:solidFill>
                  <a:srgbClr val="C2410C"/>
                </a:solidFill>
                <a:latin typeface="DM Sans"/>
                <a:ea typeface="DM Sans"/>
                <a:cs typeface="DM Sans"/>
              </a:rPr>
              <a:t>03 · WHY 3D PRINT IT</a:t>
            </a:r>
            <a:endParaRPr lang="en-US" sz="1400"/>
          </a:p>
        </p:txBody>
      </p:sp>
      <p:sp>
        <p:nvSpPr>
          <p:cNvPr id="889788661" name="Text 1"/>
          <p:cNvSpPr/>
          <p:nvPr>
            <p:ph type="title"/>
          </p:nvPr>
        </p:nvSpPr>
        <p:spPr bwMode="auto">
          <a:xfrm>
            <a:off x="812800" y="1163241"/>
            <a:ext cx="11379200" cy="665460"/>
          </a:xfrm>
          <a:prstGeom prst="rect">
            <a:avLst/>
          </a:prstGeom>
          <a:noFill/>
          <a:ln/>
        </p:spPr>
        <p:txBody>
          <a:bodyPr wrap="square" lIns="0" tIns="0" rIns="0" bIns="0" rtlCol="0" anchor="t">
            <a:normAutofit/>
          </a:bodyPr>
          <a:lstStyle/>
          <a:p>
            <a:pPr marL="0" indent="0" algn="l">
              <a:lnSpc>
                <a:spcPts val="5040"/>
              </a:lnSpc>
              <a:buNone/>
              <a:defRPr/>
            </a:pPr>
            <a:r>
              <a:rPr lang="en-US" sz="4800" b="1" i="0">
                <a:solidFill>
                  <a:srgbClr val="1B1D22"/>
                </a:solidFill>
                <a:latin typeface="Oswald"/>
                <a:ea typeface="Oswald"/>
                <a:cs typeface="Oswald"/>
              </a:rPr>
              <a:t>PLASTIC, SIMPLE SHAPES, NO ELECTRONICS</a:t>
            </a:r>
            <a:endParaRPr lang="en-US" sz="4800"/>
          </a:p>
        </p:txBody>
      </p:sp>
      <p:sp>
        <p:nvSpPr>
          <p:cNvPr id="64898966" name="Shape 2"/>
          <p:cNvSpPr/>
          <p:nvPr/>
        </p:nvSpPr>
        <p:spPr bwMode="auto">
          <a:xfrm>
            <a:off x="786447" y="2967235"/>
            <a:ext cx="2482850" cy="2406452"/>
          </a:xfrm>
          <a:prstGeom prst="roundRect">
            <a:avLst>
              <a:gd name="adj" fmla="val 4090"/>
            </a:avLst>
          </a:prstGeom>
          <a:solidFill>
            <a:srgbClr val="FFFFFF"/>
          </a:solidFill>
          <a:ln w="6350">
            <a:solidFill>
              <a:srgbClr val="DAD5C8"/>
            </a:solidFill>
            <a:prstDash val="solid"/>
          </a:ln>
        </p:spPr>
      </p:sp>
      <p:sp>
        <p:nvSpPr>
          <p:cNvPr id="625599831" name="Text 3"/>
          <p:cNvSpPr/>
          <p:nvPr/>
        </p:nvSpPr>
        <p:spPr bwMode="auto">
          <a:xfrm>
            <a:off x="1043622" y="3224410"/>
            <a:ext cx="2027555" cy="787400"/>
          </a:xfrm>
          <a:prstGeom prst="rect">
            <a:avLst/>
          </a:prstGeom>
          <a:noFill/>
          <a:ln/>
        </p:spPr>
        <p:txBody>
          <a:bodyPr wrap="square" lIns="0" tIns="0" rIns="0" bIns="0" rtlCol="0" anchor="t">
            <a:normAutofit/>
          </a:bodyPr>
          <a:lstStyle/>
          <a:p>
            <a:pPr marL="0" indent="0" algn="l">
              <a:lnSpc>
                <a:spcPts val="6000"/>
              </a:lnSpc>
              <a:buNone/>
              <a:defRPr/>
            </a:pPr>
            <a:r>
              <a:rPr lang="en-US" sz="6000" b="1">
                <a:solidFill>
                  <a:srgbClr val="C2410C"/>
                </a:solidFill>
                <a:latin typeface="Oswald"/>
                <a:ea typeface="Oswald"/>
                <a:cs typeface="Oswald"/>
              </a:rPr>
              <a:t>3</a:t>
            </a:r>
            <a:endParaRPr lang="en-US" sz="6000"/>
          </a:p>
        </p:txBody>
      </p:sp>
      <p:sp>
        <p:nvSpPr>
          <p:cNvPr id="157612643" name="Text 4"/>
          <p:cNvSpPr/>
          <p:nvPr/>
        </p:nvSpPr>
        <p:spPr bwMode="auto">
          <a:xfrm>
            <a:off x="1043622" y="4062610"/>
            <a:ext cx="2027555" cy="309860"/>
          </a:xfrm>
          <a:prstGeom prst="rect">
            <a:avLst/>
          </a:prstGeom>
          <a:noFill/>
          <a:ln/>
        </p:spPr>
        <p:txBody>
          <a:bodyPr wrap="square" lIns="0" tIns="0" rIns="0" bIns="0" rtlCol="0" anchor="t">
            <a:normAutofit/>
          </a:bodyPr>
          <a:lstStyle/>
          <a:p>
            <a:pPr marL="0" indent="0" algn="l">
              <a:lnSpc>
                <a:spcPts val="2240"/>
              </a:lnSpc>
              <a:buNone/>
              <a:defRPr/>
            </a:pPr>
            <a:r>
              <a:rPr lang="en-US" sz="1600" b="1">
                <a:solidFill>
                  <a:srgbClr val="1B1D22"/>
                </a:solidFill>
                <a:latin typeface="DM Sans"/>
                <a:ea typeface="DM Sans"/>
                <a:cs typeface="DM Sans"/>
              </a:rPr>
              <a:t>printed parts</a:t>
            </a:r>
            <a:endParaRPr lang="en-US" sz="1600"/>
          </a:p>
        </p:txBody>
      </p:sp>
      <p:sp>
        <p:nvSpPr>
          <p:cNvPr id="81057846" name="Text 5"/>
          <p:cNvSpPr/>
          <p:nvPr/>
        </p:nvSpPr>
        <p:spPr bwMode="auto">
          <a:xfrm>
            <a:off x="1043622" y="4423270"/>
            <a:ext cx="2027555" cy="48756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4A4F59"/>
                </a:solidFill>
                <a:latin typeface="DM Sans"/>
                <a:ea typeface="DM Sans"/>
                <a:cs typeface="DM Sans"/>
              </a:rPr>
              <a:t>Clamp, caddy box and headphone hook.</a:t>
            </a:r>
            <a:endParaRPr lang="en-US" sz="1300"/>
          </a:p>
        </p:txBody>
      </p:sp>
      <p:sp>
        <p:nvSpPr>
          <p:cNvPr id="1387431310" name="Shape 6"/>
          <p:cNvSpPr/>
          <p:nvPr/>
        </p:nvSpPr>
        <p:spPr bwMode="auto">
          <a:xfrm>
            <a:off x="3478847" y="2967235"/>
            <a:ext cx="2482850" cy="2406452"/>
          </a:xfrm>
          <a:prstGeom prst="roundRect">
            <a:avLst>
              <a:gd name="adj" fmla="val 4090"/>
            </a:avLst>
          </a:prstGeom>
          <a:solidFill>
            <a:srgbClr val="FFFFFF"/>
          </a:solidFill>
          <a:ln w="6350">
            <a:solidFill>
              <a:srgbClr val="DAD5C8"/>
            </a:solidFill>
            <a:prstDash val="solid"/>
          </a:ln>
        </p:spPr>
      </p:sp>
      <p:sp>
        <p:nvSpPr>
          <p:cNvPr id="1617469698" name="Text 7"/>
          <p:cNvSpPr/>
          <p:nvPr/>
        </p:nvSpPr>
        <p:spPr bwMode="auto">
          <a:xfrm>
            <a:off x="3736022" y="3224410"/>
            <a:ext cx="2027555" cy="787400"/>
          </a:xfrm>
          <a:prstGeom prst="rect">
            <a:avLst/>
          </a:prstGeom>
          <a:noFill/>
          <a:ln/>
        </p:spPr>
        <p:txBody>
          <a:bodyPr wrap="square" lIns="0" tIns="0" rIns="0" bIns="0" rtlCol="0" anchor="t">
            <a:normAutofit/>
          </a:bodyPr>
          <a:lstStyle/>
          <a:p>
            <a:pPr marL="0" indent="0" algn="l">
              <a:lnSpc>
                <a:spcPts val="6000"/>
              </a:lnSpc>
              <a:buNone/>
              <a:defRPr/>
            </a:pPr>
            <a:r>
              <a:rPr lang="en-US" sz="6000" b="1">
                <a:solidFill>
                  <a:srgbClr val="C2410C"/>
                </a:solidFill>
                <a:latin typeface="Oswald"/>
                <a:ea typeface="Oswald"/>
                <a:cs typeface="Oswald"/>
              </a:rPr>
              <a:t>0</a:t>
            </a:r>
            <a:endParaRPr lang="en-US" sz="6000"/>
          </a:p>
        </p:txBody>
      </p:sp>
      <p:sp>
        <p:nvSpPr>
          <p:cNvPr id="1038488178" name="Text 8"/>
          <p:cNvSpPr/>
          <p:nvPr/>
        </p:nvSpPr>
        <p:spPr bwMode="auto">
          <a:xfrm>
            <a:off x="3736022" y="4062610"/>
            <a:ext cx="2027555" cy="309860"/>
          </a:xfrm>
          <a:prstGeom prst="rect">
            <a:avLst/>
          </a:prstGeom>
          <a:noFill/>
          <a:ln/>
        </p:spPr>
        <p:txBody>
          <a:bodyPr wrap="square" lIns="0" tIns="0" rIns="0" bIns="0" rtlCol="0" anchor="t">
            <a:normAutofit/>
          </a:bodyPr>
          <a:lstStyle/>
          <a:p>
            <a:pPr marL="0" indent="0" algn="l">
              <a:lnSpc>
                <a:spcPts val="2240"/>
              </a:lnSpc>
              <a:buNone/>
              <a:defRPr/>
            </a:pPr>
            <a:r>
              <a:rPr lang="en-US" sz="1600" b="1">
                <a:solidFill>
                  <a:srgbClr val="1B1D22"/>
                </a:solidFill>
                <a:latin typeface="DM Sans"/>
                <a:ea typeface="DM Sans"/>
                <a:cs typeface="DM Sans"/>
              </a:rPr>
              <a:t>supports needed</a:t>
            </a:r>
            <a:endParaRPr lang="en-US" sz="1600"/>
          </a:p>
        </p:txBody>
      </p:sp>
      <p:sp>
        <p:nvSpPr>
          <p:cNvPr id="880220889" name="Text 9"/>
          <p:cNvSpPr/>
          <p:nvPr/>
        </p:nvSpPr>
        <p:spPr bwMode="auto">
          <a:xfrm>
            <a:off x="3736022" y="4423270"/>
            <a:ext cx="2027555" cy="48756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4A4F59"/>
                </a:solidFill>
                <a:latin typeface="DM Sans"/>
                <a:ea typeface="DM Sans"/>
                <a:cs typeface="DM Sans"/>
              </a:rPr>
              <a:t>Each part is oriented to print without them.</a:t>
            </a:r>
            <a:endParaRPr lang="en-US" sz="1300"/>
          </a:p>
        </p:txBody>
      </p:sp>
      <p:sp>
        <p:nvSpPr>
          <p:cNvPr id="1463707942" name="Shape 10"/>
          <p:cNvSpPr/>
          <p:nvPr/>
        </p:nvSpPr>
        <p:spPr bwMode="auto">
          <a:xfrm>
            <a:off x="6171247" y="2967235"/>
            <a:ext cx="2482850" cy="2406452"/>
          </a:xfrm>
          <a:prstGeom prst="roundRect">
            <a:avLst>
              <a:gd name="adj" fmla="val 4090"/>
            </a:avLst>
          </a:prstGeom>
          <a:solidFill>
            <a:srgbClr val="FFFFFF"/>
          </a:solidFill>
          <a:ln w="6350">
            <a:solidFill>
              <a:srgbClr val="DAD5C8"/>
            </a:solidFill>
            <a:prstDash val="solid"/>
          </a:ln>
        </p:spPr>
      </p:sp>
      <p:sp>
        <p:nvSpPr>
          <p:cNvPr id="735680730" name="Text 11"/>
          <p:cNvSpPr/>
          <p:nvPr/>
        </p:nvSpPr>
        <p:spPr bwMode="auto">
          <a:xfrm>
            <a:off x="6428422" y="3224410"/>
            <a:ext cx="2027555" cy="787400"/>
          </a:xfrm>
          <a:prstGeom prst="rect">
            <a:avLst/>
          </a:prstGeom>
          <a:noFill/>
          <a:ln/>
        </p:spPr>
        <p:txBody>
          <a:bodyPr wrap="square" lIns="0" tIns="0" rIns="0" bIns="0" rtlCol="0" anchor="t">
            <a:normAutofit/>
          </a:bodyPr>
          <a:lstStyle/>
          <a:p>
            <a:pPr marL="0" indent="0" algn="l">
              <a:lnSpc>
                <a:spcPts val="6000"/>
              </a:lnSpc>
              <a:buNone/>
              <a:defRPr/>
            </a:pPr>
            <a:r>
              <a:rPr lang="en-US" sz="6000" b="1">
                <a:solidFill>
                  <a:srgbClr val="C2410C"/>
                </a:solidFill>
                <a:latin typeface="Oswald"/>
                <a:ea typeface="Oswald"/>
                <a:cs typeface="Oswald"/>
              </a:rPr>
              <a:t>195</a:t>
            </a:r>
            <a:endParaRPr lang="en-US" sz="6000"/>
          </a:p>
        </p:txBody>
      </p:sp>
      <p:sp>
        <p:nvSpPr>
          <p:cNvPr id="224075240" name="Text 12"/>
          <p:cNvSpPr/>
          <p:nvPr/>
        </p:nvSpPr>
        <p:spPr bwMode="auto">
          <a:xfrm>
            <a:off x="6428422" y="4062610"/>
            <a:ext cx="2027555" cy="309860"/>
          </a:xfrm>
          <a:prstGeom prst="rect">
            <a:avLst/>
          </a:prstGeom>
          <a:noFill/>
          <a:ln/>
        </p:spPr>
        <p:txBody>
          <a:bodyPr wrap="square" lIns="0" tIns="0" rIns="0" bIns="0" rtlCol="0" anchor="t">
            <a:normAutofit/>
          </a:bodyPr>
          <a:lstStyle/>
          <a:p>
            <a:pPr marL="0" indent="0" algn="l">
              <a:lnSpc>
                <a:spcPts val="2240"/>
              </a:lnSpc>
              <a:buNone/>
              <a:defRPr/>
            </a:pPr>
            <a:r>
              <a:rPr lang="en-US" sz="1600" b="1">
                <a:solidFill>
                  <a:srgbClr val="1B1D22"/>
                </a:solidFill>
                <a:latin typeface="DM Sans"/>
                <a:ea typeface="DM Sans"/>
                <a:cs typeface="DM Sans"/>
              </a:rPr>
              <a:t>mm longest side</a:t>
            </a:r>
            <a:endParaRPr lang="en-US" sz="1600"/>
          </a:p>
        </p:txBody>
      </p:sp>
      <p:sp>
        <p:nvSpPr>
          <p:cNvPr id="794236922" name="Text 13"/>
          <p:cNvSpPr/>
          <p:nvPr/>
        </p:nvSpPr>
        <p:spPr bwMode="auto">
          <a:xfrm>
            <a:off x="6428422" y="4423270"/>
            <a:ext cx="2027555" cy="48756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4A4F59"/>
                </a:solidFill>
                <a:latin typeface="DM Sans"/>
                <a:ea typeface="DM Sans"/>
                <a:cs typeface="DM Sans"/>
              </a:rPr>
              <a:t>Fits a 220 × 220 mm print bed.</a:t>
            </a:r>
            <a:endParaRPr lang="en-US" sz="1300"/>
          </a:p>
        </p:txBody>
      </p:sp>
      <p:sp>
        <p:nvSpPr>
          <p:cNvPr id="1854988988" name="Shape 14"/>
          <p:cNvSpPr/>
          <p:nvPr/>
        </p:nvSpPr>
        <p:spPr bwMode="auto">
          <a:xfrm>
            <a:off x="8863647" y="2967235"/>
            <a:ext cx="2482850" cy="2406452"/>
          </a:xfrm>
          <a:prstGeom prst="roundRect">
            <a:avLst>
              <a:gd name="adj" fmla="val 4090"/>
            </a:avLst>
          </a:prstGeom>
          <a:solidFill>
            <a:srgbClr val="FFFFFF"/>
          </a:solidFill>
          <a:ln w="6350">
            <a:solidFill>
              <a:srgbClr val="DAD5C8"/>
            </a:solidFill>
            <a:prstDash val="solid"/>
          </a:ln>
        </p:spPr>
      </p:sp>
      <p:sp>
        <p:nvSpPr>
          <p:cNvPr id="1634213933" name="Text 15"/>
          <p:cNvSpPr/>
          <p:nvPr/>
        </p:nvSpPr>
        <p:spPr bwMode="auto">
          <a:xfrm>
            <a:off x="9120822" y="3224410"/>
            <a:ext cx="2027555" cy="787400"/>
          </a:xfrm>
          <a:prstGeom prst="rect">
            <a:avLst/>
          </a:prstGeom>
          <a:noFill/>
          <a:ln/>
        </p:spPr>
        <p:txBody>
          <a:bodyPr wrap="square" lIns="0" tIns="0" rIns="0" bIns="0" rtlCol="0" anchor="t">
            <a:normAutofit/>
          </a:bodyPr>
          <a:lstStyle/>
          <a:p>
            <a:pPr marL="0" indent="0" algn="l">
              <a:lnSpc>
                <a:spcPts val="6000"/>
              </a:lnSpc>
              <a:buNone/>
              <a:defRPr/>
            </a:pPr>
            <a:r>
              <a:rPr lang="en-US" sz="6000" b="1">
                <a:solidFill>
                  <a:srgbClr val="C2410C"/>
                </a:solidFill>
                <a:latin typeface="Oswald"/>
                <a:ea typeface="Oswald"/>
                <a:cs typeface="Oswald"/>
              </a:rPr>
              <a:t>1</a:t>
            </a:r>
            <a:endParaRPr lang="en-US" sz="6000"/>
          </a:p>
        </p:txBody>
      </p:sp>
      <p:sp>
        <p:nvSpPr>
          <p:cNvPr id="2118504057" name="Text 16"/>
          <p:cNvSpPr/>
          <p:nvPr/>
        </p:nvSpPr>
        <p:spPr bwMode="auto">
          <a:xfrm>
            <a:off x="9120822" y="4062610"/>
            <a:ext cx="2027555" cy="309860"/>
          </a:xfrm>
          <a:prstGeom prst="rect">
            <a:avLst/>
          </a:prstGeom>
          <a:noFill/>
          <a:ln/>
        </p:spPr>
        <p:txBody>
          <a:bodyPr wrap="square" lIns="0" tIns="0" rIns="0" bIns="0" rtlCol="0" anchor="t">
            <a:normAutofit/>
          </a:bodyPr>
          <a:lstStyle/>
          <a:p>
            <a:pPr marL="0" indent="0" algn="l">
              <a:lnSpc>
                <a:spcPts val="2240"/>
              </a:lnSpc>
              <a:buNone/>
              <a:defRPr/>
            </a:pPr>
            <a:r>
              <a:rPr lang="en-US" sz="1600" b="1">
                <a:solidFill>
                  <a:srgbClr val="1B1D22"/>
                </a:solidFill>
                <a:latin typeface="DM Sans"/>
                <a:ea typeface="DM Sans"/>
                <a:cs typeface="DM Sans"/>
              </a:rPr>
              <a:t>size to change</a:t>
            </a:r>
            <a:endParaRPr lang="en-US" sz="1600"/>
          </a:p>
        </p:txBody>
      </p:sp>
      <p:sp>
        <p:nvSpPr>
          <p:cNvPr id="410739353" name="Text 17"/>
          <p:cNvSpPr/>
          <p:nvPr/>
        </p:nvSpPr>
        <p:spPr bwMode="auto">
          <a:xfrm>
            <a:off x="9120822" y="4423270"/>
            <a:ext cx="2027555" cy="71864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4A4F59"/>
                </a:solidFill>
                <a:latin typeface="DM Sans"/>
                <a:ea typeface="DM Sans"/>
                <a:cs typeface="DM Sans"/>
              </a:rPr>
              <a:t>A bad fit means editing one dimension and reprinting.</a:t>
            </a:r>
            <a:endParaRPr lang="en-US" sz="1300"/>
          </a:p>
        </p:txBody>
      </p:sp>
      <p:sp>
        <p:nvSpPr>
          <p:cNvPr id="1636769481" name="Text 18"/>
          <p:cNvSpPr/>
          <p:nvPr/>
        </p:nvSpPr>
        <p:spPr bwMode="auto">
          <a:xfrm>
            <a:off x="812800" y="6238280"/>
            <a:ext cx="654050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6F78"/>
                </a:solidFill>
                <a:latin typeface="DM Sans"/>
                <a:ea typeface="DM Sans"/>
                <a:cs typeface="DM Sans"/>
              </a:rPr>
              <a:t>Dimensions are our design targets, to be checked against the printer we are given</a:t>
            </a:r>
            <a:endParaRPr lang="en-US" sz="1200"/>
          </a:p>
        </p:txBody>
      </p:sp>
      <p:sp>
        <p:nvSpPr>
          <p:cNvPr id="1545248715" name="Text 19"/>
          <p:cNvSpPr/>
          <p:nvPr/>
        </p:nvSpPr>
        <p:spPr bwMode="auto">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B6F78"/>
                </a:solidFill>
                <a:latin typeface="DM Sans"/>
                <a:ea typeface="DM Sans"/>
                <a:cs typeface="DM Sans"/>
              </a:rPr>
              <a:t>4 / 12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16181D"/>
        </a:solidFill>
      </p:bgPr>
    </p:bg>
    <p:spTree>
      <p:nvGrpSpPr>
        <p:cNvPr id="1" name=""/>
        <p:cNvGrpSpPr/>
        <p:nvPr/>
      </p:nvGrpSpPr>
      <p:grpSpPr bwMode="auto">
        <a:xfrm>
          <a:off x="0" y="0"/>
          <a:ext cx="0" cy="0"/>
          <a:chOff x="0" y="0"/>
          <a:chExt cx="0" cy="0"/>
        </a:xfrm>
      </p:grpSpPr>
      <p:sp>
        <p:nvSpPr>
          <p:cNvPr id="1173926010" name="Text 0"/>
          <p:cNvSpPr/>
          <p:nvPr/>
        </p:nvSpPr>
        <p:spPr bwMode="auto">
          <a:xfrm>
            <a:off x="812800" y="812800"/>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b="1" spc="200">
                <a:solidFill>
                  <a:srgbClr val="FF7A1A"/>
                </a:solidFill>
                <a:latin typeface="DM Sans"/>
                <a:ea typeface="DM Sans"/>
                <a:cs typeface="DM Sans"/>
              </a:rPr>
              <a:t>04 · THE DESIGN</a:t>
            </a:r>
            <a:endParaRPr lang="en-US" sz="1400"/>
          </a:p>
        </p:txBody>
      </p:sp>
      <p:sp>
        <p:nvSpPr>
          <p:cNvPr id="1047255939" name="Text 1"/>
          <p:cNvSpPr/>
          <p:nvPr>
            <p:ph type="title"/>
          </p:nvPr>
        </p:nvSpPr>
        <p:spPr bwMode="auto">
          <a:xfrm>
            <a:off x="812800" y="1163241"/>
            <a:ext cx="10883392" cy="665460"/>
          </a:xfrm>
          <a:prstGeom prst="rect">
            <a:avLst/>
          </a:prstGeom>
          <a:noFill/>
          <a:ln/>
        </p:spPr>
        <p:txBody>
          <a:bodyPr wrap="square" lIns="0" tIns="0" rIns="0" bIns="0" rtlCol="0" anchor="t">
            <a:normAutofit/>
          </a:bodyPr>
          <a:lstStyle/>
          <a:p>
            <a:pPr marL="0" indent="0" algn="l">
              <a:lnSpc>
                <a:spcPts val="5040"/>
              </a:lnSpc>
              <a:buNone/>
              <a:defRPr/>
            </a:pPr>
            <a:r>
              <a:rPr lang="en-US" sz="4800" b="1" i="0">
                <a:solidFill>
                  <a:srgbClr val="F4F1EA"/>
                </a:solidFill>
                <a:latin typeface="Oswald"/>
                <a:ea typeface="Oswald"/>
                <a:cs typeface="Oswald"/>
              </a:rPr>
              <a:t>THREE PARTS THAT SLIDE TOGETHER</a:t>
            </a:r>
            <a:endParaRPr lang="en-US" sz="4800"/>
          </a:p>
        </p:txBody>
      </p:sp>
      <p:pic>
        <p:nvPicPr>
          <p:cNvPr id="1338533963" name="Image 0" descr="Side view of the caddy: an orange C-clamp grips the desk edge, a blue box hangs off it holding a mug, pens and a phone, and a cream hook below carries headphones"/>
          <p:cNvPicPr>
            <a:picLocks noChangeAspect="1"/>
          </p:cNvPicPr>
          <p:nvPr/>
        </p:nvPicPr>
        <p:blipFill rotWithShape="1">
          <a:blip r:embed="rId3"/>
          <a:srcRect l="0" t="0" r="0" b="0"/>
          <a:stretch/>
        </p:blipFill>
        <p:spPr bwMode="auto">
          <a:xfrm>
            <a:off x="812800" y="2057301"/>
            <a:ext cx="4826000" cy="3429000"/>
          </a:xfrm>
          <a:prstGeom prst="rect">
            <a:avLst/>
          </a:prstGeom>
        </p:spPr>
      </p:pic>
      <p:sp>
        <p:nvSpPr>
          <p:cNvPr id="1423695659" name="Shape 2"/>
          <p:cNvSpPr/>
          <p:nvPr/>
        </p:nvSpPr>
        <p:spPr bwMode="auto">
          <a:xfrm>
            <a:off x="5892800" y="2122289"/>
            <a:ext cx="5486400" cy="1092002"/>
          </a:xfrm>
          <a:prstGeom prst="roundRect">
            <a:avLst>
              <a:gd name="adj" fmla="val 9304"/>
            </a:avLst>
          </a:prstGeom>
          <a:solidFill>
            <a:srgbClr val="23262E"/>
          </a:solidFill>
          <a:ln/>
        </p:spPr>
      </p:sp>
      <p:sp>
        <p:nvSpPr>
          <p:cNvPr id="534322387" name="Shape 3"/>
          <p:cNvSpPr/>
          <p:nvPr/>
        </p:nvSpPr>
        <p:spPr bwMode="auto">
          <a:xfrm>
            <a:off x="5892800" y="2122289"/>
            <a:ext cx="5486400" cy="1092002"/>
          </a:xfrm>
          <a:custGeom>
            <a:avLst/>
            <a:gdLst/>
            <a:ahLst/>
            <a:cxnLst/>
            <a:rect l="l" t="t" r="r" b="b"/>
            <a:pathLst>
              <a:path w="5486400" h="1092002" fill="norm" stroke="1" extrusionOk="0">
                <a:moveTo>
                  <a:pt x="101600" y="1092002"/>
                </a:moveTo>
                <a:lnTo>
                  <a:pt x="101600" y="1092002"/>
                </a:lnTo>
                <a:arcTo wR="101600" hR="101600" stAng="5400000" swAng="5400000"/>
                <a:lnTo>
                  <a:pt x="0" y="101600"/>
                </a:lnTo>
                <a:arcTo wR="101600" hR="101600" stAng="10800000" swAng="5400000"/>
                <a:lnTo>
                  <a:pt x="101600" y="0"/>
                </a:lnTo>
                <a:arcTo wR="38100" hR="101600" stAng="16200000" swAng="-5400000"/>
                <a:lnTo>
                  <a:pt x="63500" y="990402"/>
                </a:lnTo>
                <a:arcTo wR="38100" hR="101600" stAng="10800000" swAng="-5400000"/>
                <a:close/>
              </a:path>
            </a:pathLst>
          </a:custGeom>
          <a:solidFill>
            <a:srgbClr val="FF7A1A"/>
          </a:solidFill>
          <a:ln/>
        </p:spPr>
      </p:sp>
      <p:sp>
        <p:nvSpPr>
          <p:cNvPr id="1956487425" name="Text 4"/>
          <p:cNvSpPr/>
          <p:nvPr/>
        </p:nvSpPr>
        <p:spPr bwMode="auto">
          <a:xfrm>
            <a:off x="6159500" y="2274689"/>
            <a:ext cx="5166995" cy="299641"/>
          </a:xfrm>
          <a:prstGeom prst="rect">
            <a:avLst/>
          </a:prstGeom>
          <a:noFill/>
          <a:ln/>
        </p:spPr>
        <p:txBody>
          <a:bodyPr wrap="square" lIns="0" tIns="0" rIns="0" bIns="0" rtlCol="0" anchor="t">
            <a:normAutofit/>
          </a:bodyPr>
          <a:lstStyle/>
          <a:p>
            <a:pPr marL="0" indent="0" algn="l">
              <a:lnSpc>
                <a:spcPts val="2160"/>
              </a:lnSpc>
              <a:buNone/>
              <a:defRPr/>
            </a:pPr>
            <a:r>
              <a:rPr lang="en-US" sz="1800" b="1">
                <a:solidFill>
                  <a:srgbClr val="F4F1EA"/>
                </a:solidFill>
                <a:latin typeface="DM Sans"/>
                <a:ea typeface="DM Sans"/>
                <a:cs typeface="DM Sans"/>
              </a:rPr>
              <a:t>1 · C-clamp and screw</a:t>
            </a:r>
            <a:endParaRPr lang="en-US" sz="1800"/>
          </a:p>
        </p:txBody>
      </p:sp>
      <p:sp>
        <p:nvSpPr>
          <p:cNvPr id="969462055" name="Text 5"/>
          <p:cNvSpPr/>
          <p:nvPr/>
        </p:nvSpPr>
        <p:spPr bwMode="auto">
          <a:xfrm>
            <a:off x="6159500" y="2599730"/>
            <a:ext cx="5166995" cy="48756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C9CCD3"/>
                </a:solidFill>
                <a:latin typeface="DM Sans"/>
                <a:ea typeface="DM Sans"/>
                <a:cs typeface="DM Sans"/>
              </a:rPr>
              <a:t>Grips the desk edge. Printed on its side so the plastic strands wrap around the bend.</a:t>
            </a:r>
            <a:endParaRPr lang="en-US" sz="1300"/>
          </a:p>
        </p:txBody>
      </p:sp>
      <p:sp>
        <p:nvSpPr>
          <p:cNvPr id="842958556" name="Shape 6"/>
          <p:cNvSpPr/>
          <p:nvPr/>
        </p:nvSpPr>
        <p:spPr bwMode="auto">
          <a:xfrm>
            <a:off x="5892800" y="3341291"/>
            <a:ext cx="5486400" cy="1092002"/>
          </a:xfrm>
          <a:prstGeom prst="roundRect">
            <a:avLst>
              <a:gd name="adj" fmla="val 9304"/>
            </a:avLst>
          </a:prstGeom>
          <a:solidFill>
            <a:srgbClr val="23262E"/>
          </a:solidFill>
          <a:ln/>
        </p:spPr>
      </p:sp>
      <p:sp>
        <p:nvSpPr>
          <p:cNvPr id="23569543" name="Shape 7"/>
          <p:cNvSpPr/>
          <p:nvPr/>
        </p:nvSpPr>
        <p:spPr bwMode="auto">
          <a:xfrm>
            <a:off x="5892800" y="3341291"/>
            <a:ext cx="5486400" cy="1092002"/>
          </a:xfrm>
          <a:custGeom>
            <a:avLst/>
            <a:gdLst/>
            <a:ahLst/>
            <a:cxnLst/>
            <a:rect l="l" t="t" r="r" b="b"/>
            <a:pathLst>
              <a:path w="5486400" h="1092002" fill="norm" stroke="1" extrusionOk="0">
                <a:moveTo>
                  <a:pt x="101600" y="1092002"/>
                </a:moveTo>
                <a:lnTo>
                  <a:pt x="101600" y="1092002"/>
                </a:lnTo>
                <a:arcTo wR="101600" hR="101600" stAng="5400000" swAng="5400000"/>
                <a:lnTo>
                  <a:pt x="0" y="101600"/>
                </a:lnTo>
                <a:arcTo wR="101600" hR="101600" stAng="10800000" swAng="5400000"/>
                <a:lnTo>
                  <a:pt x="101600" y="0"/>
                </a:lnTo>
                <a:arcTo wR="38100" hR="101600" stAng="16200000" swAng="-5400000"/>
                <a:lnTo>
                  <a:pt x="63500" y="990402"/>
                </a:lnTo>
                <a:arcTo wR="38100" hR="101600" stAng="10800000" swAng="-5400000"/>
                <a:close/>
              </a:path>
            </a:pathLst>
          </a:custGeom>
          <a:solidFill>
            <a:srgbClr val="4C9AFF"/>
          </a:solidFill>
          <a:ln/>
        </p:spPr>
      </p:sp>
      <p:sp>
        <p:nvSpPr>
          <p:cNvPr id="488087124" name="Text 8"/>
          <p:cNvSpPr/>
          <p:nvPr/>
        </p:nvSpPr>
        <p:spPr bwMode="auto">
          <a:xfrm>
            <a:off x="6159500" y="3493691"/>
            <a:ext cx="5166995" cy="299641"/>
          </a:xfrm>
          <a:prstGeom prst="rect">
            <a:avLst/>
          </a:prstGeom>
          <a:noFill/>
          <a:ln/>
        </p:spPr>
        <p:txBody>
          <a:bodyPr wrap="square" lIns="0" tIns="0" rIns="0" bIns="0" rtlCol="0" anchor="t">
            <a:normAutofit/>
          </a:bodyPr>
          <a:lstStyle/>
          <a:p>
            <a:pPr marL="0" indent="0" algn="l">
              <a:lnSpc>
                <a:spcPts val="2160"/>
              </a:lnSpc>
              <a:buNone/>
              <a:defRPr/>
            </a:pPr>
            <a:r>
              <a:rPr lang="en-US" sz="1800" b="1">
                <a:solidFill>
                  <a:srgbClr val="F4F1EA"/>
                </a:solidFill>
                <a:latin typeface="DM Sans"/>
                <a:ea typeface="DM Sans"/>
                <a:cs typeface="DM Sans"/>
              </a:rPr>
              <a:t>2 · Caddy box</a:t>
            </a:r>
            <a:endParaRPr lang="en-US" sz="1800"/>
          </a:p>
        </p:txBody>
      </p:sp>
      <p:sp>
        <p:nvSpPr>
          <p:cNvPr id="1930501949" name="Text 9"/>
          <p:cNvSpPr/>
          <p:nvPr/>
        </p:nvSpPr>
        <p:spPr bwMode="auto">
          <a:xfrm>
            <a:off x="6159500" y="3818731"/>
            <a:ext cx="5166995" cy="48756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C9CCD3"/>
                </a:solidFill>
                <a:latin typeface="DM Sans"/>
                <a:ea typeface="DM Sans"/>
                <a:cs typeface="DM Sans"/>
              </a:rPr>
              <a:t>Pen cup, mug pocket and phone slot. Printed upright for clean, straight walls.</a:t>
            </a:r>
            <a:endParaRPr lang="en-US" sz="1300"/>
          </a:p>
        </p:txBody>
      </p:sp>
      <p:sp>
        <p:nvSpPr>
          <p:cNvPr id="1856678731" name="Shape 10"/>
          <p:cNvSpPr/>
          <p:nvPr/>
        </p:nvSpPr>
        <p:spPr bwMode="auto">
          <a:xfrm>
            <a:off x="5892800" y="4560292"/>
            <a:ext cx="5486400" cy="860921"/>
          </a:xfrm>
          <a:prstGeom prst="roundRect">
            <a:avLst>
              <a:gd name="adj" fmla="val 11801"/>
            </a:avLst>
          </a:prstGeom>
          <a:solidFill>
            <a:srgbClr val="23262E"/>
          </a:solidFill>
          <a:ln/>
        </p:spPr>
      </p:sp>
      <p:sp>
        <p:nvSpPr>
          <p:cNvPr id="22318848" name="Shape 11"/>
          <p:cNvSpPr/>
          <p:nvPr/>
        </p:nvSpPr>
        <p:spPr bwMode="auto">
          <a:xfrm>
            <a:off x="5892800" y="4560292"/>
            <a:ext cx="5486400" cy="860921"/>
          </a:xfrm>
          <a:custGeom>
            <a:avLst/>
            <a:gdLst/>
            <a:ahLst/>
            <a:cxnLst/>
            <a:rect l="l" t="t" r="r" b="b"/>
            <a:pathLst>
              <a:path w="5486400" h="860921" fill="norm" stroke="1" extrusionOk="0">
                <a:moveTo>
                  <a:pt x="101600" y="860921"/>
                </a:moveTo>
                <a:lnTo>
                  <a:pt x="101600" y="860921"/>
                </a:lnTo>
                <a:arcTo wR="101600" hR="101600" stAng="5400000" swAng="5400000"/>
                <a:lnTo>
                  <a:pt x="0" y="101600"/>
                </a:lnTo>
                <a:arcTo wR="101600" hR="101600" stAng="10800000" swAng="5400000"/>
                <a:lnTo>
                  <a:pt x="101600" y="0"/>
                </a:lnTo>
                <a:arcTo wR="38100" hR="101600" stAng="16200000" swAng="-5400000"/>
                <a:lnTo>
                  <a:pt x="63500" y="759321"/>
                </a:lnTo>
                <a:arcTo wR="38100" hR="101600" stAng="10800000" swAng="-5400000"/>
                <a:close/>
              </a:path>
            </a:pathLst>
          </a:custGeom>
          <a:solidFill>
            <a:srgbClr val="F4F1EA"/>
          </a:solidFill>
          <a:ln/>
        </p:spPr>
      </p:sp>
      <p:sp>
        <p:nvSpPr>
          <p:cNvPr id="2107024502" name="Text 12"/>
          <p:cNvSpPr/>
          <p:nvPr/>
        </p:nvSpPr>
        <p:spPr bwMode="auto">
          <a:xfrm>
            <a:off x="6159500" y="4712692"/>
            <a:ext cx="5166995" cy="299641"/>
          </a:xfrm>
          <a:prstGeom prst="rect">
            <a:avLst/>
          </a:prstGeom>
          <a:noFill/>
          <a:ln/>
        </p:spPr>
        <p:txBody>
          <a:bodyPr wrap="square" lIns="0" tIns="0" rIns="0" bIns="0" rtlCol="0" anchor="t">
            <a:normAutofit/>
          </a:bodyPr>
          <a:lstStyle/>
          <a:p>
            <a:pPr marL="0" indent="0" algn="l">
              <a:lnSpc>
                <a:spcPts val="2160"/>
              </a:lnSpc>
              <a:buNone/>
              <a:defRPr/>
            </a:pPr>
            <a:r>
              <a:rPr lang="en-US" sz="1800" b="1">
                <a:solidFill>
                  <a:srgbClr val="F4F1EA"/>
                </a:solidFill>
                <a:latin typeface="DM Sans"/>
                <a:ea typeface="DM Sans"/>
                <a:cs typeface="DM Sans"/>
              </a:rPr>
              <a:t>3 · Headphone hook</a:t>
            </a:r>
            <a:endParaRPr lang="en-US" sz="1800"/>
          </a:p>
        </p:txBody>
      </p:sp>
      <p:sp>
        <p:nvSpPr>
          <p:cNvPr id="1106168255" name="Text 13"/>
          <p:cNvSpPr/>
          <p:nvPr/>
        </p:nvSpPr>
        <p:spPr bwMode="auto">
          <a:xfrm>
            <a:off x="6159500" y="5037733"/>
            <a:ext cx="5219700" cy="256480"/>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C9CCD3"/>
                </a:solidFill>
                <a:latin typeface="DM Sans"/>
                <a:ea typeface="DM Sans"/>
                <a:cs typeface="DM Sans"/>
              </a:rPr>
              <a:t>Slides in below the box. Printed on its side so the curve is strong.</a:t>
            </a:r>
            <a:endParaRPr lang="en-US" sz="1300"/>
          </a:p>
        </p:txBody>
      </p:sp>
      <p:sp>
        <p:nvSpPr>
          <p:cNvPr id="477480625" name="Text 14"/>
          <p:cNvSpPr/>
          <p:nvPr/>
        </p:nvSpPr>
        <p:spPr bwMode="auto">
          <a:xfrm>
            <a:off x="812800" y="6238280"/>
            <a:ext cx="850265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8F94A0"/>
                </a:solidFill>
                <a:latin typeface="DM Sans"/>
                <a:ea typeface="DM Sans"/>
                <a:cs typeface="DM Sans"/>
              </a:rPr>
              <a:t>Concept sketch, not to scale · sliding dovetail joints connect the parts</a:t>
            </a:r>
            <a:endParaRPr lang="en-US" sz="1200"/>
          </a:p>
        </p:txBody>
      </p:sp>
      <p:sp>
        <p:nvSpPr>
          <p:cNvPr id="1066697162" name="Text 15"/>
          <p:cNvSpPr/>
          <p:nvPr/>
        </p:nvSpPr>
        <p:spPr bwMode="auto">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8F94A0"/>
                </a:solidFill>
                <a:latin typeface="DM Sans"/>
                <a:ea typeface="DM Sans"/>
                <a:cs typeface="DM Sans"/>
              </a:rPr>
              <a:t>5 / 12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4F1EA"/>
        </a:solidFill>
      </p:bgPr>
    </p:bg>
    <p:spTree>
      <p:nvGrpSpPr>
        <p:cNvPr id="1" name=""/>
        <p:cNvGrpSpPr/>
        <p:nvPr/>
      </p:nvGrpSpPr>
      <p:grpSpPr bwMode="auto">
        <a:xfrm>
          <a:off x="0" y="0"/>
          <a:ext cx="0" cy="0"/>
          <a:chOff x="0" y="0"/>
          <a:chExt cx="0" cy="0"/>
        </a:xfrm>
      </p:grpSpPr>
      <p:sp>
        <p:nvSpPr>
          <p:cNvPr id="500228596" name="Text 0"/>
          <p:cNvSpPr/>
          <p:nvPr/>
        </p:nvSpPr>
        <p:spPr bwMode="auto">
          <a:xfrm>
            <a:off x="812800" y="812800"/>
            <a:ext cx="10883392" cy="269180"/>
          </a:xfrm>
          <a:prstGeom prst="rect">
            <a:avLst/>
          </a:prstGeom>
          <a:noFill/>
          <a:ln/>
        </p:spPr>
        <p:txBody>
          <a:bodyPr wrap="square" lIns="0" tIns="0" rIns="0" bIns="0" rtlCol="0" anchor="t">
            <a:normAutofit/>
          </a:bodyPr>
          <a:lstStyle/>
          <a:p>
            <a:pPr marL="0" indent="0" algn="l">
              <a:lnSpc>
                <a:spcPts val="1923"/>
              </a:lnSpc>
              <a:buNone/>
              <a:defRPr/>
            </a:pPr>
            <a:r>
              <a:rPr lang="en-US" sz="1350" b="1" spc="200">
                <a:solidFill>
                  <a:srgbClr val="C2410C"/>
                </a:solidFill>
                <a:latin typeface="DM Sans"/>
                <a:ea typeface="DM Sans"/>
                <a:cs typeface="DM Sans"/>
              </a:rPr>
              <a:t>05 · THE LOAD</a:t>
            </a:r>
            <a:endParaRPr lang="en-US" sz="1350"/>
          </a:p>
        </p:txBody>
      </p:sp>
      <p:sp>
        <p:nvSpPr>
          <p:cNvPr id="832388277" name="Text 1"/>
          <p:cNvSpPr/>
          <p:nvPr>
            <p:ph type="title"/>
          </p:nvPr>
        </p:nvSpPr>
        <p:spPr bwMode="auto">
          <a:xfrm>
            <a:off x="812800" y="1158180"/>
            <a:ext cx="10883392" cy="652363"/>
          </a:xfrm>
          <a:prstGeom prst="rect">
            <a:avLst/>
          </a:prstGeom>
          <a:noFill/>
          <a:ln/>
        </p:spPr>
        <p:txBody>
          <a:bodyPr wrap="square" lIns="0" tIns="0" rIns="0" bIns="0" rtlCol="0" anchor="t">
            <a:normAutofit/>
          </a:bodyPr>
          <a:lstStyle/>
          <a:p>
            <a:pPr marL="0" indent="0" algn="l">
              <a:lnSpc>
                <a:spcPts val="4961"/>
              </a:lnSpc>
              <a:buNone/>
              <a:defRPr/>
            </a:pPr>
            <a:r>
              <a:rPr lang="en-US" sz="4750" b="1" i="0">
                <a:solidFill>
                  <a:srgbClr val="1B1D22"/>
                </a:solidFill>
                <a:latin typeface="Oswald"/>
                <a:ea typeface="Oswald"/>
                <a:cs typeface="Oswald"/>
              </a:rPr>
              <a:t>THE CLAMP MUST RESIST 2.2 N·M</a:t>
            </a:r>
            <a:endParaRPr lang="en-US" sz="4750"/>
          </a:p>
        </p:txBody>
      </p:sp>
      <p:graphicFrame>
        <p:nvGraphicFramePr>
          <p:cNvPr id="764464726" name="Table 0"/>
          <p:cNvGraphicFramePr>
            <a:graphicFrameLocks xmlns:a="http://schemas.openxmlformats.org/drawingml/2006/main" noGrp="1"/>
          </p:cNvGraphicFramePr>
          <p:nvPr/>
        </p:nvGraphicFramePr>
        <p:xfrm rot="0">
          <a:off x="825500" y="2102644"/>
          <a:ext cx="4813300" cy="2635448"/>
        </p:xfrm>
        <a:graphic>
          <a:graphicData uri="http://schemas.openxmlformats.org/drawingml/2006/table">
            <a:tbl>
              <a:tblPr firstRow="0" firstCol="0" lastRow="0" lastCol="0" bandRow="0" bandCol="0"/>
              <a:tblGrid>
                <a:gridCol w="3128645"/>
                <a:gridCol w="1684655"/>
              </a:tblGrid>
              <a:tr h="439241">
                <a:tc>
                  <a:txBody>
                    <a:bodyPr/>
                    <a:p>
                      <a:pPr marL="0" indent="0">
                        <a:lnSpc>
                          <a:spcPts val="2240"/>
                        </a:lnSpc>
                        <a:buNone/>
                        <a:defRPr/>
                      </a:pPr>
                      <a:r>
                        <a:rPr lang="en-US" sz="1600" b="1">
                          <a:solidFill>
                            <a:srgbClr val="1B1D22"/>
                          </a:solidFill>
                          <a:latin typeface="DM Sans"/>
                          <a:ea typeface="DM Sans"/>
                          <a:cs typeface="DM Sans"/>
                        </a:rPr>
                        <a:t>Item</a:t>
                      </a:r>
                      <a:endParaRPr lang="en-US" sz="1600">
                        <a:latin typeface="DM Sans"/>
                        <a:ea typeface="DM Sans"/>
                        <a:cs typeface="DM Sans"/>
                      </a:endParaRPr>
                    </a:p>
                  </a:txBody>
                  <a:tcPr marL="71120" marR="71120" marT="71120" marB="71120" anchor="t">
                    <a:lnL w="12700" algn="ctr">
                      <a:solidFill>
                        <a:srgbClr val="C3C0BB"/>
                      </a:solidFill>
                    </a:lnL>
                    <a:lnR w="12700" algn="ctr">
                      <a:solidFill>
                        <a:srgbClr val="B5B2AD"/>
                      </a:solidFill>
                    </a:lnR>
                    <a:lnT w="12700" algn="ctr">
                      <a:solidFill>
                        <a:srgbClr val="C3C0BB"/>
                      </a:solidFill>
                    </a:lnT>
                    <a:lnB w="12700" algn="ctr">
                      <a:solidFill>
                        <a:srgbClr val="B5B2AD"/>
                      </a:solidFill>
                    </a:lnB>
                    <a:solidFill>
                      <a:srgbClr val="E2DFD9"/>
                    </a:solidFill>
                  </a:tcPr>
                </a:tc>
                <a:tc>
                  <a:txBody>
                    <a:bodyPr/>
                    <a:p>
                      <a:pPr marL="0" indent="0" algn="r">
                        <a:lnSpc>
                          <a:spcPts val="2240"/>
                        </a:lnSpc>
                        <a:buNone/>
                        <a:defRPr/>
                      </a:pPr>
                      <a:r>
                        <a:rPr lang="en-US" sz="1600" b="1">
                          <a:solidFill>
                            <a:srgbClr val="1B1D22"/>
                          </a:solidFill>
                          <a:latin typeface="DM Sans"/>
                          <a:ea typeface="DM Sans"/>
                          <a:cs typeface="DM Sans"/>
                        </a:rPr>
                        <a:t>Weight</a:t>
                      </a:r>
                      <a:endParaRPr lang="en-US" sz="1600">
                        <a:latin typeface="DM Sans"/>
                        <a:ea typeface="DM Sans"/>
                        <a:cs typeface="DM Sans"/>
                      </a:endParaRPr>
                    </a:p>
                  </a:txBody>
                  <a:tcPr marL="71120" marR="71120" marT="71120" marB="71120" anchor="t">
                    <a:lnL w="12700" algn="ctr">
                      <a:solidFill>
                        <a:srgbClr val="B5B2AD"/>
                      </a:solidFill>
                    </a:lnL>
                    <a:lnR w="12700" algn="ctr">
                      <a:solidFill>
                        <a:srgbClr val="B5B2AD"/>
                      </a:solidFill>
                    </a:lnR>
                    <a:lnT w="12700" algn="ctr">
                      <a:solidFill>
                        <a:srgbClr val="C3C0BB"/>
                      </a:solidFill>
                    </a:lnT>
                    <a:lnB w="12700" algn="ctr">
                      <a:solidFill>
                        <a:srgbClr val="B5B2AD"/>
                      </a:solidFill>
                    </a:lnB>
                    <a:solidFill>
                      <a:srgbClr val="E2DFD9"/>
                    </a:solidFill>
                  </a:tcPr>
                </a:tc>
              </a:tr>
              <a:tr h="439241">
                <a:tc>
                  <a:txBody>
                    <a:bodyPr/>
                    <a:p>
                      <a:pPr marL="0" indent="0">
                        <a:lnSpc>
                          <a:spcPts val="2240"/>
                        </a:lnSpc>
                        <a:buNone/>
                        <a:defRPr/>
                      </a:pPr>
                      <a:r>
                        <a:rPr lang="en-US" sz="1600">
                          <a:solidFill>
                            <a:srgbClr val="1B1D22"/>
                          </a:solidFill>
                          <a:latin typeface="DM Sans"/>
                          <a:ea typeface="DM Sans"/>
                          <a:cs typeface="DM Sans"/>
                        </a:rPr>
                        <a:t>Full ceramic mug</a:t>
                      </a:r>
                      <a:endParaRPr lang="en-US" sz="1600">
                        <a:latin typeface="DM Sans"/>
                        <a:ea typeface="DM Sans"/>
                        <a:cs typeface="DM Sans"/>
                      </a:endParaRPr>
                    </a:p>
                  </a:txBody>
                  <a:tcPr marL="71120" marR="71120" marT="71120" marB="71120" anchor="t">
                    <a:lnL w="12700" algn="ctr">
                      <a:solidFill>
                        <a:srgbClr val="C3C0BB"/>
                      </a:solidFill>
                    </a:lnL>
                    <a:lnR w="12700" algn="ctr">
                      <a:solidFill>
                        <a:srgbClr val="C3C0BB"/>
                      </a:solidFill>
                    </a:lnR>
                    <a:lnT w="12700" algn="ctr">
                      <a:solidFill>
                        <a:srgbClr val="B5B2AD"/>
                      </a:solidFill>
                    </a:lnT>
                    <a:lnB w="12700" algn="ctr">
                      <a:solidFill>
                        <a:srgbClr val="C3C0BB"/>
                      </a:solidFill>
                    </a:lnB>
                  </a:tcPr>
                </a:tc>
                <a:tc>
                  <a:txBody>
                    <a:bodyPr/>
                    <a:p>
                      <a:pPr marL="0" indent="0" algn="r">
                        <a:lnSpc>
                          <a:spcPts val="2240"/>
                        </a:lnSpc>
                        <a:buNone/>
                        <a:defRPr/>
                      </a:pPr>
                      <a:r>
                        <a:rPr lang="en-US" sz="1600">
                          <a:solidFill>
                            <a:srgbClr val="1B1D22"/>
                          </a:solidFill>
                          <a:latin typeface="DM Sans"/>
                          <a:ea typeface="DM Sans"/>
                          <a:cs typeface="DM Sans"/>
                        </a:rPr>
                        <a:t>650 g</a:t>
                      </a:r>
                      <a:endParaRPr lang="en-US" sz="1600">
                        <a:latin typeface="DM Sans"/>
                        <a:ea typeface="DM Sans"/>
                        <a:cs typeface="DM Sans"/>
                      </a:endParaRPr>
                    </a:p>
                  </a:txBody>
                  <a:tcPr marL="71120" marR="71120" marT="71120" marB="71120" anchor="t">
                    <a:lnL w="12700" algn="ctr">
                      <a:solidFill>
                        <a:srgbClr val="C3C0BB"/>
                      </a:solidFill>
                    </a:lnL>
                    <a:lnR w="12700" algn="ctr">
                      <a:solidFill>
                        <a:srgbClr val="C3C0BB"/>
                      </a:solidFill>
                    </a:lnR>
                    <a:lnT w="12700" algn="ctr">
                      <a:solidFill>
                        <a:srgbClr val="B5B2AD"/>
                      </a:solidFill>
                    </a:lnT>
                    <a:lnB w="12700" algn="ctr">
                      <a:solidFill>
                        <a:srgbClr val="C3C0BB"/>
                      </a:solidFill>
                    </a:lnB>
                  </a:tcPr>
                </a:tc>
              </a:tr>
              <a:tr h="439241">
                <a:tc>
                  <a:txBody>
                    <a:bodyPr/>
                    <a:p>
                      <a:pPr marL="0" indent="0">
                        <a:lnSpc>
                          <a:spcPts val="2240"/>
                        </a:lnSpc>
                        <a:buNone/>
                        <a:defRPr/>
                      </a:pPr>
                      <a:r>
                        <a:rPr lang="en-US" sz="1600">
                          <a:solidFill>
                            <a:srgbClr val="1B1D22"/>
                          </a:solidFill>
                          <a:latin typeface="DM Sans"/>
                          <a:ea typeface="DM Sans"/>
                          <a:cs typeface="DM Sans"/>
                        </a:rPr>
                        <a:t>Phone and pens</a:t>
                      </a:r>
                      <a:endParaRPr lang="en-US" sz="1600">
                        <a:latin typeface="DM Sans"/>
                        <a:ea typeface="DM Sans"/>
                        <a:cs typeface="DM Sans"/>
                      </a:endParaRPr>
                    </a:p>
                  </a:txBody>
                  <a:tcPr marL="71120" marR="71120" marT="71120" marB="7112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gn="r">
                        <a:lnSpc>
                          <a:spcPts val="2240"/>
                        </a:lnSpc>
                        <a:buNone/>
                        <a:defRPr/>
                      </a:pPr>
                      <a:r>
                        <a:rPr lang="en-US" sz="1600">
                          <a:solidFill>
                            <a:srgbClr val="1B1D22"/>
                          </a:solidFill>
                          <a:latin typeface="DM Sans"/>
                          <a:ea typeface="DM Sans"/>
                          <a:cs typeface="DM Sans"/>
                        </a:rPr>
                        <a:t>300 g</a:t>
                      </a:r>
                      <a:endParaRPr lang="en-US" sz="1600">
                        <a:latin typeface="DM Sans"/>
                        <a:ea typeface="DM Sans"/>
                        <a:cs typeface="DM Sans"/>
                      </a:endParaRPr>
                    </a:p>
                  </a:txBody>
                  <a:tcPr marL="71120" marR="71120" marT="71120" marB="7112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r>
              <a:tr h="439241">
                <a:tc>
                  <a:txBody>
                    <a:bodyPr/>
                    <a:p>
                      <a:pPr marL="0" indent="0">
                        <a:lnSpc>
                          <a:spcPts val="2240"/>
                        </a:lnSpc>
                        <a:buNone/>
                        <a:defRPr/>
                      </a:pPr>
                      <a:r>
                        <a:rPr lang="en-US" sz="1600">
                          <a:solidFill>
                            <a:srgbClr val="1B1D22"/>
                          </a:solidFill>
                          <a:latin typeface="DM Sans"/>
                          <a:ea typeface="DM Sans"/>
                          <a:cs typeface="DM Sans"/>
                        </a:rPr>
                        <a:t>Headphones</a:t>
                      </a:r>
                      <a:endParaRPr lang="en-US" sz="1600">
                        <a:latin typeface="DM Sans"/>
                        <a:ea typeface="DM Sans"/>
                        <a:cs typeface="DM Sans"/>
                      </a:endParaRPr>
                    </a:p>
                  </a:txBody>
                  <a:tcPr marL="71120" marR="71120" marT="71120" marB="7112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gn="r">
                        <a:lnSpc>
                          <a:spcPts val="2240"/>
                        </a:lnSpc>
                        <a:buNone/>
                        <a:defRPr/>
                      </a:pPr>
                      <a:r>
                        <a:rPr lang="en-US" sz="1600">
                          <a:solidFill>
                            <a:srgbClr val="1B1D22"/>
                          </a:solidFill>
                          <a:latin typeface="DM Sans"/>
                          <a:ea typeface="DM Sans"/>
                          <a:cs typeface="DM Sans"/>
                        </a:rPr>
                        <a:t>350 g</a:t>
                      </a:r>
                      <a:endParaRPr lang="en-US" sz="1600">
                        <a:latin typeface="DM Sans"/>
                        <a:ea typeface="DM Sans"/>
                        <a:cs typeface="DM Sans"/>
                      </a:endParaRPr>
                    </a:p>
                  </a:txBody>
                  <a:tcPr marL="71120" marR="71120" marT="71120" marB="7112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r>
              <a:tr h="439241">
                <a:tc>
                  <a:txBody>
                    <a:bodyPr/>
                    <a:p>
                      <a:pPr marL="0" indent="0">
                        <a:lnSpc>
                          <a:spcPts val="2240"/>
                        </a:lnSpc>
                        <a:buNone/>
                        <a:defRPr/>
                      </a:pPr>
                      <a:r>
                        <a:rPr lang="en-US" sz="1600">
                          <a:solidFill>
                            <a:srgbClr val="1B1D22"/>
                          </a:solidFill>
                          <a:latin typeface="DM Sans"/>
                          <a:ea typeface="DM Sans"/>
                          <a:cs typeface="DM Sans"/>
                        </a:rPr>
                        <a:t>Safety allowance for bumps</a:t>
                      </a:r>
                      <a:endParaRPr lang="en-US" sz="1600">
                        <a:latin typeface="DM Sans"/>
                        <a:ea typeface="DM Sans"/>
                        <a:cs typeface="DM Sans"/>
                      </a:endParaRPr>
                    </a:p>
                  </a:txBody>
                  <a:tcPr marL="71120" marR="71120" marT="71120" marB="7112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gn="r">
                        <a:lnSpc>
                          <a:spcPts val="2240"/>
                        </a:lnSpc>
                        <a:buNone/>
                        <a:defRPr/>
                      </a:pPr>
                      <a:r>
                        <a:rPr lang="en-US" sz="1600">
                          <a:solidFill>
                            <a:srgbClr val="1B1D22"/>
                          </a:solidFill>
                          <a:latin typeface="DM Sans"/>
                          <a:ea typeface="DM Sans"/>
                          <a:cs typeface="DM Sans"/>
                        </a:rPr>
                        <a:t>1500 g</a:t>
                      </a:r>
                      <a:endParaRPr lang="en-US" sz="1600">
                        <a:latin typeface="DM Sans"/>
                        <a:ea typeface="DM Sans"/>
                        <a:cs typeface="DM Sans"/>
                      </a:endParaRPr>
                    </a:p>
                  </a:txBody>
                  <a:tcPr marL="71120" marR="71120" marT="71120" marB="7112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r>
              <a:tr h="439241">
                <a:tc>
                  <a:txBody>
                    <a:bodyPr/>
                    <a:p>
                      <a:pPr marL="0" indent="0">
                        <a:lnSpc>
                          <a:spcPts val="2240"/>
                        </a:lnSpc>
                        <a:buNone/>
                        <a:defRPr/>
                      </a:pPr>
                      <a:r>
                        <a:rPr lang="en-US" sz="1600">
                          <a:solidFill>
                            <a:srgbClr val="1B1D22"/>
                          </a:solidFill>
                          <a:latin typeface="DM Sans"/>
                          <a:ea typeface="DM Sans"/>
                          <a:cs typeface="DM Sans"/>
                        </a:rPr>
                        <a:t>Design load</a:t>
                      </a:r>
                      <a:endParaRPr lang="en-US" sz="1600">
                        <a:latin typeface="DM Sans"/>
                        <a:ea typeface="DM Sans"/>
                        <a:cs typeface="DM Sans"/>
                      </a:endParaRPr>
                    </a:p>
                  </a:txBody>
                  <a:tcPr marL="71120" marR="71120" marT="71120" marB="7112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gn="r">
                        <a:lnSpc>
                          <a:spcPts val="2240"/>
                        </a:lnSpc>
                        <a:buNone/>
                        <a:defRPr/>
                      </a:pPr>
                      <a:r>
                        <a:rPr lang="en-US" sz="1600">
                          <a:solidFill>
                            <a:srgbClr val="1B1D22"/>
                          </a:solidFill>
                          <a:latin typeface="DM Sans"/>
                          <a:ea typeface="DM Sans"/>
                          <a:cs typeface="DM Sans"/>
                        </a:rPr>
                        <a:t>2.8 kg</a:t>
                      </a:r>
                      <a:endParaRPr lang="en-US" sz="1600">
                        <a:latin typeface="DM Sans"/>
                        <a:ea typeface="DM Sans"/>
                        <a:cs typeface="DM Sans"/>
                      </a:endParaRPr>
                    </a:p>
                  </a:txBody>
                  <a:tcPr marL="71120" marR="71120" marT="71120" marB="7112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r>
            </a:tbl>
          </a:graphicData>
        </a:graphic>
      </p:graphicFrame>
      <p:sp>
        <p:nvSpPr>
          <p:cNvPr id="1445600324" name="Shape 2"/>
          <p:cNvSpPr/>
          <p:nvPr/>
        </p:nvSpPr>
        <p:spPr bwMode="auto">
          <a:xfrm>
            <a:off x="5842000" y="2089944"/>
            <a:ext cx="5537200" cy="3752056"/>
          </a:xfrm>
          <a:prstGeom prst="roundRect">
            <a:avLst>
              <a:gd name="adj" fmla="val 2708"/>
            </a:avLst>
          </a:prstGeom>
          <a:solidFill>
            <a:srgbClr val="16181D"/>
          </a:solidFill>
          <a:ln/>
        </p:spPr>
      </p:sp>
      <p:sp>
        <p:nvSpPr>
          <p:cNvPr id="1966727992" name="Text 3"/>
          <p:cNvSpPr/>
          <p:nvPr/>
        </p:nvSpPr>
        <p:spPr bwMode="auto">
          <a:xfrm>
            <a:off x="6146800" y="2394744"/>
            <a:ext cx="5075428" cy="267791"/>
          </a:xfrm>
          <a:prstGeom prst="rect">
            <a:avLst/>
          </a:prstGeom>
          <a:noFill/>
          <a:ln/>
        </p:spPr>
        <p:txBody>
          <a:bodyPr wrap="square" lIns="0" tIns="0" rIns="0" bIns="0" rtlCol="0" anchor="t">
            <a:normAutofit/>
          </a:bodyPr>
          <a:lstStyle/>
          <a:p>
            <a:pPr marL="0" indent="0" algn="l">
              <a:lnSpc>
                <a:spcPts val="1923"/>
              </a:lnSpc>
              <a:buNone/>
              <a:defRPr/>
            </a:pPr>
            <a:r>
              <a:rPr lang="en-US" sz="1350" b="1" spc="150">
                <a:solidFill>
                  <a:srgbClr val="FF7A1A"/>
                </a:solidFill>
                <a:latin typeface="DM Sans"/>
                <a:ea typeface="DM Sans"/>
                <a:cs typeface="DM Sans"/>
              </a:rPr>
              <a:t>TORQUE ON THE CLAMP</a:t>
            </a:r>
            <a:endParaRPr lang="en-US" sz="1350"/>
          </a:p>
        </p:txBody>
      </p:sp>
      <p:sp>
        <p:nvSpPr>
          <p:cNvPr id="1617164578" name="Text 4"/>
          <p:cNvSpPr/>
          <p:nvPr/>
        </p:nvSpPr>
        <p:spPr bwMode="auto">
          <a:xfrm>
            <a:off x="6146800" y="2764135"/>
            <a:ext cx="5075428" cy="515144"/>
          </a:xfrm>
          <a:prstGeom prst="rect">
            <a:avLst/>
          </a:prstGeom>
          <a:noFill/>
          <a:ln/>
        </p:spPr>
        <p:txBody>
          <a:bodyPr wrap="square" lIns="0" tIns="0" rIns="0" bIns="0" rtlCol="0" anchor="t">
            <a:normAutofit/>
          </a:bodyPr>
          <a:lstStyle/>
          <a:p>
            <a:pPr marL="0" indent="0" algn="l">
              <a:lnSpc>
                <a:spcPts val="3873"/>
              </a:lnSpc>
              <a:buNone/>
              <a:defRPr/>
            </a:pPr>
            <a:r>
              <a:rPr lang="en-US" sz="3500" b="1">
                <a:solidFill>
                  <a:srgbClr val="F4F1EA"/>
                </a:solidFill>
                <a:latin typeface="Oswald"/>
                <a:ea typeface="Oswald"/>
                <a:cs typeface="Oswald"/>
              </a:rPr>
              <a:t>27.5 N × 0.08 m</a:t>
            </a:r>
            <a:endParaRPr lang="en-US" sz="3500"/>
          </a:p>
        </p:txBody>
      </p:sp>
      <p:sp>
        <p:nvSpPr>
          <p:cNvPr id="456379797" name="Text 5"/>
          <p:cNvSpPr/>
          <p:nvPr/>
        </p:nvSpPr>
        <p:spPr bwMode="auto">
          <a:xfrm>
            <a:off x="6146800" y="3380879"/>
            <a:ext cx="5075428" cy="515144"/>
          </a:xfrm>
          <a:prstGeom prst="rect">
            <a:avLst/>
          </a:prstGeom>
          <a:noFill/>
          <a:ln/>
        </p:spPr>
        <p:txBody>
          <a:bodyPr wrap="square" lIns="0" tIns="0" rIns="0" bIns="0" rtlCol="0" anchor="t">
            <a:normAutofit/>
          </a:bodyPr>
          <a:lstStyle/>
          <a:p>
            <a:pPr marL="0" indent="0" algn="l">
              <a:lnSpc>
                <a:spcPts val="3873"/>
              </a:lnSpc>
              <a:buNone/>
              <a:defRPr/>
            </a:pPr>
            <a:r>
              <a:rPr lang="en-US" sz="3500" b="1">
                <a:solidFill>
                  <a:srgbClr val="FF7A1A"/>
                </a:solidFill>
                <a:latin typeface="Oswald"/>
                <a:ea typeface="Oswald"/>
                <a:cs typeface="Oswald"/>
              </a:rPr>
              <a:t>= 2.2 N·m</a:t>
            </a:r>
            <a:endParaRPr lang="en-US" sz="3500"/>
          </a:p>
        </p:txBody>
      </p:sp>
      <p:pic>
        <p:nvPicPr>
          <p:cNvPr id="1955242579" name="Image 0" descr="Lever diagram: the desk edge, the caddy box hanging out from it, and a downward force arrow about 80 millimetres from the edge"/>
          <p:cNvPicPr>
            <a:picLocks noChangeAspect="1"/>
          </p:cNvPicPr>
          <p:nvPr/>
        </p:nvPicPr>
        <p:blipFill rotWithShape="1">
          <a:blip r:embed="rId3"/>
          <a:srcRect l="-1331" t="0" r="-1331" b="0"/>
          <a:stretch/>
        </p:blipFill>
        <p:spPr bwMode="auto">
          <a:xfrm>
            <a:off x="6146800" y="3997623"/>
            <a:ext cx="4064000" cy="927795"/>
          </a:xfrm>
          <a:prstGeom prst="rect">
            <a:avLst/>
          </a:prstGeom>
        </p:spPr>
      </p:pic>
      <p:sp>
        <p:nvSpPr>
          <p:cNvPr id="747292483" name="Text 6"/>
          <p:cNvSpPr/>
          <p:nvPr/>
        </p:nvSpPr>
        <p:spPr bwMode="auto">
          <a:xfrm>
            <a:off x="6146800" y="5052417"/>
            <a:ext cx="5075428" cy="510183"/>
          </a:xfrm>
          <a:prstGeom prst="rect">
            <a:avLst/>
          </a:prstGeom>
          <a:noFill/>
          <a:ln/>
        </p:spPr>
        <p:txBody>
          <a:bodyPr wrap="square" lIns="0" tIns="0" rIns="0" bIns="0" rtlCol="0" anchor="t">
            <a:normAutofit/>
          </a:bodyPr>
          <a:lstStyle/>
          <a:p>
            <a:pPr marL="0" indent="0" algn="l">
              <a:lnSpc>
                <a:spcPts val="1911"/>
              </a:lnSpc>
              <a:buNone/>
              <a:defRPr/>
            </a:pPr>
            <a:r>
              <a:rPr lang="en-US" sz="1350">
                <a:solidFill>
                  <a:srgbClr val="C9CCD3"/>
                </a:solidFill>
                <a:latin typeface="DM Sans"/>
                <a:ea typeface="DM Sans"/>
                <a:cs typeface="DM Sans"/>
              </a:rPr>
              <a:t>The load (orange arrow) sits about 80 mm out from the desk edge (dashed line).</a:t>
            </a:r>
            <a:endParaRPr lang="en-US" sz="1350"/>
          </a:p>
        </p:txBody>
      </p:sp>
      <p:sp>
        <p:nvSpPr>
          <p:cNvPr id="1416664717" name="Text 7"/>
          <p:cNvSpPr/>
          <p:nvPr/>
        </p:nvSpPr>
        <p:spPr bwMode="auto">
          <a:xfrm>
            <a:off x="812800" y="6238280"/>
            <a:ext cx="7194549"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6F78"/>
                </a:solidFill>
                <a:latin typeface="DM Sans"/>
                <a:ea typeface="DM Sans"/>
                <a:cs typeface="DM Sans"/>
              </a:rPr>
              <a:t>Estimates for design purposes, to be confirmed with a weight test</a:t>
            </a:r>
            <a:endParaRPr lang="en-US" sz="1200"/>
          </a:p>
        </p:txBody>
      </p:sp>
      <p:sp>
        <p:nvSpPr>
          <p:cNvPr id="1333712849" name="Text 8"/>
          <p:cNvSpPr/>
          <p:nvPr/>
        </p:nvSpPr>
        <p:spPr bwMode="auto">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B6F78"/>
                </a:solidFill>
                <a:latin typeface="DM Sans"/>
                <a:ea typeface="DM Sans"/>
                <a:cs typeface="DM Sans"/>
              </a:rPr>
              <a:t>6 / 12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16181D"/>
        </a:solidFill>
      </p:bgPr>
    </p:bg>
    <p:spTree>
      <p:nvGrpSpPr>
        <p:cNvPr id="1" name=""/>
        <p:cNvGrpSpPr/>
        <p:nvPr/>
      </p:nvGrpSpPr>
      <p:grpSpPr bwMode="auto">
        <a:xfrm>
          <a:off x="0" y="0"/>
          <a:ext cx="0" cy="0"/>
          <a:chOff x="0" y="0"/>
          <a:chExt cx="0" cy="0"/>
        </a:xfrm>
      </p:grpSpPr>
      <p:sp>
        <p:nvSpPr>
          <p:cNvPr id="1331354373" name="Text 0"/>
          <p:cNvSpPr/>
          <p:nvPr/>
        </p:nvSpPr>
        <p:spPr bwMode="auto">
          <a:xfrm>
            <a:off x="812800" y="812800"/>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b="1" spc="200">
                <a:solidFill>
                  <a:srgbClr val="FF7A1A"/>
                </a:solidFill>
                <a:latin typeface="DM Sans"/>
                <a:ea typeface="DM Sans"/>
                <a:cs typeface="DM Sans"/>
              </a:rPr>
              <a:t>06 · THE MATERIAL</a:t>
            </a:r>
            <a:endParaRPr lang="en-US" sz="1400"/>
          </a:p>
        </p:txBody>
      </p:sp>
      <p:sp>
        <p:nvSpPr>
          <p:cNvPr id="584049355" name="Text 1"/>
          <p:cNvSpPr/>
          <p:nvPr>
            <p:ph type="title"/>
          </p:nvPr>
        </p:nvSpPr>
        <p:spPr bwMode="auto">
          <a:xfrm>
            <a:off x="812800" y="1163241"/>
            <a:ext cx="10883392" cy="665460"/>
          </a:xfrm>
          <a:prstGeom prst="rect">
            <a:avLst/>
          </a:prstGeom>
          <a:noFill/>
          <a:ln/>
        </p:spPr>
        <p:txBody>
          <a:bodyPr wrap="square" lIns="0" tIns="0" rIns="0" bIns="0" rtlCol="0" anchor="t">
            <a:normAutofit/>
          </a:bodyPr>
          <a:lstStyle/>
          <a:p>
            <a:pPr marL="0" indent="0" algn="l">
              <a:lnSpc>
                <a:spcPts val="5040"/>
              </a:lnSpc>
              <a:buNone/>
              <a:defRPr/>
            </a:pPr>
            <a:r>
              <a:rPr lang="en-US" sz="4800" b="1" i="0">
                <a:solidFill>
                  <a:srgbClr val="F4F1EA"/>
                </a:solidFill>
                <a:latin typeface="Oswald"/>
                <a:ea typeface="Oswald"/>
                <a:cs typeface="Oswald"/>
              </a:rPr>
              <a:t>PETG, NOT PLAIN PLA</a:t>
            </a:r>
            <a:endParaRPr lang="en-US" sz="4800"/>
          </a:p>
        </p:txBody>
      </p:sp>
      <p:sp>
        <p:nvSpPr>
          <p:cNvPr id="2122837906" name="Shape 2"/>
          <p:cNvSpPr/>
          <p:nvPr/>
        </p:nvSpPr>
        <p:spPr bwMode="auto">
          <a:xfrm>
            <a:off x="812800" y="2108101"/>
            <a:ext cx="5181600" cy="2303760"/>
          </a:xfrm>
          <a:prstGeom prst="roundRect">
            <a:avLst>
              <a:gd name="adj" fmla="val 4410"/>
            </a:avLst>
          </a:prstGeom>
          <a:solidFill>
            <a:srgbClr val="23262E"/>
          </a:solidFill>
          <a:ln/>
        </p:spPr>
      </p:sp>
      <p:sp>
        <p:nvSpPr>
          <p:cNvPr id="1167759559" name="Shape 3"/>
          <p:cNvSpPr/>
          <p:nvPr/>
        </p:nvSpPr>
        <p:spPr bwMode="auto">
          <a:xfrm>
            <a:off x="812800" y="2108101"/>
            <a:ext cx="5181600" cy="2303760"/>
          </a:xfrm>
          <a:custGeom>
            <a:avLst/>
            <a:gdLst/>
            <a:ahLst/>
            <a:cxnLst/>
            <a:rect l="l" t="t" r="r" b="b"/>
            <a:pathLst>
              <a:path w="5181600" h="2303760" fill="norm" stroke="1" extrusionOk="0">
                <a:moveTo>
                  <a:pt x="0" y="101600"/>
                </a:moveTo>
                <a:lnTo>
                  <a:pt x="0" y="101600"/>
                </a:lnTo>
                <a:arcTo wR="101600" hR="101600" stAng="10800000" swAng="5400000"/>
                <a:lnTo>
                  <a:pt x="5080000" y="0"/>
                </a:lnTo>
                <a:arcTo wR="101600" hR="101600" stAng="16200000" swAng="5400000"/>
                <a:lnTo>
                  <a:pt x="5181600" y="101600"/>
                </a:lnTo>
                <a:arcTo wR="101600" hR="63500" stAng="0" swAng="-5400000"/>
                <a:lnTo>
                  <a:pt x="101600" y="38100"/>
                </a:lnTo>
                <a:arcTo wR="101600" hR="63500" stAng="16200000" swAng="-5400000"/>
                <a:close/>
              </a:path>
            </a:pathLst>
          </a:custGeom>
          <a:solidFill>
            <a:srgbClr val="FF7A1A"/>
          </a:solidFill>
          <a:ln/>
        </p:spPr>
      </p:sp>
      <p:sp>
        <p:nvSpPr>
          <p:cNvPr id="1556370578" name="Text 4"/>
          <p:cNvSpPr/>
          <p:nvPr/>
        </p:nvSpPr>
        <p:spPr bwMode="auto">
          <a:xfrm>
            <a:off x="1117600" y="2451001"/>
            <a:ext cx="4709160" cy="360660"/>
          </a:xfrm>
          <a:prstGeom prst="rect">
            <a:avLst/>
          </a:prstGeom>
          <a:noFill/>
          <a:ln/>
        </p:spPr>
        <p:txBody>
          <a:bodyPr wrap="square" lIns="0" tIns="0" rIns="0" bIns="0" rtlCol="0" anchor="t">
            <a:normAutofit/>
          </a:bodyPr>
          <a:lstStyle/>
          <a:p>
            <a:pPr marL="0" indent="0" algn="l">
              <a:lnSpc>
                <a:spcPts val="2640"/>
              </a:lnSpc>
              <a:buNone/>
              <a:defRPr/>
            </a:pPr>
            <a:r>
              <a:rPr lang="en-US" sz="2200" b="1">
                <a:solidFill>
                  <a:srgbClr val="F4F1EA"/>
                </a:solidFill>
                <a:latin typeface="DM Sans"/>
                <a:ea typeface="DM Sans"/>
                <a:cs typeface="DM Sans"/>
              </a:rPr>
              <a:t>Why PLA is risky</a:t>
            </a:r>
            <a:endParaRPr lang="en-US" sz="2200"/>
          </a:p>
        </p:txBody>
      </p:sp>
      <p:sp>
        <p:nvSpPr>
          <p:cNvPr id="239906126" name="Text 5"/>
          <p:cNvSpPr/>
          <p:nvPr/>
        </p:nvSpPr>
        <p:spPr bwMode="auto">
          <a:xfrm>
            <a:off x="1181608" y="2887861"/>
            <a:ext cx="4637532" cy="1244600"/>
          </a:xfrm>
          <a:prstGeom prst="rect">
            <a:avLst/>
          </a:prstGeom>
          <a:noFill/>
          <a:ln/>
        </p:spPr>
        <p:txBody>
          <a:bodyPr wrap="square" lIns="0" tIns="0" rIns="0" bIns="0" rtlCol="0" anchor="t">
            <a:normAutofit/>
          </a:bodyPr>
          <a:lstStyle/>
          <a:p>
            <a:pPr marL="189992" indent="-189992" algn="l">
              <a:lnSpc>
                <a:spcPts val="2400"/>
              </a:lnSpc>
              <a:buSzPct val="100000"/>
              <a:buChar char="•"/>
              <a:defRPr/>
            </a:pPr>
            <a:r>
              <a:rPr lang="en-US" sz="1600">
                <a:solidFill>
                  <a:srgbClr val="C9CCD3"/>
                </a:solidFill>
                <a:latin typeface="DM Sans"/>
                <a:ea typeface="DM Sans"/>
                <a:cs typeface="DM Sans"/>
              </a:rPr>
              <a:t>Softens at roughly 55 to 60 °C</a:t>
            </a:r>
            <a:endParaRPr lang="en-US" sz="1600"/>
          </a:p>
          <a:p>
            <a:pPr marL="189992" indent="-189992" algn="l">
              <a:lnSpc>
                <a:spcPts val="2400"/>
              </a:lnSpc>
              <a:buSzPct val="100000"/>
              <a:buChar char="•"/>
              <a:defRPr/>
            </a:pPr>
            <a:r>
              <a:rPr lang="en-US" sz="1600">
                <a:solidFill>
                  <a:srgbClr val="C9CCD3"/>
                </a:solidFill>
                <a:latin typeface="DM Sans"/>
                <a:ea typeface="DM Sans"/>
                <a:cs typeface="DM Sans"/>
              </a:rPr>
              <a:t>Hot coffee can warp a thin base</a:t>
            </a:r>
            <a:endParaRPr lang="en-US" sz="1600"/>
          </a:p>
          <a:p>
            <a:pPr marL="189992" indent="-189992" algn="l">
              <a:lnSpc>
                <a:spcPts val="2400"/>
              </a:lnSpc>
              <a:buSzPct val="100000"/>
              <a:buChar char="•"/>
              <a:defRPr/>
            </a:pPr>
            <a:r>
              <a:rPr lang="en-US" sz="1600">
                <a:solidFill>
                  <a:srgbClr val="C9CCD3"/>
                </a:solidFill>
                <a:latin typeface="DM Sans"/>
                <a:ea typeface="DM Sans"/>
                <a:cs typeface="DM Sans"/>
              </a:rPr>
              <a:t>Slowly stretches under constant clamp pressure</a:t>
            </a:r>
            <a:endParaRPr lang="en-US" sz="1600"/>
          </a:p>
        </p:txBody>
      </p:sp>
      <p:sp>
        <p:nvSpPr>
          <p:cNvPr id="349108700" name="Shape 6"/>
          <p:cNvSpPr/>
          <p:nvPr/>
        </p:nvSpPr>
        <p:spPr bwMode="auto">
          <a:xfrm>
            <a:off x="6197600" y="2108101"/>
            <a:ext cx="5181600" cy="2303760"/>
          </a:xfrm>
          <a:prstGeom prst="roundRect">
            <a:avLst>
              <a:gd name="adj" fmla="val 4410"/>
            </a:avLst>
          </a:prstGeom>
          <a:solidFill>
            <a:srgbClr val="23262E"/>
          </a:solidFill>
          <a:ln/>
        </p:spPr>
      </p:sp>
      <p:sp>
        <p:nvSpPr>
          <p:cNvPr id="1752833558" name="Shape 7"/>
          <p:cNvSpPr/>
          <p:nvPr/>
        </p:nvSpPr>
        <p:spPr bwMode="auto">
          <a:xfrm>
            <a:off x="6197600" y="2108101"/>
            <a:ext cx="5181600" cy="2303760"/>
          </a:xfrm>
          <a:custGeom>
            <a:avLst/>
            <a:gdLst/>
            <a:ahLst/>
            <a:cxnLst/>
            <a:rect l="l" t="t" r="r" b="b"/>
            <a:pathLst>
              <a:path w="5181600" h="2303760" fill="norm" stroke="1" extrusionOk="0">
                <a:moveTo>
                  <a:pt x="0" y="101600"/>
                </a:moveTo>
                <a:lnTo>
                  <a:pt x="0" y="101600"/>
                </a:lnTo>
                <a:arcTo wR="101600" hR="101600" stAng="10800000" swAng="5400000"/>
                <a:lnTo>
                  <a:pt x="5080000" y="0"/>
                </a:lnTo>
                <a:arcTo wR="101600" hR="101600" stAng="16200000" swAng="5400000"/>
                <a:lnTo>
                  <a:pt x="5181600" y="101600"/>
                </a:lnTo>
                <a:arcTo wR="101600" hR="63500" stAng="0" swAng="-5400000"/>
                <a:lnTo>
                  <a:pt x="101600" y="38100"/>
                </a:lnTo>
                <a:arcTo wR="101600" hR="63500" stAng="16200000" swAng="-5400000"/>
                <a:close/>
              </a:path>
            </a:pathLst>
          </a:custGeom>
          <a:solidFill>
            <a:srgbClr val="4C9AFF"/>
          </a:solidFill>
          <a:ln/>
        </p:spPr>
      </p:sp>
      <p:sp>
        <p:nvSpPr>
          <p:cNvPr id="1247174242" name="Text 8"/>
          <p:cNvSpPr/>
          <p:nvPr/>
        </p:nvSpPr>
        <p:spPr bwMode="auto">
          <a:xfrm>
            <a:off x="6502400" y="2451001"/>
            <a:ext cx="4709160" cy="360660"/>
          </a:xfrm>
          <a:prstGeom prst="rect">
            <a:avLst/>
          </a:prstGeom>
          <a:noFill/>
          <a:ln/>
        </p:spPr>
        <p:txBody>
          <a:bodyPr wrap="square" lIns="0" tIns="0" rIns="0" bIns="0" rtlCol="0" anchor="t">
            <a:normAutofit/>
          </a:bodyPr>
          <a:lstStyle/>
          <a:p>
            <a:pPr marL="0" indent="0" algn="l">
              <a:lnSpc>
                <a:spcPts val="2640"/>
              </a:lnSpc>
              <a:buNone/>
              <a:defRPr/>
            </a:pPr>
            <a:r>
              <a:rPr lang="en-US" sz="2200" b="1">
                <a:solidFill>
                  <a:srgbClr val="F4F1EA"/>
                </a:solidFill>
                <a:latin typeface="DM Sans"/>
                <a:ea typeface="DM Sans"/>
                <a:cs typeface="DM Sans"/>
              </a:rPr>
              <a:t>Why PETG</a:t>
            </a:r>
            <a:endParaRPr lang="en-US" sz="2200"/>
          </a:p>
        </p:txBody>
      </p:sp>
      <p:sp>
        <p:nvSpPr>
          <p:cNvPr id="854001099" name="Text 9"/>
          <p:cNvSpPr/>
          <p:nvPr/>
        </p:nvSpPr>
        <p:spPr bwMode="auto">
          <a:xfrm>
            <a:off x="6566408" y="2887861"/>
            <a:ext cx="4637532" cy="939800"/>
          </a:xfrm>
          <a:prstGeom prst="rect">
            <a:avLst/>
          </a:prstGeom>
          <a:noFill/>
          <a:ln/>
        </p:spPr>
        <p:txBody>
          <a:bodyPr wrap="square" lIns="0" tIns="0" rIns="0" bIns="0" rtlCol="0" anchor="t">
            <a:normAutofit/>
          </a:bodyPr>
          <a:lstStyle/>
          <a:p>
            <a:pPr marL="189992" indent="-189992" algn="l">
              <a:lnSpc>
                <a:spcPts val="2400"/>
              </a:lnSpc>
              <a:buSzPct val="100000"/>
              <a:buChar char="•"/>
              <a:defRPr/>
            </a:pPr>
            <a:r>
              <a:rPr lang="en-US" sz="1600">
                <a:solidFill>
                  <a:srgbClr val="C9CCD3"/>
                </a:solidFill>
                <a:latin typeface="DM Sans"/>
                <a:ea typeface="DM Sans"/>
                <a:cs typeface="DM Sans"/>
              </a:rPr>
              <a:t>Handles hotter drinks than PLA</a:t>
            </a:r>
            <a:endParaRPr lang="en-US" sz="1600"/>
          </a:p>
          <a:p>
            <a:pPr marL="189992" indent="-189992" algn="l">
              <a:lnSpc>
                <a:spcPts val="2400"/>
              </a:lnSpc>
              <a:buSzPct val="100000"/>
              <a:buChar char="•"/>
              <a:defRPr/>
            </a:pPr>
            <a:r>
              <a:rPr lang="en-US" sz="1600">
                <a:solidFill>
                  <a:srgbClr val="C9CCD3"/>
                </a:solidFill>
                <a:latin typeface="DM Sans"/>
                <a:ea typeface="DM Sans"/>
                <a:cs typeface="DM Sans"/>
              </a:rPr>
              <a:t>Flexes slightly before it snaps</a:t>
            </a:r>
            <a:endParaRPr lang="en-US" sz="1600"/>
          </a:p>
          <a:p>
            <a:pPr marL="189992" indent="-189992" algn="l">
              <a:lnSpc>
                <a:spcPts val="2400"/>
              </a:lnSpc>
              <a:buSzPct val="100000"/>
              <a:buChar char="•"/>
              <a:defRPr/>
            </a:pPr>
            <a:r>
              <a:rPr lang="en-US" sz="1600">
                <a:solidFill>
                  <a:srgbClr val="C9CCD3"/>
                </a:solidFill>
                <a:latin typeface="DM Sans"/>
                <a:ea typeface="DM Sans"/>
                <a:cs typeface="DM Sans"/>
              </a:rPr>
              <a:t>Resists the clamp slowly going loose</a:t>
            </a:r>
            <a:endParaRPr lang="en-US" sz="1600"/>
          </a:p>
        </p:txBody>
      </p:sp>
      <p:sp>
        <p:nvSpPr>
          <p:cNvPr id="1469939428" name="Text 10"/>
          <p:cNvSpPr/>
          <p:nvPr/>
        </p:nvSpPr>
        <p:spPr bwMode="auto">
          <a:xfrm>
            <a:off x="812800" y="4716661"/>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a:solidFill>
                  <a:srgbClr val="C9CCD3"/>
                </a:solidFill>
                <a:latin typeface="DM Sans"/>
                <a:ea typeface="DM Sans"/>
                <a:cs typeface="DM Sans"/>
              </a:rPr>
              <a:t>ABS or ASA also work. If only PLA is available, add a cork coaster in the mug pocket.</a:t>
            </a:r>
            <a:endParaRPr lang="en-US" sz="1400"/>
          </a:p>
        </p:txBody>
      </p:sp>
      <p:sp>
        <p:nvSpPr>
          <p:cNvPr id="449686634" name="Text 11"/>
          <p:cNvSpPr/>
          <p:nvPr/>
        </p:nvSpPr>
        <p:spPr bwMode="auto">
          <a:xfrm>
            <a:off x="812800" y="6238280"/>
            <a:ext cx="7194549"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8F94A0"/>
                </a:solidFill>
                <a:latin typeface="DM Sans"/>
                <a:ea typeface="DM Sans"/>
                <a:cs typeface="DM Sans"/>
              </a:rPr>
              <a:t>Temperatures are typical values and vary by filament brand</a:t>
            </a:r>
            <a:endParaRPr lang="en-US" sz="1200"/>
          </a:p>
        </p:txBody>
      </p:sp>
      <p:sp>
        <p:nvSpPr>
          <p:cNvPr id="2144511993" name="Text 12"/>
          <p:cNvSpPr/>
          <p:nvPr/>
        </p:nvSpPr>
        <p:spPr bwMode="auto">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8F94A0"/>
                </a:solidFill>
                <a:latin typeface="DM Sans"/>
                <a:ea typeface="DM Sans"/>
                <a:cs typeface="DM Sans"/>
              </a:rPr>
              <a:t>7 / 12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4F1EA"/>
        </a:solidFill>
      </p:bgPr>
    </p:bg>
    <p:spTree>
      <p:nvGrpSpPr>
        <p:cNvPr id="1" name=""/>
        <p:cNvGrpSpPr/>
        <p:nvPr/>
      </p:nvGrpSpPr>
      <p:grpSpPr bwMode="auto">
        <a:xfrm>
          <a:off x="0" y="0"/>
          <a:ext cx="0" cy="0"/>
          <a:chOff x="0" y="0"/>
          <a:chExt cx="0" cy="0"/>
        </a:xfrm>
      </p:grpSpPr>
      <p:sp>
        <p:nvSpPr>
          <p:cNvPr id="760774998" name="Text 0"/>
          <p:cNvSpPr/>
          <p:nvPr/>
        </p:nvSpPr>
        <p:spPr bwMode="auto">
          <a:xfrm>
            <a:off x="812800" y="812800"/>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b="1" spc="200">
                <a:solidFill>
                  <a:srgbClr val="C2410C"/>
                </a:solidFill>
                <a:latin typeface="DM Sans"/>
                <a:ea typeface="DM Sans"/>
                <a:cs typeface="DM Sans"/>
              </a:rPr>
              <a:t>07 · CAD DIMENSIONS</a:t>
            </a:r>
            <a:endParaRPr lang="en-US" sz="1400"/>
          </a:p>
        </p:txBody>
      </p:sp>
      <p:sp>
        <p:nvSpPr>
          <p:cNvPr id="1939705041" name="Text 1"/>
          <p:cNvSpPr/>
          <p:nvPr>
            <p:ph type="title"/>
          </p:nvPr>
        </p:nvSpPr>
        <p:spPr bwMode="auto">
          <a:xfrm>
            <a:off x="812800" y="1163241"/>
            <a:ext cx="10883392" cy="665460"/>
          </a:xfrm>
          <a:prstGeom prst="rect">
            <a:avLst/>
          </a:prstGeom>
          <a:noFill/>
          <a:ln/>
        </p:spPr>
        <p:txBody>
          <a:bodyPr wrap="square" lIns="0" tIns="0" rIns="0" bIns="0" rtlCol="0" anchor="t">
            <a:normAutofit/>
          </a:bodyPr>
          <a:lstStyle/>
          <a:p>
            <a:pPr marL="0" indent="0" algn="l">
              <a:lnSpc>
                <a:spcPts val="5040"/>
              </a:lnSpc>
              <a:buNone/>
              <a:defRPr/>
            </a:pPr>
            <a:r>
              <a:rPr lang="en-US" sz="4800" b="1" i="0">
                <a:solidFill>
                  <a:srgbClr val="1B1D22"/>
                </a:solidFill>
                <a:latin typeface="Oswald"/>
                <a:ea typeface="Oswald"/>
                <a:cs typeface="Oswald"/>
              </a:rPr>
              <a:t>TARGET SIZES FOR THE MODEL</a:t>
            </a:r>
            <a:endParaRPr lang="en-US" sz="4800"/>
          </a:p>
        </p:txBody>
      </p:sp>
      <p:graphicFrame>
        <p:nvGraphicFramePr>
          <p:cNvPr id="341797809" name="Table 0"/>
          <p:cNvGraphicFramePr>
            <a:graphicFrameLocks xmlns:a="http://schemas.openxmlformats.org/drawingml/2006/main" noGrp="1"/>
          </p:cNvGraphicFramePr>
          <p:nvPr/>
        </p:nvGraphicFramePr>
        <p:xfrm rot="0">
          <a:off x="825500" y="2070001"/>
          <a:ext cx="10553700" cy="3722488"/>
        </p:xfrm>
        <a:graphic>
          <a:graphicData uri="http://schemas.openxmlformats.org/drawingml/2006/table">
            <a:tbl>
              <a:tblPr firstRow="0" firstCol="0" lastRow="0" lastCol="0" bandRow="0" bandCol="0"/>
              <a:tblGrid>
                <a:gridCol w="3166110"/>
                <a:gridCol w="2638425"/>
                <a:gridCol w="4749164"/>
              </a:tblGrid>
              <a:tr h="385961">
                <a:tc>
                  <a:txBody>
                    <a:bodyPr/>
                    <a:p>
                      <a:pPr marL="0" indent="0">
                        <a:lnSpc>
                          <a:spcPts val="1960"/>
                        </a:lnSpc>
                        <a:buNone/>
                        <a:defRPr/>
                      </a:pPr>
                      <a:r>
                        <a:rPr lang="en-US" sz="1400" b="1">
                          <a:solidFill>
                            <a:srgbClr val="1B1D22"/>
                          </a:solidFill>
                          <a:latin typeface="DM Sans"/>
                          <a:ea typeface="DM Sans"/>
                          <a:cs typeface="DM Sans"/>
                        </a:rPr>
                        <a:t>Feature</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B5B2AD"/>
                      </a:solidFill>
                    </a:lnR>
                    <a:lnT w="12700" algn="ctr">
                      <a:solidFill>
                        <a:srgbClr val="C3C0BB"/>
                      </a:solidFill>
                    </a:lnT>
                    <a:lnB w="12700" algn="ctr">
                      <a:solidFill>
                        <a:srgbClr val="B5B2AD"/>
                      </a:solidFill>
                    </a:lnB>
                    <a:solidFill>
                      <a:srgbClr val="E2DFD9"/>
                    </a:solidFill>
                  </a:tcPr>
                </a:tc>
                <a:tc>
                  <a:txBody>
                    <a:bodyPr/>
                    <a:p>
                      <a:pPr marL="0" indent="0">
                        <a:lnSpc>
                          <a:spcPts val="1960"/>
                        </a:lnSpc>
                        <a:buNone/>
                        <a:defRPr/>
                      </a:pPr>
                      <a:r>
                        <a:rPr lang="en-US" sz="1400" b="1">
                          <a:solidFill>
                            <a:srgbClr val="1B1D22"/>
                          </a:solidFill>
                          <a:latin typeface="DM Sans"/>
                          <a:ea typeface="DM Sans"/>
                          <a:cs typeface="DM Sans"/>
                        </a:rPr>
                        <a:t>Target</a:t>
                      </a:r>
                      <a:endParaRPr lang="en-US" sz="1400">
                        <a:latin typeface="DM Sans"/>
                        <a:ea typeface="DM Sans"/>
                        <a:cs typeface="DM Sans"/>
                      </a:endParaRPr>
                    </a:p>
                  </a:txBody>
                  <a:tcPr marL="62230" marR="62230" marT="62230" marB="62230" anchor="t">
                    <a:lnL w="12700" algn="ctr">
                      <a:solidFill>
                        <a:srgbClr val="B5B2AD"/>
                      </a:solidFill>
                    </a:lnL>
                    <a:lnR w="12700" algn="ctr">
                      <a:solidFill>
                        <a:srgbClr val="B5B2AD"/>
                      </a:solidFill>
                    </a:lnR>
                    <a:lnT w="12700" algn="ctr">
                      <a:solidFill>
                        <a:srgbClr val="C3C0BB"/>
                      </a:solidFill>
                    </a:lnT>
                    <a:lnB w="12700" algn="ctr">
                      <a:solidFill>
                        <a:srgbClr val="B5B2AD"/>
                      </a:solidFill>
                    </a:lnB>
                    <a:solidFill>
                      <a:srgbClr val="E2DFD9"/>
                    </a:solidFill>
                  </a:tcPr>
                </a:tc>
                <a:tc>
                  <a:txBody>
                    <a:bodyPr/>
                    <a:p>
                      <a:pPr marL="0" indent="0">
                        <a:lnSpc>
                          <a:spcPts val="1960"/>
                        </a:lnSpc>
                        <a:buNone/>
                        <a:defRPr/>
                      </a:pPr>
                      <a:r>
                        <a:rPr lang="en-US" sz="1400" b="1">
                          <a:solidFill>
                            <a:srgbClr val="1B1D22"/>
                          </a:solidFill>
                          <a:latin typeface="DM Sans"/>
                          <a:ea typeface="DM Sans"/>
                          <a:cs typeface="DM Sans"/>
                        </a:rPr>
                        <a:t>Reason</a:t>
                      </a:r>
                      <a:endParaRPr lang="en-US" sz="1400">
                        <a:latin typeface="DM Sans"/>
                        <a:ea typeface="DM Sans"/>
                        <a:cs typeface="DM Sans"/>
                      </a:endParaRPr>
                    </a:p>
                  </a:txBody>
                  <a:tcPr marL="62230" marR="62230" marT="62230" marB="62230" anchor="t">
                    <a:lnL w="12700" algn="ctr">
                      <a:solidFill>
                        <a:srgbClr val="B5B2AD"/>
                      </a:solidFill>
                    </a:lnL>
                    <a:lnR w="12700" algn="ctr">
                      <a:solidFill>
                        <a:srgbClr val="B5B2AD"/>
                      </a:solidFill>
                    </a:lnR>
                    <a:lnT w="12700" algn="ctr">
                      <a:solidFill>
                        <a:srgbClr val="C3C0BB"/>
                      </a:solidFill>
                    </a:lnT>
                    <a:lnB w="12700" algn="ctr">
                      <a:solidFill>
                        <a:srgbClr val="B5B2AD"/>
                      </a:solidFill>
                    </a:lnB>
                    <a:solidFill>
                      <a:srgbClr val="E2DFD9"/>
                    </a:solidFill>
                  </a:tcPr>
                </a:tc>
              </a:tr>
              <a:tr h="385961">
                <a:tc>
                  <a:txBody>
                    <a:bodyPr/>
                    <a:p>
                      <a:pPr marL="0" indent="0">
                        <a:lnSpc>
                          <a:spcPts val="1960"/>
                        </a:lnSpc>
                        <a:buNone/>
                        <a:defRPr/>
                      </a:pPr>
                      <a:r>
                        <a:rPr lang="en-US" sz="1400">
                          <a:solidFill>
                            <a:srgbClr val="1B1D22"/>
                          </a:solidFill>
                          <a:latin typeface="DM Sans"/>
                          <a:ea typeface="DM Sans"/>
                          <a:cs typeface="DM Sans"/>
                        </a:rPr>
                        <a:t>Caddy box (L × W × H)</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B5B2AD"/>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195 × 105 × 90 mm</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B5B2AD"/>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Fits a 220 × 220 mm bed</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B5B2AD"/>
                      </a:solidFill>
                    </a:lnT>
                    <a:lnB w="12700" algn="ctr">
                      <a:solidFill>
                        <a:srgbClr val="C3C0BB"/>
                      </a:solidFill>
                    </a:lnB>
                  </a:tcPr>
                </a:tc>
              </a:tr>
              <a:tr h="385961">
                <a:tc>
                  <a:txBody>
                    <a:bodyPr/>
                    <a:p>
                      <a:pPr marL="0" indent="0">
                        <a:lnSpc>
                          <a:spcPts val="1960"/>
                        </a:lnSpc>
                        <a:buNone/>
                        <a:defRPr/>
                      </a:pPr>
                      <a:r>
                        <a:rPr lang="en-US" sz="1400">
                          <a:solidFill>
                            <a:srgbClr val="1B1D22"/>
                          </a:solidFill>
                          <a:latin typeface="DM Sans"/>
                          <a:ea typeface="DM Sans"/>
                          <a:cs typeface="DM Sans"/>
                        </a:rPr>
                        <a:t>Walls and floor</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3.6 mm and 4 mm</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Stiff, many solid lines per wall</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r>
              <a:tr h="385961">
                <a:tc>
                  <a:txBody>
                    <a:bodyPr/>
                    <a:p>
                      <a:pPr marL="0" indent="0">
                        <a:lnSpc>
                          <a:spcPts val="1960"/>
                        </a:lnSpc>
                        <a:buNone/>
                        <a:defRPr/>
                      </a:pPr>
                      <a:r>
                        <a:rPr lang="en-US" sz="1400">
                          <a:solidFill>
                            <a:srgbClr val="1B1D22"/>
                          </a:solidFill>
                          <a:latin typeface="DM Sans"/>
                          <a:ea typeface="DM Sans"/>
                          <a:cs typeface="DM Sans"/>
                        </a:rPr>
                        <a:t>Mug pocket</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92 mm inner diameter</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Fits mugs of 80 to 88 mm</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r>
              <a:tr h="385961">
                <a:tc>
                  <a:txBody>
                    <a:bodyPr/>
                    <a:p>
                      <a:pPr marL="0" indent="0">
                        <a:lnSpc>
                          <a:spcPts val="1960"/>
                        </a:lnSpc>
                        <a:buNone/>
                        <a:defRPr/>
                      </a:pPr>
                      <a:r>
                        <a:rPr lang="en-US" sz="1400">
                          <a:solidFill>
                            <a:srgbClr val="1B1D22"/>
                          </a:solidFill>
                          <a:latin typeface="DM Sans"/>
                          <a:ea typeface="DM Sans"/>
                          <a:cs typeface="DM Sans"/>
                        </a:rPr>
                        <a:t>Mug handle slot</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22 × 65 mm</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Rounded entry so the handle slides in</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r>
              <a:tr h="385961">
                <a:tc>
                  <a:txBody>
                    <a:bodyPr/>
                    <a:p>
                      <a:pPr marL="0" indent="0">
                        <a:lnSpc>
                          <a:spcPts val="1960"/>
                        </a:lnSpc>
                        <a:buNone/>
                        <a:defRPr/>
                      </a:pPr>
                      <a:r>
                        <a:rPr lang="en-US" sz="1400">
                          <a:solidFill>
                            <a:srgbClr val="1B1D22"/>
                          </a:solidFill>
                          <a:latin typeface="DM Sans"/>
                          <a:ea typeface="DM Sans"/>
                          <a:cs typeface="DM Sans"/>
                        </a:rPr>
                        <a:t>Clamp opening</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55 mm, 12 mm spine</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Fits desks 12 to 48 mm thick</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r>
              <a:tr h="385961">
                <a:tc>
                  <a:txBody>
                    <a:bodyPr/>
                    <a:p>
                      <a:pPr marL="0" indent="0">
                        <a:lnSpc>
                          <a:spcPts val="1960"/>
                        </a:lnSpc>
                        <a:buNone/>
                        <a:defRPr/>
                      </a:pPr>
                      <a:r>
                        <a:rPr lang="en-US" sz="1400">
                          <a:solidFill>
                            <a:srgbClr val="1B1D22"/>
                          </a:solidFill>
                          <a:latin typeface="DM Sans"/>
                          <a:ea typeface="DM Sans"/>
                          <a:cs typeface="DM Sans"/>
                        </a:rPr>
                        <a:t>Clamp inner corners</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6 mm fillet</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Avoids a crack-starting sharp corner</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r>
              <a:tr h="634802">
                <a:tc>
                  <a:txBody>
                    <a:bodyPr/>
                    <a:p>
                      <a:pPr marL="0" indent="0">
                        <a:lnSpc>
                          <a:spcPts val="1960"/>
                        </a:lnSpc>
                        <a:buNone/>
                        <a:defRPr/>
                      </a:pPr>
                      <a:r>
                        <a:rPr lang="en-US" sz="1400">
                          <a:solidFill>
                            <a:srgbClr val="1B1D22"/>
                          </a:solidFill>
                          <a:latin typeface="DM Sans"/>
                          <a:ea typeface="DM Sans"/>
                          <a:cs typeface="DM Sans"/>
                        </a:rPr>
                        <a:t>Screw thread</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16 mm, offset 0.25 to 0.30 mm</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Turns without binding</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r>
              <a:tr h="385961">
                <a:tc>
                  <a:txBody>
                    <a:bodyPr/>
                    <a:p>
                      <a:pPr marL="0" indent="0">
                        <a:lnSpc>
                          <a:spcPts val="1960"/>
                        </a:lnSpc>
                        <a:buNone/>
                        <a:defRPr/>
                      </a:pPr>
                      <a:r>
                        <a:rPr lang="en-US" sz="1400">
                          <a:solidFill>
                            <a:srgbClr val="1B1D22"/>
                          </a:solidFill>
                          <a:latin typeface="DM Sans"/>
                          <a:ea typeface="DM Sans"/>
                          <a:cs typeface="DM Sans"/>
                        </a:rPr>
                        <a:t>Dovetail joints</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60° angle, 0.25 mm gap</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c>
                  <a:txBody>
                    <a:bodyPr/>
                    <a:p>
                      <a:pPr marL="0" indent="0">
                        <a:lnSpc>
                          <a:spcPts val="1960"/>
                        </a:lnSpc>
                        <a:buNone/>
                        <a:defRPr/>
                      </a:pPr>
                      <a:r>
                        <a:rPr lang="en-US" sz="1400">
                          <a:solidFill>
                            <a:srgbClr val="1B1D22"/>
                          </a:solidFill>
                          <a:latin typeface="DM Sans"/>
                          <a:ea typeface="DM Sans"/>
                          <a:cs typeface="DM Sans"/>
                        </a:rPr>
                        <a:t>Parts lock together by gravity</a:t>
                      </a:r>
                      <a:endParaRPr lang="en-US" sz="1400">
                        <a:latin typeface="DM Sans"/>
                        <a:ea typeface="DM Sans"/>
                        <a:cs typeface="DM Sans"/>
                      </a:endParaRPr>
                    </a:p>
                  </a:txBody>
                  <a:tcPr marL="62230" marR="62230" marT="62230" marB="62230" anchor="t">
                    <a:lnL w="12700" algn="ctr">
                      <a:solidFill>
                        <a:srgbClr val="C3C0BB"/>
                      </a:solidFill>
                    </a:lnL>
                    <a:lnR w="12700" algn="ctr">
                      <a:solidFill>
                        <a:srgbClr val="C3C0BB"/>
                      </a:solidFill>
                    </a:lnR>
                    <a:lnT w="12700" algn="ctr">
                      <a:solidFill>
                        <a:srgbClr val="C3C0BB"/>
                      </a:solidFill>
                    </a:lnT>
                    <a:lnB w="12700" algn="ctr">
                      <a:solidFill>
                        <a:srgbClr val="C3C0BB"/>
                      </a:solidFill>
                    </a:lnB>
                  </a:tcPr>
                </a:tc>
              </a:tr>
            </a:tbl>
          </a:graphicData>
        </a:graphic>
      </p:graphicFrame>
      <p:sp>
        <p:nvSpPr>
          <p:cNvPr id="1748666691" name="Text 2"/>
          <p:cNvSpPr/>
          <p:nvPr/>
        </p:nvSpPr>
        <p:spPr bwMode="auto">
          <a:xfrm>
            <a:off x="812800" y="6238280"/>
            <a:ext cx="7194549"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6F78"/>
                </a:solidFill>
                <a:latin typeface="DM Sans"/>
                <a:ea typeface="DM Sans"/>
                <a:cs typeface="DM Sans"/>
              </a:rPr>
              <a:t>Starting values, to be tuned after the first test print</a:t>
            </a:r>
            <a:endParaRPr lang="en-US" sz="1200"/>
          </a:p>
        </p:txBody>
      </p:sp>
      <p:sp>
        <p:nvSpPr>
          <p:cNvPr id="246031355" name="Text 3"/>
          <p:cNvSpPr/>
          <p:nvPr/>
        </p:nvSpPr>
        <p:spPr bwMode="auto">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B6F78"/>
                </a:solidFill>
                <a:latin typeface="DM Sans"/>
                <a:ea typeface="DM Sans"/>
                <a:cs typeface="DM Sans"/>
              </a:rPr>
              <a:t>8 / 12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16181D"/>
        </a:solidFill>
      </p:bgPr>
    </p:bg>
    <p:spTree>
      <p:nvGrpSpPr>
        <p:cNvPr id="1" name=""/>
        <p:cNvGrpSpPr/>
        <p:nvPr/>
      </p:nvGrpSpPr>
      <p:grpSpPr bwMode="auto">
        <a:xfrm>
          <a:off x="0" y="0"/>
          <a:ext cx="0" cy="0"/>
          <a:chOff x="0" y="0"/>
          <a:chExt cx="0" cy="0"/>
        </a:xfrm>
      </p:grpSpPr>
      <p:sp>
        <p:nvSpPr>
          <p:cNvPr id="464263417" name="Text 0"/>
          <p:cNvSpPr/>
          <p:nvPr/>
        </p:nvSpPr>
        <p:spPr bwMode="auto">
          <a:xfrm>
            <a:off x="812800" y="812800"/>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b="1" spc="200">
                <a:solidFill>
                  <a:srgbClr val="FF7A1A"/>
                </a:solidFill>
                <a:latin typeface="DM Sans"/>
                <a:ea typeface="DM Sans"/>
                <a:cs typeface="DM Sans"/>
              </a:rPr>
              <a:t>08 · SLICER SETTINGS</a:t>
            </a:r>
            <a:endParaRPr lang="en-US" sz="1400"/>
          </a:p>
        </p:txBody>
      </p:sp>
      <p:sp>
        <p:nvSpPr>
          <p:cNvPr id="1837808846" name="Text 1"/>
          <p:cNvSpPr/>
          <p:nvPr>
            <p:ph type="title"/>
          </p:nvPr>
        </p:nvSpPr>
        <p:spPr bwMode="auto">
          <a:xfrm>
            <a:off x="812800" y="1163241"/>
            <a:ext cx="10883392" cy="665460"/>
          </a:xfrm>
          <a:prstGeom prst="rect">
            <a:avLst/>
          </a:prstGeom>
          <a:noFill/>
          <a:ln/>
        </p:spPr>
        <p:txBody>
          <a:bodyPr wrap="square" lIns="0" tIns="0" rIns="0" bIns="0" rtlCol="0" anchor="t">
            <a:normAutofit/>
          </a:bodyPr>
          <a:lstStyle/>
          <a:p>
            <a:pPr marL="0" indent="0" algn="l">
              <a:lnSpc>
                <a:spcPts val="5040"/>
              </a:lnSpc>
              <a:buNone/>
              <a:defRPr/>
            </a:pPr>
            <a:r>
              <a:rPr lang="en-US" sz="4800" b="1" i="0">
                <a:solidFill>
                  <a:srgbClr val="F4F1EA"/>
                </a:solidFill>
                <a:latin typeface="Oswald"/>
                <a:ea typeface="Oswald"/>
                <a:cs typeface="Oswald"/>
              </a:rPr>
              <a:t>STRONG PARTS, FAST BOX</a:t>
            </a:r>
            <a:endParaRPr lang="en-US" sz="4800"/>
          </a:p>
        </p:txBody>
      </p:sp>
      <p:graphicFrame>
        <p:nvGraphicFramePr>
          <p:cNvPr id="1795098962" name="Table 0"/>
          <p:cNvGraphicFramePr>
            <a:graphicFrameLocks xmlns:a="http://schemas.openxmlformats.org/drawingml/2006/main" noGrp="1"/>
          </p:cNvGraphicFramePr>
          <p:nvPr/>
        </p:nvGraphicFramePr>
        <p:xfrm rot="0">
          <a:off x="825500" y="2070001"/>
          <a:ext cx="10553700" cy="2701727"/>
        </p:xfrm>
        <a:graphic>
          <a:graphicData uri="http://schemas.openxmlformats.org/drawingml/2006/table">
            <a:tbl>
              <a:tblPr firstRow="0" firstCol="0" lastRow="0" lastCol="0" bandRow="0" bandCol="0"/>
              <a:tblGrid>
                <a:gridCol w="2955036"/>
                <a:gridCol w="3799332"/>
                <a:gridCol w="3799332"/>
              </a:tblGrid>
              <a:tr h="385961">
                <a:tc>
                  <a:txBody>
                    <a:bodyPr/>
                    <a:p>
                      <a:pPr marL="0" indent="0">
                        <a:lnSpc>
                          <a:spcPts val="1960"/>
                        </a:lnSpc>
                        <a:buNone/>
                        <a:defRPr/>
                      </a:pPr>
                      <a:r>
                        <a:rPr lang="en-US" sz="1400" b="1">
                          <a:solidFill>
                            <a:srgbClr val="F4F1EA"/>
                          </a:solidFill>
                          <a:latin typeface="DM Sans"/>
                          <a:ea typeface="DM Sans"/>
                          <a:cs typeface="DM Sans"/>
                        </a:rPr>
                        <a:t>Setting</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56585A"/>
                      </a:solidFill>
                    </a:lnR>
                    <a:lnT w="12700" algn="ctr">
                      <a:solidFill>
                        <a:srgbClr val="484A4D"/>
                      </a:solidFill>
                    </a:lnT>
                    <a:lnB w="12700" algn="ctr">
                      <a:solidFill>
                        <a:srgbClr val="56585A"/>
                      </a:solidFill>
                    </a:lnB>
                    <a:solidFill>
                      <a:srgbClr val="282A2E"/>
                    </a:solidFill>
                  </a:tcPr>
                </a:tc>
                <a:tc>
                  <a:txBody>
                    <a:bodyPr/>
                    <a:p>
                      <a:pPr marL="0" indent="0">
                        <a:lnSpc>
                          <a:spcPts val="1960"/>
                        </a:lnSpc>
                        <a:buNone/>
                        <a:defRPr/>
                      </a:pPr>
                      <a:r>
                        <a:rPr lang="en-US" sz="1400" b="1">
                          <a:solidFill>
                            <a:srgbClr val="F4F1EA"/>
                          </a:solidFill>
                          <a:latin typeface="DM Sans"/>
                          <a:ea typeface="DM Sans"/>
                          <a:cs typeface="DM Sans"/>
                        </a:rPr>
                        <a:t>Clamp, screw and hook</a:t>
                      </a:r>
                      <a:endParaRPr lang="en-US" sz="1400">
                        <a:latin typeface="DM Sans"/>
                        <a:ea typeface="DM Sans"/>
                        <a:cs typeface="DM Sans"/>
                      </a:endParaRPr>
                    </a:p>
                  </a:txBody>
                  <a:tcPr marL="62230" marR="62230" marT="62230" marB="62230" anchor="t">
                    <a:lnL w="12700" algn="ctr">
                      <a:solidFill>
                        <a:srgbClr val="56585A"/>
                      </a:solidFill>
                    </a:lnL>
                    <a:lnR w="12700" algn="ctr">
                      <a:solidFill>
                        <a:srgbClr val="56585A"/>
                      </a:solidFill>
                    </a:lnR>
                    <a:lnT w="12700" algn="ctr">
                      <a:solidFill>
                        <a:srgbClr val="484A4D"/>
                      </a:solidFill>
                    </a:lnT>
                    <a:lnB w="12700" algn="ctr">
                      <a:solidFill>
                        <a:srgbClr val="56585A"/>
                      </a:solidFill>
                    </a:lnB>
                    <a:solidFill>
                      <a:srgbClr val="282A2E"/>
                    </a:solidFill>
                  </a:tcPr>
                </a:tc>
                <a:tc>
                  <a:txBody>
                    <a:bodyPr/>
                    <a:p>
                      <a:pPr marL="0" indent="0">
                        <a:lnSpc>
                          <a:spcPts val="1960"/>
                        </a:lnSpc>
                        <a:buNone/>
                        <a:defRPr/>
                      </a:pPr>
                      <a:r>
                        <a:rPr lang="en-US" sz="1400" b="1">
                          <a:solidFill>
                            <a:srgbClr val="F4F1EA"/>
                          </a:solidFill>
                          <a:latin typeface="DM Sans"/>
                          <a:ea typeface="DM Sans"/>
                          <a:cs typeface="DM Sans"/>
                        </a:rPr>
                        <a:t>Caddy box</a:t>
                      </a:r>
                      <a:endParaRPr lang="en-US" sz="1400">
                        <a:latin typeface="DM Sans"/>
                        <a:ea typeface="DM Sans"/>
                        <a:cs typeface="DM Sans"/>
                      </a:endParaRPr>
                    </a:p>
                  </a:txBody>
                  <a:tcPr marL="62230" marR="62230" marT="62230" marB="62230" anchor="t">
                    <a:lnL w="12700" algn="ctr">
                      <a:solidFill>
                        <a:srgbClr val="56585A"/>
                      </a:solidFill>
                    </a:lnL>
                    <a:lnR w="12700" algn="ctr">
                      <a:solidFill>
                        <a:srgbClr val="56585A"/>
                      </a:solidFill>
                    </a:lnR>
                    <a:lnT w="12700" algn="ctr">
                      <a:solidFill>
                        <a:srgbClr val="484A4D"/>
                      </a:solidFill>
                    </a:lnT>
                    <a:lnB w="12700" algn="ctr">
                      <a:solidFill>
                        <a:srgbClr val="56585A"/>
                      </a:solidFill>
                    </a:lnB>
                    <a:solidFill>
                      <a:srgbClr val="282A2E"/>
                    </a:solidFill>
                  </a:tcPr>
                </a:tc>
              </a:tr>
              <a:tr h="385961">
                <a:tc>
                  <a:txBody>
                    <a:bodyPr/>
                    <a:p>
                      <a:pPr marL="0" indent="0">
                        <a:lnSpc>
                          <a:spcPts val="1960"/>
                        </a:lnSpc>
                        <a:buNone/>
                        <a:defRPr/>
                      </a:pPr>
                      <a:r>
                        <a:rPr lang="en-US" sz="1400">
                          <a:solidFill>
                            <a:srgbClr val="F4F1EA"/>
                          </a:solidFill>
                          <a:latin typeface="DM Sans"/>
                          <a:ea typeface="DM Sans"/>
                          <a:cs typeface="DM Sans"/>
                        </a:rPr>
                        <a:t>Orientation</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56585A"/>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Flat on its side (screw upright)</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56585A"/>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Upright, base on the bed</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56585A"/>
                      </a:solidFill>
                    </a:lnT>
                    <a:lnB w="12700" algn="ctr">
                      <a:solidFill>
                        <a:srgbClr val="484A4D"/>
                      </a:solidFill>
                    </a:lnB>
                  </a:tcPr>
                </a:tc>
              </a:tr>
              <a:tr h="385961">
                <a:tc>
                  <a:txBody>
                    <a:bodyPr/>
                    <a:p>
                      <a:pPr marL="0" indent="0">
                        <a:lnSpc>
                          <a:spcPts val="1960"/>
                        </a:lnSpc>
                        <a:buNone/>
                        <a:defRPr/>
                      </a:pPr>
                      <a:r>
                        <a:rPr lang="en-US" sz="1400">
                          <a:solidFill>
                            <a:srgbClr val="F4F1EA"/>
                          </a:solidFill>
                          <a:latin typeface="DM Sans"/>
                          <a:ea typeface="DM Sans"/>
                          <a:cs typeface="DM Sans"/>
                        </a:rPr>
                        <a:t>Layer height</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0.16 to 0.20 mm</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0.20 to 0.24 mm</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r>
              <a:tr h="385961">
                <a:tc>
                  <a:txBody>
                    <a:bodyPr/>
                    <a:p>
                      <a:pPr marL="0" indent="0">
                        <a:lnSpc>
                          <a:spcPts val="1960"/>
                        </a:lnSpc>
                        <a:buNone/>
                        <a:defRPr/>
                      </a:pPr>
                      <a:r>
                        <a:rPr lang="en-US" sz="1400">
                          <a:solidFill>
                            <a:srgbClr val="F4F1EA"/>
                          </a:solidFill>
                          <a:latin typeface="DM Sans"/>
                          <a:ea typeface="DM Sans"/>
                          <a:cs typeface="DM Sans"/>
                        </a:rPr>
                        <a:t>Wall loops</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5 to 6</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3 to 4</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r>
              <a:tr h="385961">
                <a:tc>
                  <a:txBody>
                    <a:bodyPr/>
                    <a:p>
                      <a:pPr marL="0" indent="0">
                        <a:lnSpc>
                          <a:spcPts val="1960"/>
                        </a:lnSpc>
                        <a:buNone/>
                        <a:defRPr/>
                      </a:pPr>
                      <a:r>
                        <a:rPr lang="en-US" sz="1400">
                          <a:solidFill>
                            <a:srgbClr val="F4F1EA"/>
                          </a:solidFill>
                          <a:latin typeface="DM Sans"/>
                          <a:ea typeface="DM Sans"/>
                          <a:cs typeface="DM Sans"/>
                        </a:rPr>
                        <a:t>Infill</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40 to 50%</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15 to 20%</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r>
              <a:tr h="385961">
                <a:tc>
                  <a:txBody>
                    <a:bodyPr/>
                    <a:p>
                      <a:pPr marL="0" indent="0">
                        <a:lnSpc>
                          <a:spcPts val="1960"/>
                        </a:lnSpc>
                        <a:buNone/>
                        <a:defRPr/>
                      </a:pPr>
                      <a:r>
                        <a:rPr lang="en-US" sz="1400">
                          <a:solidFill>
                            <a:srgbClr val="F4F1EA"/>
                          </a:solidFill>
                          <a:latin typeface="DM Sans"/>
                          <a:ea typeface="DM Sans"/>
                          <a:cs typeface="DM Sans"/>
                        </a:rPr>
                        <a:t>Infill pattern</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Gyroid or cubic</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Gyroid or grid</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r>
              <a:tr h="385961">
                <a:tc>
                  <a:txBody>
                    <a:bodyPr/>
                    <a:p>
                      <a:pPr marL="0" indent="0">
                        <a:lnSpc>
                          <a:spcPts val="1960"/>
                        </a:lnSpc>
                        <a:buNone/>
                        <a:defRPr/>
                      </a:pPr>
                      <a:r>
                        <a:rPr lang="en-US" sz="1400">
                          <a:solidFill>
                            <a:srgbClr val="F4F1EA"/>
                          </a:solidFill>
                          <a:latin typeface="DM Sans"/>
                          <a:ea typeface="DM Sans"/>
                          <a:cs typeface="DM Sans"/>
                        </a:rPr>
                        <a:t>Supports</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None</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None</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r>
            </a:tbl>
          </a:graphicData>
        </a:graphic>
      </p:graphicFrame>
      <p:sp>
        <p:nvSpPr>
          <p:cNvPr id="1533449749" name="Text 2"/>
          <p:cNvSpPr/>
          <p:nvPr/>
        </p:nvSpPr>
        <p:spPr bwMode="auto">
          <a:xfrm>
            <a:off x="812800" y="5025727"/>
            <a:ext cx="10883392" cy="292100"/>
          </a:xfrm>
          <a:prstGeom prst="rect">
            <a:avLst/>
          </a:prstGeom>
          <a:noFill/>
          <a:ln/>
        </p:spPr>
        <p:txBody>
          <a:bodyPr wrap="square" lIns="0" tIns="0" rIns="0" bIns="0" rtlCol="0" anchor="t">
            <a:normAutofit/>
          </a:bodyPr>
          <a:lstStyle/>
          <a:p>
            <a:pPr marL="0" indent="0" algn="l">
              <a:lnSpc>
                <a:spcPts val="2100"/>
              </a:lnSpc>
              <a:buNone/>
              <a:defRPr/>
            </a:pPr>
            <a:r>
              <a:rPr lang="en-US" sz="1500">
                <a:solidFill>
                  <a:srgbClr val="C9CCD3"/>
                </a:solidFill>
                <a:latin typeface="DM Sans"/>
                <a:ea typeface="DM Sans"/>
                <a:cs typeface="DM Sans"/>
              </a:rPr>
              <a:t>More wall loops add more bending strength than more infill, because stress is highest at the outer skin.</a:t>
            </a:r>
            <a:endParaRPr lang="en-US" sz="1500"/>
          </a:p>
        </p:txBody>
      </p:sp>
      <p:sp>
        <p:nvSpPr>
          <p:cNvPr id="649794264" name="Text 3"/>
          <p:cNvSpPr/>
          <p:nvPr/>
        </p:nvSpPr>
        <p:spPr bwMode="auto">
          <a:xfrm>
            <a:off x="812800" y="6238280"/>
            <a:ext cx="7194549"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8F94A0"/>
                </a:solidFill>
                <a:latin typeface="DM Sans"/>
                <a:ea typeface="DM Sans"/>
                <a:cs typeface="DM Sans"/>
              </a:rPr>
              <a:t>Settings for PETG on a 0.4 mm nozzle</a:t>
            </a:r>
            <a:endParaRPr lang="en-US" sz="1200"/>
          </a:p>
        </p:txBody>
      </p:sp>
      <p:sp>
        <p:nvSpPr>
          <p:cNvPr id="192305725" name="Text 4"/>
          <p:cNvSpPr/>
          <p:nvPr/>
        </p:nvSpPr>
        <p:spPr bwMode="auto">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8F94A0"/>
                </a:solidFill>
                <a:latin typeface="DM Sans"/>
                <a:ea typeface="DM Sans"/>
                <a:cs typeface="DM Sans"/>
              </a:rPr>
              <a:t>9 / 12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4F1EA"/>
        </a:solidFill>
      </p:bgPr>
    </p:bg>
    <p:spTree>
      <p:nvGrpSpPr>
        <p:cNvPr id="1" name=""/>
        <p:cNvGrpSpPr/>
        <p:nvPr/>
      </p:nvGrpSpPr>
      <p:grpSpPr bwMode="auto">
        <a:xfrm>
          <a:off x="0" y="0"/>
          <a:ext cx="0" cy="0"/>
          <a:chOff x="0" y="0"/>
          <a:chExt cx="0" cy="0"/>
        </a:xfrm>
      </p:grpSpPr>
      <p:sp>
        <p:nvSpPr>
          <p:cNvPr id="1641600533" name="Text 0"/>
          <p:cNvSpPr/>
          <p:nvPr/>
        </p:nvSpPr>
        <p:spPr bwMode="auto">
          <a:xfrm>
            <a:off x="812800" y="812800"/>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b="1" spc="200">
                <a:solidFill>
                  <a:srgbClr val="C2410C"/>
                </a:solidFill>
                <a:latin typeface="DM Sans"/>
                <a:ea typeface="DM Sans"/>
                <a:cs typeface="DM Sans"/>
              </a:rPr>
              <a:t>09 · PLAN</a:t>
            </a:r>
            <a:endParaRPr lang="en-US" sz="1400"/>
          </a:p>
        </p:txBody>
      </p:sp>
      <p:sp>
        <p:nvSpPr>
          <p:cNvPr id="2053290992" name="Text 1"/>
          <p:cNvSpPr/>
          <p:nvPr>
            <p:ph type="title"/>
          </p:nvPr>
        </p:nvSpPr>
        <p:spPr bwMode="auto">
          <a:xfrm>
            <a:off x="812800" y="1163241"/>
            <a:ext cx="10883392" cy="665460"/>
          </a:xfrm>
          <a:prstGeom prst="rect">
            <a:avLst/>
          </a:prstGeom>
          <a:noFill/>
          <a:ln/>
        </p:spPr>
        <p:txBody>
          <a:bodyPr wrap="square" lIns="0" tIns="0" rIns="0" bIns="0" rtlCol="0" anchor="t">
            <a:normAutofit/>
          </a:bodyPr>
          <a:lstStyle/>
          <a:p>
            <a:pPr marL="0" indent="0" algn="l">
              <a:lnSpc>
                <a:spcPts val="5040"/>
              </a:lnSpc>
              <a:buNone/>
              <a:defRPr/>
            </a:pPr>
            <a:r>
              <a:rPr lang="en-US" sz="4800" b="1" i="0">
                <a:solidFill>
                  <a:srgbClr val="1B1D22"/>
                </a:solidFill>
                <a:latin typeface="Oswald"/>
                <a:ea typeface="Oswald"/>
                <a:cs typeface="Oswald"/>
              </a:rPr>
              <a:t>FROM DESK TO FINISHED PRINT</a:t>
            </a:r>
            <a:endParaRPr lang="en-US" sz="4800"/>
          </a:p>
        </p:txBody>
      </p:sp>
      <p:sp>
        <p:nvSpPr>
          <p:cNvPr id="1387249500" name="Shape 2"/>
          <p:cNvSpPr/>
          <p:nvPr/>
        </p:nvSpPr>
        <p:spPr bwMode="auto">
          <a:xfrm>
            <a:off x="815975" y="2162076"/>
            <a:ext cx="1984970" cy="1657151"/>
          </a:xfrm>
          <a:prstGeom prst="roundRect">
            <a:avLst>
              <a:gd name="adj" fmla="val 5939"/>
            </a:avLst>
          </a:prstGeom>
          <a:solidFill>
            <a:srgbClr val="FFFFFF"/>
          </a:solidFill>
          <a:ln w="6350">
            <a:solidFill>
              <a:srgbClr val="DAD5C8"/>
            </a:solidFill>
            <a:prstDash val="solid"/>
          </a:ln>
        </p:spPr>
      </p:sp>
      <p:sp>
        <p:nvSpPr>
          <p:cNvPr id="1596425437" name="Text 3"/>
          <p:cNvSpPr/>
          <p:nvPr/>
        </p:nvSpPr>
        <p:spPr bwMode="auto">
          <a:xfrm>
            <a:off x="1022350" y="2368451"/>
            <a:ext cx="1623020" cy="381000"/>
          </a:xfrm>
          <a:prstGeom prst="rect">
            <a:avLst/>
          </a:prstGeom>
          <a:noFill/>
          <a:ln/>
        </p:spPr>
        <p:txBody>
          <a:bodyPr wrap="square" lIns="0" tIns="0" rIns="0" bIns="0" rtlCol="0" anchor="t">
            <a:normAutofit/>
          </a:bodyPr>
          <a:lstStyle/>
          <a:p>
            <a:pPr marL="0" indent="0" algn="l">
              <a:lnSpc>
                <a:spcPts val="2800"/>
              </a:lnSpc>
              <a:buNone/>
              <a:defRPr/>
            </a:pPr>
            <a:r>
              <a:rPr lang="en-US" sz="2800" b="1">
                <a:solidFill>
                  <a:srgbClr val="C2410C"/>
                </a:solidFill>
                <a:latin typeface="Oswald"/>
                <a:ea typeface="Oswald"/>
                <a:cs typeface="Oswald"/>
              </a:rPr>
              <a:t>1</a:t>
            </a:r>
            <a:endParaRPr lang="en-US" sz="2800"/>
          </a:p>
        </p:txBody>
      </p:sp>
      <p:sp>
        <p:nvSpPr>
          <p:cNvPr id="2064035537" name="Text 4"/>
          <p:cNvSpPr/>
          <p:nvPr/>
        </p:nvSpPr>
        <p:spPr bwMode="auto">
          <a:xfrm>
            <a:off x="1022350" y="2800251"/>
            <a:ext cx="1623020" cy="299641"/>
          </a:xfrm>
          <a:prstGeom prst="rect">
            <a:avLst/>
          </a:prstGeom>
          <a:noFill/>
          <a:ln/>
        </p:spPr>
        <p:txBody>
          <a:bodyPr wrap="square" lIns="0" tIns="0" rIns="0" bIns="0" rtlCol="0" anchor="t">
            <a:normAutofit/>
          </a:bodyPr>
          <a:lstStyle/>
          <a:p>
            <a:pPr marL="0" indent="0" algn="l">
              <a:lnSpc>
                <a:spcPts val="2160"/>
              </a:lnSpc>
              <a:buNone/>
              <a:defRPr/>
            </a:pPr>
            <a:r>
              <a:rPr lang="en-US" sz="1800" b="1">
                <a:solidFill>
                  <a:srgbClr val="1B1D22"/>
                </a:solidFill>
                <a:latin typeface="DM Sans"/>
                <a:ea typeface="DM Sans"/>
                <a:cs typeface="DM Sans"/>
              </a:rPr>
              <a:t>Measure</a:t>
            </a:r>
            <a:endParaRPr lang="en-US" sz="1800"/>
          </a:p>
        </p:txBody>
      </p:sp>
      <p:sp>
        <p:nvSpPr>
          <p:cNvPr id="1961067515" name="Text 5"/>
          <p:cNvSpPr/>
          <p:nvPr/>
        </p:nvSpPr>
        <p:spPr bwMode="auto">
          <a:xfrm>
            <a:off x="1022350" y="3150690"/>
            <a:ext cx="1623020" cy="48756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4A4F59"/>
                </a:solidFill>
                <a:latin typeface="DM Sans"/>
                <a:ea typeface="DM Sans"/>
                <a:cs typeface="DM Sans"/>
              </a:rPr>
              <a:t>Desk edge, mug, phone, headphones.</a:t>
            </a:r>
            <a:endParaRPr lang="en-US" sz="1300"/>
          </a:p>
        </p:txBody>
      </p:sp>
      <p:sp>
        <p:nvSpPr>
          <p:cNvPr id="693111140" name="Shape 6"/>
          <p:cNvSpPr/>
          <p:nvPr/>
        </p:nvSpPr>
        <p:spPr bwMode="auto">
          <a:xfrm>
            <a:off x="2959695" y="2162076"/>
            <a:ext cx="1984970" cy="1657151"/>
          </a:xfrm>
          <a:prstGeom prst="roundRect">
            <a:avLst>
              <a:gd name="adj" fmla="val 5939"/>
            </a:avLst>
          </a:prstGeom>
          <a:solidFill>
            <a:srgbClr val="FFFFFF"/>
          </a:solidFill>
          <a:ln w="6350">
            <a:solidFill>
              <a:srgbClr val="DAD5C8"/>
            </a:solidFill>
            <a:prstDash val="solid"/>
          </a:ln>
        </p:spPr>
      </p:sp>
      <p:sp>
        <p:nvSpPr>
          <p:cNvPr id="1419338295" name="Text 7"/>
          <p:cNvSpPr/>
          <p:nvPr/>
        </p:nvSpPr>
        <p:spPr bwMode="auto">
          <a:xfrm>
            <a:off x="3166070" y="2368451"/>
            <a:ext cx="1623020" cy="381000"/>
          </a:xfrm>
          <a:prstGeom prst="rect">
            <a:avLst/>
          </a:prstGeom>
          <a:noFill/>
          <a:ln/>
        </p:spPr>
        <p:txBody>
          <a:bodyPr wrap="square" lIns="0" tIns="0" rIns="0" bIns="0" rtlCol="0" anchor="t">
            <a:normAutofit/>
          </a:bodyPr>
          <a:lstStyle/>
          <a:p>
            <a:pPr marL="0" indent="0" algn="l">
              <a:lnSpc>
                <a:spcPts val="2800"/>
              </a:lnSpc>
              <a:buNone/>
              <a:defRPr/>
            </a:pPr>
            <a:r>
              <a:rPr lang="en-US" sz="2800" b="1">
                <a:solidFill>
                  <a:srgbClr val="C2410C"/>
                </a:solidFill>
                <a:latin typeface="Oswald"/>
                <a:ea typeface="Oswald"/>
                <a:cs typeface="Oswald"/>
              </a:rPr>
              <a:t>2</a:t>
            </a:r>
            <a:endParaRPr lang="en-US" sz="2800"/>
          </a:p>
        </p:txBody>
      </p:sp>
      <p:sp>
        <p:nvSpPr>
          <p:cNvPr id="38585592" name="Text 8"/>
          <p:cNvSpPr/>
          <p:nvPr/>
        </p:nvSpPr>
        <p:spPr bwMode="auto">
          <a:xfrm>
            <a:off x="3166070" y="2800251"/>
            <a:ext cx="1623020" cy="299641"/>
          </a:xfrm>
          <a:prstGeom prst="rect">
            <a:avLst/>
          </a:prstGeom>
          <a:noFill/>
          <a:ln/>
        </p:spPr>
        <p:txBody>
          <a:bodyPr wrap="square" lIns="0" tIns="0" rIns="0" bIns="0" rtlCol="0" anchor="t">
            <a:normAutofit/>
          </a:bodyPr>
          <a:lstStyle/>
          <a:p>
            <a:pPr marL="0" indent="0" algn="l">
              <a:lnSpc>
                <a:spcPts val="2160"/>
              </a:lnSpc>
              <a:buNone/>
              <a:defRPr/>
            </a:pPr>
            <a:r>
              <a:rPr lang="en-US" sz="1800" b="1">
                <a:solidFill>
                  <a:srgbClr val="1B1D22"/>
                </a:solidFill>
                <a:latin typeface="DM Sans"/>
                <a:ea typeface="DM Sans"/>
                <a:cs typeface="DM Sans"/>
              </a:rPr>
              <a:t>Model</a:t>
            </a:r>
            <a:endParaRPr lang="en-US" sz="1800"/>
          </a:p>
        </p:txBody>
      </p:sp>
      <p:sp>
        <p:nvSpPr>
          <p:cNvPr id="283397465" name="Text 9"/>
          <p:cNvSpPr/>
          <p:nvPr/>
        </p:nvSpPr>
        <p:spPr bwMode="auto">
          <a:xfrm>
            <a:off x="3166070" y="3150690"/>
            <a:ext cx="1623020" cy="256480"/>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4A4F59"/>
                </a:solidFill>
                <a:latin typeface="DM Sans"/>
                <a:ea typeface="DM Sans"/>
                <a:cs typeface="DM Sans"/>
              </a:rPr>
              <a:t>Three parts in CAD.</a:t>
            </a:r>
            <a:endParaRPr lang="en-US" sz="1300"/>
          </a:p>
        </p:txBody>
      </p:sp>
      <p:sp>
        <p:nvSpPr>
          <p:cNvPr id="885699457" name="Shape 10"/>
          <p:cNvSpPr/>
          <p:nvPr/>
        </p:nvSpPr>
        <p:spPr bwMode="auto">
          <a:xfrm>
            <a:off x="5103416" y="2162076"/>
            <a:ext cx="1985070" cy="1657151"/>
          </a:xfrm>
          <a:prstGeom prst="roundRect">
            <a:avLst>
              <a:gd name="adj" fmla="val 5939"/>
            </a:avLst>
          </a:prstGeom>
          <a:solidFill>
            <a:srgbClr val="FFFFFF"/>
          </a:solidFill>
          <a:ln w="6350">
            <a:solidFill>
              <a:srgbClr val="DAD5C8"/>
            </a:solidFill>
            <a:prstDash val="solid"/>
          </a:ln>
        </p:spPr>
      </p:sp>
      <p:sp>
        <p:nvSpPr>
          <p:cNvPr id="1929813529" name="Text 11"/>
          <p:cNvSpPr/>
          <p:nvPr/>
        </p:nvSpPr>
        <p:spPr bwMode="auto">
          <a:xfrm>
            <a:off x="5309791" y="2368451"/>
            <a:ext cx="1623120" cy="381000"/>
          </a:xfrm>
          <a:prstGeom prst="rect">
            <a:avLst/>
          </a:prstGeom>
          <a:noFill/>
          <a:ln/>
        </p:spPr>
        <p:txBody>
          <a:bodyPr wrap="square" lIns="0" tIns="0" rIns="0" bIns="0" rtlCol="0" anchor="t">
            <a:normAutofit/>
          </a:bodyPr>
          <a:lstStyle/>
          <a:p>
            <a:pPr marL="0" indent="0" algn="l">
              <a:lnSpc>
                <a:spcPts val="2800"/>
              </a:lnSpc>
              <a:buNone/>
              <a:defRPr/>
            </a:pPr>
            <a:r>
              <a:rPr lang="en-US" sz="2800" b="1">
                <a:solidFill>
                  <a:srgbClr val="C2410C"/>
                </a:solidFill>
                <a:latin typeface="Oswald"/>
                <a:ea typeface="Oswald"/>
                <a:cs typeface="Oswald"/>
              </a:rPr>
              <a:t>3</a:t>
            </a:r>
            <a:endParaRPr lang="en-US" sz="2800"/>
          </a:p>
        </p:txBody>
      </p:sp>
      <p:sp>
        <p:nvSpPr>
          <p:cNvPr id="521344546" name="Text 12"/>
          <p:cNvSpPr/>
          <p:nvPr/>
        </p:nvSpPr>
        <p:spPr bwMode="auto">
          <a:xfrm>
            <a:off x="5309791" y="2800251"/>
            <a:ext cx="1623120" cy="299641"/>
          </a:xfrm>
          <a:prstGeom prst="rect">
            <a:avLst/>
          </a:prstGeom>
          <a:noFill/>
          <a:ln/>
        </p:spPr>
        <p:txBody>
          <a:bodyPr wrap="square" lIns="0" tIns="0" rIns="0" bIns="0" rtlCol="0" anchor="t">
            <a:normAutofit/>
          </a:bodyPr>
          <a:lstStyle/>
          <a:p>
            <a:pPr marL="0" indent="0" algn="l">
              <a:lnSpc>
                <a:spcPts val="2160"/>
              </a:lnSpc>
              <a:buNone/>
              <a:defRPr/>
            </a:pPr>
            <a:r>
              <a:rPr lang="en-US" sz="1800" b="1">
                <a:solidFill>
                  <a:srgbClr val="1B1D22"/>
                </a:solidFill>
                <a:latin typeface="DM Sans"/>
                <a:ea typeface="DM Sans"/>
                <a:cs typeface="DM Sans"/>
              </a:rPr>
              <a:t>Test print</a:t>
            </a:r>
            <a:endParaRPr lang="en-US" sz="1800"/>
          </a:p>
        </p:txBody>
      </p:sp>
      <p:sp>
        <p:nvSpPr>
          <p:cNvPr id="1515886094" name="Text 13"/>
          <p:cNvSpPr/>
          <p:nvPr/>
        </p:nvSpPr>
        <p:spPr bwMode="auto">
          <a:xfrm>
            <a:off x="5309791" y="3150690"/>
            <a:ext cx="1623120" cy="48756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4A4F59"/>
                </a:solidFill>
                <a:latin typeface="DM Sans"/>
                <a:ea typeface="DM Sans"/>
                <a:cs typeface="DM Sans"/>
              </a:rPr>
              <a:t>Small clamp section to check fit.</a:t>
            </a:r>
            <a:endParaRPr lang="en-US" sz="1300"/>
          </a:p>
        </p:txBody>
      </p:sp>
      <p:sp>
        <p:nvSpPr>
          <p:cNvPr id="386897322" name="Shape 14"/>
          <p:cNvSpPr/>
          <p:nvPr/>
        </p:nvSpPr>
        <p:spPr bwMode="auto">
          <a:xfrm>
            <a:off x="7247235" y="2162076"/>
            <a:ext cx="1984970" cy="1657151"/>
          </a:xfrm>
          <a:prstGeom prst="roundRect">
            <a:avLst>
              <a:gd name="adj" fmla="val 5939"/>
            </a:avLst>
          </a:prstGeom>
          <a:solidFill>
            <a:srgbClr val="FFFFFF"/>
          </a:solidFill>
          <a:ln w="6350">
            <a:solidFill>
              <a:srgbClr val="DAD5C8"/>
            </a:solidFill>
            <a:prstDash val="solid"/>
          </a:ln>
        </p:spPr>
      </p:sp>
      <p:sp>
        <p:nvSpPr>
          <p:cNvPr id="860791310" name="Text 15"/>
          <p:cNvSpPr/>
          <p:nvPr/>
        </p:nvSpPr>
        <p:spPr bwMode="auto">
          <a:xfrm>
            <a:off x="7453610" y="2368451"/>
            <a:ext cx="1623020" cy="381000"/>
          </a:xfrm>
          <a:prstGeom prst="rect">
            <a:avLst/>
          </a:prstGeom>
          <a:noFill/>
          <a:ln/>
        </p:spPr>
        <p:txBody>
          <a:bodyPr wrap="square" lIns="0" tIns="0" rIns="0" bIns="0" rtlCol="0" anchor="t">
            <a:normAutofit/>
          </a:bodyPr>
          <a:lstStyle/>
          <a:p>
            <a:pPr marL="0" indent="0" algn="l">
              <a:lnSpc>
                <a:spcPts val="2800"/>
              </a:lnSpc>
              <a:buNone/>
              <a:defRPr/>
            </a:pPr>
            <a:r>
              <a:rPr lang="en-US" sz="2800" b="1">
                <a:solidFill>
                  <a:srgbClr val="C2410C"/>
                </a:solidFill>
                <a:latin typeface="Oswald"/>
                <a:ea typeface="Oswald"/>
                <a:cs typeface="Oswald"/>
              </a:rPr>
              <a:t>4</a:t>
            </a:r>
            <a:endParaRPr lang="en-US" sz="2800"/>
          </a:p>
        </p:txBody>
      </p:sp>
      <p:sp>
        <p:nvSpPr>
          <p:cNvPr id="1370317176" name="Text 16"/>
          <p:cNvSpPr/>
          <p:nvPr/>
        </p:nvSpPr>
        <p:spPr bwMode="auto">
          <a:xfrm>
            <a:off x="7453610" y="2800251"/>
            <a:ext cx="1623020" cy="299641"/>
          </a:xfrm>
          <a:prstGeom prst="rect">
            <a:avLst/>
          </a:prstGeom>
          <a:noFill/>
          <a:ln/>
        </p:spPr>
        <p:txBody>
          <a:bodyPr wrap="square" lIns="0" tIns="0" rIns="0" bIns="0" rtlCol="0" anchor="t">
            <a:normAutofit/>
          </a:bodyPr>
          <a:lstStyle/>
          <a:p>
            <a:pPr marL="0" indent="0" algn="l">
              <a:lnSpc>
                <a:spcPts val="2160"/>
              </a:lnSpc>
              <a:buNone/>
              <a:defRPr/>
            </a:pPr>
            <a:r>
              <a:rPr lang="en-US" sz="1800" b="1">
                <a:solidFill>
                  <a:srgbClr val="1B1D22"/>
                </a:solidFill>
                <a:latin typeface="DM Sans"/>
                <a:ea typeface="DM Sans"/>
                <a:cs typeface="DM Sans"/>
              </a:rPr>
              <a:t>Final print</a:t>
            </a:r>
            <a:endParaRPr lang="en-US" sz="1800"/>
          </a:p>
        </p:txBody>
      </p:sp>
      <p:sp>
        <p:nvSpPr>
          <p:cNvPr id="1178930919" name="Text 17"/>
          <p:cNvSpPr/>
          <p:nvPr/>
        </p:nvSpPr>
        <p:spPr bwMode="auto">
          <a:xfrm>
            <a:off x="7453610" y="3150690"/>
            <a:ext cx="1623020" cy="48756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4A4F59"/>
                </a:solidFill>
                <a:latin typeface="DM Sans"/>
                <a:ea typeface="DM Sans"/>
                <a:cs typeface="DM Sans"/>
              </a:rPr>
              <a:t>All three parts in PETG.</a:t>
            </a:r>
            <a:endParaRPr lang="en-US" sz="1300"/>
          </a:p>
        </p:txBody>
      </p:sp>
      <p:sp>
        <p:nvSpPr>
          <p:cNvPr id="578172337" name="Shape 18"/>
          <p:cNvSpPr/>
          <p:nvPr/>
        </p:nvSpPr>
        <p:spPr bwMode="auto">
          <a:xfrm>
            <a:off x="9390955" y="2162076"/>
            <a:ext cx="1985070" cy="1657151"/>
          </a:xfrm>
          <a:prstGeom prst="roundRect">
            <a:avLst>
              <a:gd name="adj" fmla="val 5939"/>
            </a:avLst>
          </a:prstGeom>
          <a:solidFill>
            <a:srgbClr val="FFFFFF"/>
          </a:solidFill>
          <a:ln w="6350">
            <a:solidFill>
              <a:srgbClr val="DAD5C8"/>
            </a:solidFill>
            <a:prstDash val="solid"/>
          </a:ln>
        </p:spPr>
      </p:sp>
      <p:sp>
        <p:nvSpPr>
          <p:cNvPr id="128142781" name="Text 19"/>
          <p:cNvSpPr/>
          <p:nvPr/>
        </p:nvSpPr>
        <p:spPr bwMode="auto">
          <a:xfrm>
            <a:off x="9597329" y="2368451"/>
            <a:ext cx="1623120" cy="381000"/>
          </a:xfrm>
          <a:prstGeom prst="rect">
            <a:avLst/>
          </a:prstGeom>
          <a:noFill/>
          <a:ln/>
        </p:spPr>
        <p:txBody>
          <a:bodyPr wrap="square" lIns="0" tIns="0" rIns="0" bIns="0" rtlCol="0" anchor="t">
            <a:normAutofit/>
          </a:bodyPr>
          <a:lstStyle/>
          <a:p>
            <a:pPr marL="0" indent="0" algn="l">
              <a:lnSpc>
                <a:spcPts val="2800"/>
              </a:lnSpc>
              <a:buNone/>
              <a:defRPr/>
            </a:pPr>
            <a:r>
              <a:rPr lang="en-US" sz="2800" b="1">
                <a:solidFill>
                  <a:srgbClr val="C2410C"/>
                </a:solidFill>
                <a:latin typeface="Oswald"/>
                <a:ea typeface="Oswald"/>
                <a:cs typeface="Oswald"/>
              </a:rPr>
              <a:t>5</a:t>
            </a:r>
            <a:endParaRPr lang="en-US" sz="2800"/>
          </a:p>
        </p:txBody>
      </p:sp>
      <p:sp>
        <p:nvSpPr>
          <p:cNvPr id="1705589893" name="Text 20"/>
          <p:cNvSpPr/>
          <p:nvPr/>
        </p:nvSpPr>
        <p:spPr bwMode="auto">
          <a:xfrm>
            <a:off x="9597329" y="2800251"/>
            <a:ext cx="1623120" cy="299641"/>
          </a:xfrm>
          <a:prstGeom prst="rect">
            <a:avLst/>
          </a:prstGeom>
          <a:noFill/>
          <a:ln/>
        </p:spPr>
        <p:txBody>
          <a:bodyPr wrap="square" lIns="0" tIns="0" rIns="0" bIns="0" rtlCol="0" anchor="t">
            <a:normAutofit/>
          </a:bodyPr>
          <a:lstStyle/>
          <a:p>
            <a:pPr marL="0" indent="0" algn="l">
              <a:lnSpc>
                <a:spcPts val="2160"/>
              </a:lnSpc>
              <a:buNone/>
              <a:defRPr/>
            </a:pPr>
            <a:r>
              <a:rPr lang="en-US" sz="1800" b="1">
                <a:solidFill>
                  <a:srgbClr val="1B1D22"/>
                </a:solidFill>
                <a:latin typeface="DM Sans"/>
                <a:ea typeface="DM Sans"/>
                <a:cs typeface="DM Sans"/>
              </a:rPr>
              <a:t>Assemble</a:t>
            </a:r>
            <a:endParaRPr lang="en-US" sz="1800"/>
          </a:p>
        </p:txBody>
      </p:sp>
      <p:sp>
        <p:nvSpPr>
          <p:cNvPr id="1433428420" name="Text 21"/>
          <p:cNvSpPr/>
          <p:nvPr/>
        </p:nvSpPr>
        <p:spPr bwMode="auto">
          <a:xfrm>
            <a:off x="9597329" y="3150690"/>
            <a:ext cx="1623120" cy="487561"/>
          </a:xfrm>
          <a:prstGeom prst="rect">
            <a:avLst/>
          </a:prstGeom>
          <a:noFill/>
          <a:ln/>
        </p:spPr>
        <p:txBody>
          <a:bodyPr wrap="square" lIns="0" tIns="0" rIns="0" bIns="0" rtlCol="0" anchor="t">
            <a:normAutofit/>
          </a:bodyPr>
          <a:lstStyle/>
          <a:p>
            <a:pPr marL="0" indent="0" algn="l">
              <a:lnSpc>
                <a:spcPts val="1820"/>
              </a:lnSpc>
              <a:buNone/>
              <a:defRPr/>
            </a:pPr>
            <a:r>
              <a:rPr lang="en-US" sz="1300">
                <a:solidFill>
                  <a:srgbClr val="4A4F59"/>
                </a:solidFill>
                <a:latin typeface="DM Sans"/>
                <a:ea typeface="DM Sans"/>
                <a:cs typeface="DM Sans"/>
              </a:rPr>
              <a:t>Rubber pads, then a 2 kg test.</a:t>
            </a:r>
            <a:endParaRPr lang="en-US" sz="1300"/>
          </a:p>
        </p:txBody>
      </p:sp>
      <p:sp>
        <p:nvSpPr>
          <p:cNvPr id="1923966011" name="Text 22"/>
          <p:cNvSpPr/>
          <p:nvPr/>
        </p:nvSpPr>
        <p:spPr bwMode="auto">
          <a:xfrm>
            <a:off x="812800" y="4178002"/>
            <a:ext cx="10883392" cy="292100"/>
          </a:xfrm>
          <a:prstGeom prst="rect">
            <a:avLst/>
          </a:prstGeom>
          <a:noFill/>
          <a:ln/>
        </p:spPr>
        <p:txBody>
          <a:bodyPr wrap="square" lIns="0" tIns="0" rIns="0" bIns="0" rtlCol="0" anchor="t">
            <a:normAutofit/>
          </a:bodyPr>
          <a:lstStyle/>
          <a:p>
            <a:pPr marL="0" indent="0" algn="l">
              <a:lnSpc>
                <a:spcPts val="2100"/>
              </a:lnSpc>
              <a:buNone/>
              <a:defRPr/>
            </a:pPr>
            <a:r>
              <a:rPr lang="en-US" sz="1500">
                <a:solidFill>
                  <a:srgbClr val="4A4F59"/>
                </a:solidFill>
                <a:latin typeface="DM Sans"/>
                <a:ea typeface="DM Sans"/>
                <a:cs typeface="DM Sans"/>
              </a:rPr>
              <a:t>Timeline: [dates to be agreed with sir]</a:t>
            </a:r>
            <a:endParaRPr lang="en-US" sz="1500"/>
          </a:p>
        </p:txBody>
      </p:sp>
      <p:sp>
        <p:nvSpPr>
          <p:cNvPr id="1624774719" name="Text 23"/>
          <p:cNvSpPr/>
          <p:nvPr/>
        </p:nvSpPr>
        <p:spPr bwMode="auto">
          <a:xfrm>
            <a:off x="812800" y="6238280"/>
            <a:ext cx="654050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B6F78"/>
                </a:solidFill>
                <a:latin typeface="DM Sans"/>
                <a:ea typeface="DM Sans"/>
                <a:cs typeface="DM Sans"/>
              </a:rPr>
              <a:t>Desk Caddy · PDR pitch</a:t>
            </a:r>
            <a:endParaRPr lang="en-US" sz="1200"/>
          </a:p>
        </p:txBody>
      </p:sp>
      <p:sp>
        <p:nvSpPr>
          <p:cNvPr id="1038145956" name="Text 24"/>
          <p:cNvSpPr/>
          <p:nvPr/>
        </p:nvSpPr>
        <p:spPr bwMode="auto">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6B6F78"/>
                </a:solidFill>
                <a:latin typeface="DM Sans"/>
                <a:ea typeface="DM Sans"/>
                <a:cs typeface="DM Sans"/>
              </a:rPr>
              <a:t>10 / 12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16181D"/>
        </a:solidFill>
      </p:bgPr>
    </p:bg>
    <p:spTree>
      <p:nvGrpSpPr>
        <p:cNvPr id="1" name=""/>
        <p:cNvGrpSpPr/>
        <p:nvPr/>
      </p:nvGrpSpPr>
      <p:grpSpPr bwMode="auto">
        <a:xfrm>
          <a:off x="0" y="0"/>
          <a:ext cx="0" cy="0"/>
          <a:chOff x="0" y="0"/>
          <a:chExt cx="0" cy="0"/>
        </a:xfrm>
      </p:grpSpPr>
      <p:sp>
        <p:nvSpPr>
          <p:cNvPr id="1745320410" name="Text 0"/>
          <p:cNvSpPr/>
          <p:nvPr/>
        </p:nvSpPr>
        <p:spPr bwMode="auto">
          <a:xfrm>
            <a:off x="812800" y="812800"/>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b="1" spc="200">
                <a:solidFill>
                  <a:srgbClr val="FF7A1A"/>
                </a:solidFill>
                <a:latin typeface="DM Sans"/>
                <a:ea typeface="DM Sans"/>
                <a:cs typeface="DM Sans"/>
              </a:rPr>
              <a:t>10 · RISKS</a:t>
            </a:r>
            <a:endParaRPr lang="en-US" sz="1400"/>
          </a:p>
        </p:txBody>
      </p:sp>
      <p:sp>
        <p:nvSpPr>
          <p:cNvPr id="522773676" name="Text 1"/>
          <p:cNvSpPr/>
          <p:nvPr>
            <p:ph type="title"/>
          </p:nvPr>
        </p:nvSpPr>
        <p:spPr bwMode="auto">
          <a:xfrm>
            <a:off x="812800" y="1163241"/>
            <a:ext cx="10883392" cy="665460"/>
          </a:xfrm>
          <a:prstGeom prst="rect">
            <a:avLst/>
          </a:prstGeom>
          <a:noFill/>
          <a:ln/>
        </p:spPr>
        <p:txBody>
          <a:bodyPr wrap="square" lIns="0" tIns="0" rIns="0" bIns="0" rtlCol="0" anchor="t">
            <a:normAutofit/>
          </a:bodyPr>
          <a:lstStyle/>
          <a:p>
            <a:pPr marL="0" indent="0" algn="l">
              <a:lnSpc>
                <a:spcPts val="5040"/>
              </a:lnSpc>
              <a:buNone/>
              <a:defRPr/>
            </a:pPr>
            <a:r>
              <a:rPr lang="en-US" sz="4800" b="1" i="0">
                <a:solidFill>
                  <a:srgbClr val="F4F1EA"/>
                </a:solidFill>
                <a:latin typeface="Oswald"/>
                <a:ea typeface="Oswald"/>
                <a:cs typeface="Oswald"/>
              </a:rPr>
              <a:t>WHAT COULD GO WRONG, AND OUR FIX</a:t>
            </a:r>
            <a:endParaRPr lang="en-US" sz="4800"/>
          </a:p>
        </p:txBody>
      </p:sp>
      <p:graphicFrame>
        <p:nvGraphicFramePr>
          <p:cNvPr id="641636159" name="Table 0"/>
          <p:cNvGraphicFramePr>
            <a:graphicFrameLocks xmlns:a="http://schemas.openxmlformats.org/drawingml/2006/main" noGrp="1"/>
          </p:cNvGraphicFramePr>
          <p:nvPr/>
        </p:nvGraphicFramePr>
        <p:xfrm rot="0">
          <a:off x="825499" y="2869420"/>
          <a:ext cx="10553700" cy="2701727"/>
        </p:xfrm>
        <a:graphic>
          <a:graphicData uri="http://schemas.openxmlformats.org/drawingml/2006/table">
            <a:tbl>
              <a:tblPr firstRow="0" firstCol="0" lastRow="0" lastCol="0" bandRow="0" bandCol="0"/>
              <a:tblGrid>
                <a:gridCol w="3799332"/>
                <a:gridCol w="6754368"/>
              </a:tblGrid>
              <a:tr h="385961">
                <a:tc>
                  <a:txBody>
                    <a:bodyPr/>
                    <a:p>
                      <a:pPr marL="0" indent="0">
                        <a:lnSpc>
                          <a:spcPts val="1960"/>
                        </a:lnSpc>
                        <a:buNone/>
                        <a:defRPr/>
                      </a:pPr>
                      <a:r>
                        <a:rPr lang="en-US" sz="1400" b="1">
                          <a:solidFill>
                            <a:srgbClr val="F4F1EA"/>
                          </a:solidFill>
                          <a:latin typeface="DM Sans"/>
                          <a:ea typeface="DM Sans"/>
                          <a:cs typeface="DM Sans"/>
                        </a:rPr>
                        <a:t>Risk</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56585A"/>
                      </a:solidFill>
                    </a:lnR>
                    <a:lnT w="12700" algn="ctr">
                      <a:solidFill>
                        <a:srgbClr val="484A4D"/>
                      </a:solidFill>
                    </a:lnT>
                    <a:lnB w="12700" algn="ctr">
                      <a:solidFill>
                        <a:srgbClr val="56585A"/>
                      </a:solidFill>
                    </a:lnB>
                    <a:solidFill>
                      <a:srgbClr val="282A2E"/>
                    </a:solidFill>
                  </a:tcPr>
                </a:tc>
                <a:tc>
                  <a:txBody>
                    <a:bodyPr/>
                    <a:p>
                      <a:pPr marL="0" indent="0">
                        <a:lnSpc>
                          <a:spcPts val="1960"/>
                        </a:lnSpc>
                        <a:buNone/>
                        <a:defRPr/>
                      </a:pPr>
                      <a:r>
                        <a:rPr lang="en-US" sz="1400" b="1">
                          <a:solidFill>
                            <a:srgbClr val="F4F1EA"/>
                          </a:solidFill>
                          <a:latin typeface="DM Sans"/>
                          <a:ea typeface="DM Sans"/>
                          <a:cs typeface="DM Sans"/>
                        </a:rPr>
                        <a:t>Mitigation</a:t>
                      </a:r>
                      <a:endParaRPr lang="en-US" sz="1400">
                        <a:latin typeface="DM Sans"/>
                        <a:ea typeface="DM Sans"/>
                        <a:cs typeface="DM Sans"/>
                      </a:endParaRPr>
                    </a:p>
                  </a:txBody>
                  <a:tcPr marL="62230" marR="62230" marT="62230" marB="62230" anchor="t">
                    <a:lnL w="12700" algn="ctr">
                      <a:solidFill>
                        <a:srgbClr val="56585A"/>
                      </a:solidFill>
                    </a:lnL>
                    <a:lnR w="12700" algn="ctr">
                      <a:solidFill>
                        <a:srgbClr val="56585A"/>
                      </a:solidFill>
                    </a:lnR>
                    <a:lnT w="12700" algn="ctr">
                      <a:solidFill>
                        <a:srgbClr val="484A4D"/>
                      </a:solidFill>
                    </a:lnT>
                    <a:lnB w="12700" algn="ctr">
                      <a:solidFill>
                        <a:srgbClr val="56585A"/>
                      </a:solidFill>
                    </a:lnB>
                    <a:solidFill>
                      <a:srgbClr val="282A2E"/>
                    </a:solidFill>
                  </a:tcPr>
                </a:tc>
              </a:tr>
              <a:tr h="385961">
                <a:tc>
                  <a:txBody>
                    <a:bodyPr/>
                    <a:p>
                      <a:pPr marL="0" indent="0">
                        <a:lnSpc>
                          <a:spcPts val="1960"/>
                        </a:lnSpc>
                        <a:buNone/>
                        <a:defRPr/>
                      </a:pPr>
                      <a:r>
                        <a:rPr lang="en-US" sz="1400">
                          <a:solidFill>
                            <a:srgbClr val="F4F1EA"/>
                          </a:solidFill>
                          <a:latin typeface="DM Sans"/>
                          <a:ea typeface="DM Sans"/>
                          <a:cs typeface="DM Sans"/>
                        </a:rPr>
                        <a:t>Clamp snaps at a layer line</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56585A"/>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Print on its side, 5 to 6 walls, 6 mm corner fillets</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56585A"/>
                      </a:solidFill>
                    </a:lnT>
                    <a:lnB w="12700" algn="ctr">
                      <a:solidFill>
                        <a:srgbClr val="484A4D"/>
                      </a:solidFill>
                    </a:lnB>
                  </a:tcPr>
                </a:tc>
              </a:tr>
              <a:tr h="385961">
                <a:tc>
                  <a:txBody>
                    <a:bodyPr/>
                    <a:p>
                      <a:pPr marL="0" indent="0">
                        <a:lnSpc>
                          <a:spcPts val="1960"/>
                        </a:lnSpc>
                        <a:buNone/>
                        <a:defRPr/>
                      </a:pPr>
                      <a:r>
                        <a:rPr lang="en-US" sz="1400">
                          <a:solidFill>
                            <a:srgbClr val="F4F1EA"/>
                          </a:solidFill>
                          <a:latin typeface="DM Sans"/>
                          <a:ea typeface="DM Sans"/>
                          <a:cs typeface="DM Sans"/>
                        </a:rPr>
                        <a:t>Clamp slips on a smooth desk</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2 mm rubber or foam pad on both contact faces</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r>
              <a:tr h="385961">
                <a:tc>
                  <a:txBody>
                    <a:bodyPr/>
                    <a:p>
                      <a:pPr marL="0" indent="0">
                        <a:lnSpc>
                          <a:spcPts val="1960"/>
                        </a:lnSpc>
                        <a:buNone/>
                        <a:defRPr/>
                      </a:pPr>
                      <a:r>
                        <a:rPr lang="en-US" sz="1400">
                          <a:solidFill>
                            <a:srgbClr val="F4F1EA"/>
                          </a:solidFill>
                          <a:latin typeface="DM Sans"/>
                          <a:ea typeface="DM Sans"/>
                          <a:cs typeface="DM Sans"/>
                        </a:rPr>
                        <a:t>Box too big for the printer</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Check the bed first, or split the box in two pieces</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r>
              <a:tr h="385961">
                <a:tc>
                  <a:txBody>
                    <a:bodyPr/>
                    <a:p>
                      <a:pPr marL="0" indent="0">
                        <a:lnSpc>
                          <a:spcPts val="1960"/>
                        </a:lnSpc>
                        <a:buNone/>
                        <a:defRPr/>
                      </a:pPr>
                      <a:r>
                        <a:rPr lang="en-US" sz="1400">
                          <a:solidFill>
                            <a:srgbClr val="F4F1EA"/>
                          </a:solidFill>
                          <a:latin typeface="DM Sans"/>
                          <a:ea typeface="DM Sans"/>
                          <a:cs typeface="DM Sans"/>
                        </a:rPr>
                        <a:t>Screw binds in the clamp</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0.25 to 0.30 mm thread offset, a little wax</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r>
              <a:tr h="385961">
                <a:tc>
                  <a:txBody>
                    <a:bodyPr/>
                    <a:p>
                      <a:pPr marL="0" indent="0">
                        <a:lnSpc>
                          <a:spcPts val="1960"/>
                        </a:lnSpc>
                        <a:buNone/>
                        <a:defRPr/>
                      </a:pPr>
                      <a:r>
                        <a:rPr lang="en-US" sz="1400">
                          <a:solidFill>
                            <a:srgbClr val="F4F1EA"/>
                          </a:solidFill>
                          <a:latin typeface="DM Sans"/>
                          <a:ea typeface="DM Sans"/>
                          <a:cs typeface="DM Sans"/>
                        </a:rPr>
                        <a:t>PETG strings or weak layers</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Dry the filament before printing</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r>
              <a:tr h="385961">
                <a:tc>
                  <a:txBody>
                    <a:bodyPr/>
                    <a:p>
                      <a:pPr marL="0" indent="0">
                        <a:lnSpc>
                          <a:spcPts val="1960"/>
                        </a:lnSpc>
                        <a:buNone/>
                        <a:defRPr/>
                      </a:pPr>
                      <a:r>
                        <a:rPr lang="en-US" sz="1400">
                          <a:solidFill>
                            <a:srgbClr val="F4F1EA"/>
                          </a:solidFill>
                          <a:latin typeface="DM Sans"/>
                          <a:ea typeface="DM Sans"/>
                          <a:cs typeface="DM Sans"/>
                        </a:rPr>
                        <a:t>Hot mug damages the base</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c>
                  <a:txBody>
                    <a:bodyPr/>
                    <a:p>
                      <a:pPr marL="0" indent="0">
                        <a:lnSpc>
                          <a:spcPts val="1960"/>
                        </a:lnSpc>
                        <a:buNone/>
                        <a:defRPr/>
                      </a:pPr>
                      <a:r>
                        <a:rPr lang="en-US" sz="1400">
                          <a:solidFill>
                            <a:srgbClr val="F4F1EA"/>
                          </a:solidFill>
                          <a:latin typeface="DM Sans"/>
                          <a:ea typeface="DM Sans"/>
                          <a:cs typeface="DM Sans"/>
                        </a:rPr>
                        <a:t>Use PETG, never plain PLA</a:t>
                      </a:r>
                      <a:endParaRPr lang="en-US" sz="1400">
                        <a:latin typeface="DM Sans"/>
                        <a:ea typeface="DM Sans"/>
                        <a:cs typeface="DM Sans"/>
                      </a:endParaRPr>
                    </a:p>
                  </a:txBody>
                  <a:tcPr marL="62230" marR="62230" marT="62230" marB="62230" anchor="t">
                    <a:lnL w="12700" algn="ctr">
                      <a:solidFill>
                        <a:srgbClr val="484A4D"/>
                      </a:solidFill>
                    </a:lnL>
                    <a:lnR w="12700" algn="ctr">
                      <a:solidFill>
                        <a:srgbClr val="484A4D"/>
                      </a:solidFill>
                    </a:lnR>
                    <a:lnT w="12700" algn="ctr">
                      <a:solidFill>
                        <a:srgbClr val="484A4D"/>
                      </a:solidFill>
                    </a:lnT>
                    <a:lnB w="12700" algn="ctr">
                      <a:solidFill>
                        <a:srgbClr val="484A4D"/>
                      </a:solidFill>
                    </a:lnB>
                  </a:tcPr>
                </a:tc>
              </a:tr>
            </a:tbl>
          </a:graphicData>
        </a:graphic>
      </p:graphicFrame>
      <p:sp>
        <p:nvSpPr>
          <p:cNvPr id="2082810798" name="Text 2"/>
          <p:cNvSpPr/>
          <p:nvPr/>
        </p:nvSpPr>
        <p:spPr bwMode="auto">
          <a:xfrm>
            <a:off x="812800" y="6238280"/>
            <a:ext cx="7194549"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8F94A0"/>
                </a:solidFill>
                <a:latin typeface="DM Sans"/>
                <a:ea typeface="DM Sans"/>
                <a:cs typeface="DM Sans"/>
              </a:rPr>
              <a:t>We test with a 2 kg weight before any hot drink goes in</a:t>
            </a:r>
            <a:endParaRPr lang="en-US" sz="1200"/>
          </a:p>
        </p:txBody>
      </p:sp>
      <p:sp>
        <p:nvSpPr>
          <p:cNvPr id="503806039" name="Text 3"/>
          <p:cNvSpPr/>
          <p:nvPr/>
        </p:nvSpPr>
        <p:spPr bwMode="auto">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defRPr/>
            </a:pPr>
            <a:r>
              <a:rPr lang="en-US" sz="1200">
                <a:solidFill>
                  <a:srgbClr val="8F94A0"/>
                </a:solidFill>
                <a:latin typeface="DM Sans"/>
                <a:ea typeface="DM Sans"/>
                <a:cs typeface="DM Sans"/>
              </a:rPr>
              <a:t>11 / 12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F7A1A"/>
        </a:solidFill>
      </p:bgPr>
    </p:bg>
    <p:spTree>
      <p:nvGrpSpPr>
        <p:cNvPr id="1" name=""/>
        <p:cNvGrpSpPr/>
        <p:nvPr/>
      </p:nvGrpSpPr>
      <p:grpSpPr bwMode="auto">
        <a:xfrm>
          <a:off x="0" y="0"/>
          <a:ext cx="0" cy="0"/>
          <a:chOff x="0" y="0"/>
          <a:chExt cx="0" cy="0"/>
        </a:xfrm>
      </p:grpSpPr>
      <p:sp>
        <p:nvSpPr>
          <p:cNvPr id="559489730" name="Text 0"/>
          <p:cNvSpPr/>
          <p:nvPr/>
        </p:nvSpPr>
        <p:spPr bwMode="auto">
          <a:xfrm>
            <a:off x="812800" y="1932979"/>
            <a:ext cx="10883392" cy="274241"/>
          </a:xfrm>
          <a:prstGeom prst="rect">
            <a:avLst/>
          </a:prstGeom>
          <a:noFill/>
          <a:ln/>
        </p:spPr>
        <p:txBody>
          <a:bodyPr wrap="square" lIns="0" tIns="0" rIns="0" bIns="0" rtlCol="0" anchor="t">
            <a:normAutofit/>
          </a:bodyPr>
          <a:lstStyle/>
          <a:p>
            <a:pPr marL="0" indent="0" algn="l">
              <a:lnSpc>
                <a:spcPts val="1960"/>
              </a:lnSpc>
              <a:buNone/>
              <a:defRPr/>
            </a:pPr>
            <a:r>
              <a:rPr lang="en-US" sz="1400" b="1" spc="200">
                <a:solidFill>
                  <a:srgbClr val="16181D"/>
                </a:solidFill>
                <a:latin typeface="DM Sans"/>
                <a:ea typeface="DM Sans"/>
                <a:cs typeface="DM Sans"/>
              </a:rPr>
              <a:t>11 · OUR ASK</a:t>
            </a:r>
            <a:endParaRPr lang="en-US" sz="1400"/>
          </a:p>
        </p:txBody>
      </p:sp>
      <p:sp>
        <p:nvSpPr>
          <p:cNvPr id="458719085" name="Text 1"/>
          <p:cNvSpPr/>
          <p:nvPr>
            <p:ph type="title"/>
          </p:nvPr>
        </p:nvSpPr>
        <p:spPr bwMode="auto">
          <a:xfrm flipH="0" flipV="0">
            <a:off x="812799" y="2449285"/>
            <a:ext cx="7453519" cy="2415267"/>
          </a:xfrm>
          <a:prstGeom prst="rect">
            <a:avLst/>
          </a:prstGeom>
          <a:noFill/>
          <a:ln/>
        </p:spPr>
        <p:txBody>
          <a:bodyPr vertOverflow="overflow" horzOverflow="overflow" vert="horz" wrap="square" lIns="0" tIns="0" rIns="0" bIns="0" numCol="1" spcCol="0" rtlCol="0" fromWordArt="0" anchor="t" anchorCtr="0" forceAA="0" upright="0" compatLnSpc="0">
            <a:normAutofit/>
          </a:bodyPr>
          <a:lstStyle/>
          <a:p>
            <a:pPr>
              <a:defRPr/>
            </a:pPr>
            <a:r>
              <a:rPr lang="en-US" sz="7000" b="1" i="0" u="none" strike="noStrike" cap="none" spc="0">
                <a:solidFill>
                  <a:srgbClr val="16181D"/>
                </a:solidFill>
                <a:latin typeface="DM Sans"/>
                <a:ea typeface="DM Sans"/>
                <a:cs typeface="DM Sans"/>
              </a:rPr>
              <a:t>Thank you .... Questions?</a:t>
            </a:r>
            <a:endParaRPr/>
          </a:p>
        </p:txBody>
      </p:sp>
      <p:sp>
        <p:nvSpPr>
          <p:cNvPr id="1962389126" name="Text 2"/>
          <p:cNvSpPr/>
          <p:nvPr/>
        </p:nvSpPr>
        <p:spPr bwMode="auto">
          <a:xfrm>
            <a:off x="812800" y="3578820"/>
            <a:ext cx="10883392" cy="355600"/>
          </a:xfrm>
          <a:prstGeom prst="rect">
            <a:avLst/>
          </a:prstGeom>
          <a:noFill/>
          <a:ln/>
        </p:spPr>
        <p:txBody>
          <a:bodyPr wrap="square" lIns="0" tIns="0" rIns="0" bIns="0" rtlCol="0" anchor="t">
            <a:normAutofit/>
          </a:bodyPr>
          <a:lstStyle/>
          <a:p>
            <a:pPr marL="0" indent="0" algn="l">
              <a:lnSpc>
                <a:spcPts val="2600"/>
              </a:lnSpc>
              <a:buNone/>
              <a:defRPr/>
            </a:pPr>
            <a:endParaRPr lang="en-US" sz="2000"/>
          </a:p>
        </p:txBody>
      </p:sp>
      <p:sp>
        <p:nvSpPr>
          <p:cNvPr id="931929944" name="Text 3"/>
          <p:cNvSpPr/>
          <p:nvPr/>
        </p:nvSpPr>
        <p:spPr bwMode="auto">
          <a:xfrm>
            <a:off x="812800" y="3985220"/>
            <a:ext cx="10883392" cy="355600"/>
          </a:xfrm>
          <a:prstGeom prst="rect">
            <a:avLst/>
          </a:prstGeom>
          <a:noFill/>
          <a:ln/>
        </p:spPr>
        <p:txBody>
          <a:bodyPr wrap="square" lIns="0" tIns="0" rIns="0" bIns="0" rtlCol="0" anchor="t">
            <a:normAutofit/>
          </a:bodyPr>
          <a:lstStyle/>
          <a:p>
            <a:pPr marL="0" indent="0" algn="l">
              <a:lnSpc>
                <a:spcPts val="2600"/>
              </a:lnSpc>
              <a:buNone/>
              <a:defRPr/>
            </a:pPr>
            <a:endParaRPr lang="en-US" sz="2000"/>
          </a:p>
        </p:txBody>
      </p:sp>
      <p:sp>
        <p:nvSpPr>
          <p:cNvPr id="1316489883" name="Text 4"/>
          <p:cNvSpPr/>
          <p:nvPr/>
        </p:nvSpPr>
        <p:spPr bwMode="auto">
          <a:xfrm>
            <a:off x="189647" y="4864553"/>
            <a:ext cx="10883392" cy="355600"/>
          </a:xfrm>
          <a:prstGeom prst="rect">
            <a:avLst/>
          </a:prstGeom>
          <a:noFill/>
          <a:ln/>
        </p:spPr>
        <p:txBody>
          <a:bodyPr wrap="square" lIns="0" tIns="0" rIns="0" bIns="0" rtlCol="0" anchor="t">
            <a:normAutofit/>
          </a:bodyPr>
          <a:lstStyle/>
          <a:p>
            <a:pPr marL="0" indent="0" algn="l">
              <a:lnSpc>
                <a:spcPts val="2600"/>
              </a:lnSpc>
              <a:buNone/>
              <a:defRPr/>
            </a:pPr>
            <a:r>
              <a:rPr lang="en-US" sz="2200" b="1">
                <a:solidFill>
                  <a:srgbClr val="16181D"/>
                </a:solidFill>
                <a:latin typeface="DM Sans"/>
                <a:ea typeface="DM Sans"/>
                <a:cs typeface="DM Sans"/>
              </a:rPr>
              <a:t>Feedback on the three-part design before we model it.</a:t>
            </a:r>
            <a:endParaRPr sz="2200" b="1"/>
          </a:p>
        </p:txBody>
      </p:sp>
      <p:sp>
        <p:nvSpPr>
          <p:cNvPr id="286923800" name="Text 5"/>
          <p:cNvSpPr/>
          <p:nvPr/>
        </p:nvSpPr>
        <p:spPr bwMode="auto">
          <a:xfrm>
            <a:off x="812800" y="6238280"/>
            <a:ext cx="6540500" cy="238720"/>
          </a:xfrm>
          <a:prstGeom prst="rect">
            <a:avLst/>
          </a:prstGeom>
          <a:noFill/>
          <a:ln/>
        </p:spPr>
        <p:txBody>
          <a:bodyPr wrap="square" lIns="0" tIns="0" rIns="0" bIns="0" rtlCol="0" anchor="t">
            <a:normAutofit/>
          </a:bodyPr>
          <a:lstStyle/>
          <a:p>
            <a:pPr marL="0" indent="0" algn="l">
              <a:lnSpc>
                <a:spcPts val="1680"/>
              </a:lnSpc>
              <a:buNone/>
              <a:defRPr/>
            </a:pPr>
            <a:endParaRPr lang="en-US" sz="1200"/>
          </a:p>
        </p:txBody>
      </p:sp>
      <p:sp>
        <p:nvSpPr>
          <p:cNvPr id="811495728" name="Text 6"/>
          <p:cNvSpPr/>
          <p:nvPr/>
        </p:nvSpPr>
        <p:spPr bwMode="auto">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defRPr/>
            </a:pPr>
            <a:r>
              <a:rPr lang="en-US" sz="1200" b="1">
                <a:solidFill>
                  <a:srgbClr val="16181D"/>
                </a:solidFill>
                <a:latin typeface="DM Sans"/>
                <a:ea typeface="DM Sans"/>
                <a:cs typeface="DM Sans"/>
              </a:rPr>
              <a:t>12 / 12</a:t>
            </a:r>
            <a:endParaRPr lang="en-US" sz="1200"/>
          </a:p>
        </p:txBody>
      </p:sp>
      <p:pic>
        <p:nvPicPr>
          <p:cNvPr id="398031884" name=""/>
          <p:cNvPicPr>
            <a:picLocks noChangeAspect="1"/>
          </p:cNvPicPr>
          <p:nvPr/>
        </p:nvPicPr>
        <p:blipFill rotWithShape="1">
          <a:blip r:embed="rId3"/>
          <a:stretch/>
        </p:blipFill>
        <p:spPr bwMode="auto">
          <a:xfrm flipH="0" flipV="0">
            <a:off x="7570713" y="-20714"/>
            <a:ext cx="4648397" cy="689232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Desk Caddy Pitch Deck">
  <a:themeElements>
    <a:clrScheme name="Desk Caddy Pitch Deck">
      <a:dk1>
        <a:srgbClr val="16181D"/>
      </a:dk1>
      <a:lt1>
        <a:srgbClr val="F4F1EA"/>
      </a:lt1>
      <a:dk2>
        <a:srgbClr val="2C2E32"/>
      </a:dk2>
      <a:lt2>
        <a:srgbClr val="BDBBB7"/>
      </a:lt2>
      <a:accent1>
        <a:srgbClr val="C2410C"/>
      </a:accent1>
      <a:accent2>
        <a:srgbClr val="FF7A1A"/>
      </a:accent2>
      <a:accent3>
        <a:srgbClr val="C9CCD3"/>
      </a:accent3>
      <a:accent4>
        <a:srgbClr val="4A4F59"/>
      </a:accent4>
      <a:accent5>
        <a:srgbClr val="8F94A0"/>
      </a:accent5>
      <a:accent6>
        <a:srgbClr val="6B6F78"/>
      </a:accent6>
      <a:hlink>
        <a:srgbClr val="0563C1"/>
      </a:hlink>
      <a:folHlink>
        <a:srgbClr val="954F72"/>
      </a:folHlink>
    </a:clrScheme>
    <a:fontScheme name="Desk Caddy Pitch Deck">
      <a:majorFont>
        <a:latin typeface="DM Sans"/>
        <a:ea typeface="Arial"/>
        <a:cs typeface="Arial"/>
      </a:majorFont>
      <a:minorFont>
        <a:latin typeface="DM San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Desk Caddy Pitch Deck</dc:title>
  <dc:subject/>
  <dc:creator/>
  <cp:lastModifiedBy/>
  <cp:revision>2</cp:revision>
  <dcterms:created xsi:type="dcterms:W3CDTF">2026-10-16T03:12:34Z</dcterms:created>
  <dcterms:modified xsi:type="dcterms:W3CDTF">2026-10-16T03:20:01Z</dcterms:modified>
</cp:coreProperties>
</file>